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00" r:id="rId3"/>
    <p:sldId id="314" r:id="rId4"/>
    <p:sldId id="315" r:id="rId5"/>
    <p:sldId id="316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4AA"/>
    <a:srgbClr val="4CC9F0"/>
    <a:srgbClr val="416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20" y="300"/>
      </p:cViewPr>
      <p:guideLst>
        <p:guide orient="horz" pos="2160"/>
        <p:guide pos="3840"/>
        <p:guide orient="horz" pos="346"/>
        <p:guide orient="horz" pos="3974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C1F37-278B-43F9-96D2-D424393BA5BD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7F21D-822B-473C-95C3-70ECF142D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8BB2-DA28-29FD-8DB7-62DDFD2F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E0AF0-EA32-DD01-AE63-3920237E3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683A4-022F-31EA-8EF7-BE6A5DF2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3B150-FADF-79C0-268C-D31F6BF6F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1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35AC-E794-E193-3F09-5AAFA2E1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5CE0-5C40-FE15-089E-4A514F58D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B9B1-B057-D41F-CF6E-0B701A509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A3B56-37ED-7622-40E5-D75C6A193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2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C05E-D94C-66EE-CF2D-C77AE37E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3392A-A41D-8743-145E-2FF9F9BDB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2D9DD-8894-3702-57F6-43901B62D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4DC29-0530-1BB5-4689-E4C8F04D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57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763F-19BF-D236-7016-0DF7AF70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86730-AC48-B76D-F06A-51AA96591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53597-DE33-2A42-8698-D4D5918E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0D359-B508-A456-0E12-CC746B194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70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4103-8626-8F4A-B08E-43FE5CCA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83AB3-4B5F-35D3-876F-A9E722F66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1885E-FF94-3C84-CC71-4F85B7A24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6B04-8ADE-FE43-7CDA-7658B5E75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54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A0DD-291F-3862-4A77-2A1E3500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0CA49-9032-9F64-BF75-39D63DAEC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9C458-683F-C2BB-ADE7-870795D28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2092E-E783-243E-A258-D233FC399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7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CC24-E0FD-7231-295E-6B3AE82A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752D6-1227-DD3E-BA0E-B0FB3D5AF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D6235-2931-D741-D7CA-9819C0BCE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1C28-5828-388E-BC61-E46D2AB51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98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687D-DC83-1A14-AE7C-BD89148A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685D9-45F6-5B53-D310-47D6B5D69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E4BBB-B6E3-C90C-B87F-967E620DC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F718-75E8-95FD-D1FD-7A568D3E5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60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36C7-5967-0042-693C-1D88F636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33F2A-A7BF-1D46-9A7E-CDF06DD11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A1344-50B1-6E66-0958-7534B129F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F4718-6FBB-12D2-415E-E26F45363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26DE-5FA7-D484-8BFF-BB205D7F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47158-04EE-0627-0B29-F0AA5B141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7E27-87CA-E5BB-CEC4-DD16DAA1D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246BE-1CE6-EAB1-9D25-6E20CE280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94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4B5D-E3D1-72D0-C9A4-E7333698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FC1FD-B4D1-A563-A8FD-187017EDB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CB7EE-1E50-165D-CED0-C1C93B1AB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202A-7B61-66FB-3FD6-B62567AA5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69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85CA-D8B4-558D-E492-EE9AB9AC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7A8A9-0BE9-DF7D-7090-823AA8F33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56BE3-6CD2-0403-F29D-DEC2B8B4E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1ED1-B241-D35D-0870-F044A50A1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3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3295-34A5-CCE9-388F-7C1C2A33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B2430-B569-5DEC-86A4-774A04F8F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EFC11-F542-115C-D71E-9779970D1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396D3-2FBA-91FC-E6FB-BBE2A566A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25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F0C2-D4C2-61AF-B76E-FD3EB488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E343A-F0B7-A03F-79D6-DC3B5B915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9D988-59A3-71A9-5A6B-8798901B8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CF23-47A7-C619-999C-52B5B1AF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1ABE-4C81-E1F8-021E-9461D1EC8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D3DD7-9F56-B36A-0F7A-0FF95BB54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7E4A-62C0-2718-7CCD-9BFA3CF0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FB33-4C62-B52B-06EC-808C31AC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59D3-4867-0798-38A5-636500A3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57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E84B-D3EE-828E-A4A9-7B2FA1DB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30EF-55C2-6713-F895-F1C082054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DBA2-74FC-67F8-F29C-1C9B34E5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41AC-574F-0DCC-C097-D2D295684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ECA2-7EF9-E440-3DFB-8D4C566E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31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FBAA-333C-ECAA-2040-C5427276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94134-38F8-B08A-5E65-7F6EEE07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A811-3B2D-CB46-8DAF-56C429E3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64ABD-7BBA-20A4-8948-ACC457A6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E5A25-608A-29F8-D1DB-A910E47D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49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1AE9-91B4-9847-5110-B771A96A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8697-96A0-9EFC-7066-F35408C20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148DE-F7C3-B2A0-5A0E-6D6744B4F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C1B9-C444-31B9-D8A1-F96BB6F2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3FA73-43C0-16A6-6A9C-95C805AAB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EB21B-9D85-2665-A04A-5F4B2C93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75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C098-6F91-309C-3AB7-0C580101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4DC01-18D7-B689-0187-5B2E432FA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C0C92-ABFF-64FA-6BDB-892CEF214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19A46-830C-F8E8-2CD9-832C23A18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AD444-C4D0-84F1-B09E-4D2437208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23F1E-FEDD-84D4-3F23-CC6FF382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FB651-9D71-1EE9-8C1F-3E1FD061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2E04F-8D44-E7B8-059B-197C0D8F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95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8B65-6756-EA56-7611-FE1A3BE1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57332-C575-9A9E-9C65-47C98267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90101-B8BA-9583-2707-97B7DE21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677C9-F345-3A39-23EA-A852E70A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06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4C2E3-A64A-9E7A-10A9-78844271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CAC6A-BE07-F45D-F7B7-D04318ED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C4E15-DAD6-5E1D-A066-91177A28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5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E2E3-1087-7BAC-3CCF-E05E3DA1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A562-F85A-721C-B2CC-35254965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8D8EE-69F2-E042-8D1F-572B646D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B0B7F-F701-3988-A013-83C5165D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32562-75CB-D09F-EF20-EB8620CD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30B6A-D789-79DA-2C35-66C106BB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48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2080-D4D4-6C57-29E6-324B3CA0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C996F-548C-47B1-6900-CB7B46DE9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FE7B9-FEFC-5094-FCFA-0E3548166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9FB-376E-5828-7918-75081914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4103C-DDF1-8B08-E565-A6507BED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71D9F-2755-CF16-D450-647A4E44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06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236E-9021-784A-386E-9552A0A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53DBF-2A7A-DCC0-45BB-F22884372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11E1-BBEA-F44D-1B90-3FBAD708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DEC9-078B-E9E1-6CB2-B8F6E1BC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B6FB8-EE0D-2C97-8076-FBF7FAF0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EA974-8FC6-E983-370D-BB8D390C9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39696-E6BA-CB19-47B3-E64118BAF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8CDCD-C0C6-C056-BA17-E51B17DE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2EDCB-DCC3-F187-F2DD-C9B7FAF9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3100-6A23-9D7E-FDF2-276CE9FB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4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CE7E8-6652-9118-EAD7-142D42DD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CC584-1377-F35B-907D-3D9F2CE1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8F766-925F-723A-C1A5-C8DDC3224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DE9C6-F9F6-B0DD-9987-1E704AA0E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876D-9222-356E-B820-55818853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9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3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emf"/><Relationship Id="rId9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emf"/><Relationship Id="rId9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jp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7.jpg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B4969-B18E-0D3F-6B75-9C83EFEAA5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5F279-F6CA-EF0A-7FD1-868F26CB0883}"/>
              </a:ext>
            </a:extLst>
          </p:cNvPr>
          <p:cNvSpPr txBox="1"/>
          <p:nvPr/>
        </p:nvSpPr>
        <p:spPr>
          <a:xfrm>
            <a:off x="2110013" y="2834072"/>
            <a:ext cx="797205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600" b="1" spc="300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Gembar + Gembox </a:t>
            </a:r>
            <a:r>
              <a:rPr lang="zh-CN" altLang="en-US" sz="4600" b="1" spc="300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更新</a:t>
            </a:r>
            <a:endParaRPr lang="en-GB" sz="44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3B2CC-BCA8-66D3-9539-3530EF5F6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3903" y="5599760"/>
            <a:ext cx="1764192" cy="601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9EF9FD-9AF2-46A5-963B-FE3871A33618}"/>
              </a:ext>
            </a:extLst>
          </p:cNvPr>
          <p:cNvSpPr txBox="1"/>
          <p:nvPr/>
        </p:nvSpPr>
        <p:spPr>
          <a:xfrm>
            <a:off x="5138852" y="3705316"/>
            <a:ext cx="1914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Charlie Becquet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设备组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2025年2月3日</a:t>
            </a:r>
            <a:endParaRPr lang="en-GB" sz="1600" b="1" dirty="0">
              <a:solidFill>
                <a:schemeClr val="bg1"/>
              </a:solidFill>
              <a:latin typeface="Montserrat" pitchFamily="2" charset="77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24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7D26-4F96-6467-7AAD-8C877006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9A5582-7E26-D484-9D6B-E15094E15E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9316E5-06FF-91C4-126A-27D666692C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9690" y="346103"/>
            <a:ext cx="1764192" cy="601279"/>
          </a:xfrm>
          <a:prstGeom prst="rect">
            <a:avLst/>
          </a:prstGeom>
        </p:spPr>
      </p:pic>
      <p:cxnSp>
        <p:nvCxnSpPr>
          <p:cNvPr id="2" name="直接连接符 15">
            <a:extLst>
              <a:ext uri="{FF2B5EF4-FFF2-40B4-BE49-F238E27FC236}">
                <a16:creationId xmlns:a16="http://schemas.microsoft.com/office/drawing/2014/main" id="{A12B1D9B-7EE7-3920-77AA-B070079F5A20}"/>
              </a:ext>
            </a:extLst>
          </p:cNvPr>
          <p:cNvCxnSpPr>
            <a:cxnSpLocks/>
          </p:cNvCxnSpPr>
          <p:nvPr/>
        </p:nvCxnSpPr>
        <p:spPr>
          <a:xfrm>
            <a:off x="1773905" y="1317496"/>
            <a:ext cx="874980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9">
            <a:extLst>
              <a:ext uri="{FF2B5EF4-FFF2-40B4-BE49-F238E27FC236}">
                <a16:creationId xmlns:a16="http://schemas.microsoft.com/office/drawing/2014/main" id="{83C2049C-D4EF-E1A0-198A-2F0C711F3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2" y="577669"/>
            <a:ext cx="121478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测试结果和分析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5E5FE162-F8BB-0CC9-FD28-32D20D183937}"/>
              </a:ext>
            </a:extLst>
          </p:cNvPr>
          <p:cNvSpPr txBox="1"/>
          <p:nvPr/>
        </p:nvSpPr>
        <p:spPr>
          <a:xfrm>
            <a:off x="433058" y="1458614"/>
            <a:ext cx="5398882" cy="388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Big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顶空高温测试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Intense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Long Puff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必要的设计更改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C5903-46D6-7960-8413-FC24C3AE49A6}"/>
              </a:ext>
            </a:extLst>
          </p:cNvPr>
          <p:cNvSpPr txBox="1"/>
          <p:nvPr/>
        </p:nvSpPr>
        <p:spPr>
          <a:xfrm>
            <a:off x="5957180" y="1455566"/>
            <a:ext cx="5927002" cy="389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8"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大尺寸高温测试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lang="en-US" dirty="0"/>
            <a:br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Intense 测试</a:t>
            </a:r>
            <a:br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粘度相容性测试</a:t>
            </a:r>
            <a:br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高温高湿测试</a:t>
            </a:r>
            <a:br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Long Puff 测试</a:t>
            </a:r>
            <a:br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松香棒新品与 Oil Coil 的感官比较</a:t>
            </a:r>
            <a:br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+ Gembox 松香测试更新</a:t>
            </a:r>
          </a:p>
        </p:txBody>
      </p:sp>
    </p:spTree>
    <p:extLst>
      <p:ext uri="{BB962C8B-B14F-4D97-AF65-F5344CB8AC3E}">
        <p14:creationId xmlns:p14="http://schemas.microsoft.com/office/powerpoint/2010/main" val="156478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89AC-5B2F-B615-4578-B991B398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2E3492-92B3-BA55-1F15-18208B1965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AC956-1663-F691-D62E-306E5FA0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A4908568-A1F5-44BE-1080-9DB5E9101AE8}"/>
              </a:ext>
            </a:extLst>
          </p:cNvPr>
          <p:cNvSpPr/>
          <p:nvPr/>
        </p:nvSpPr>
        <p:spPr>
          <a:xfrm>
            <a:off x="640080" y="146304"/>
            <a:ext cx="3813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614E28-F157-40EC-CD5D-094091FDD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279302"/>
              </p:ext>
            </p:extLst>
          </p:nvPr>
        </p:nvGraphicFramePr>
        <p:xfrm>
          <a:off x="199176" y="666419"/>
          <a:ext cx="10002821" cy="4079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296">
                  <a:extLst>
                    <a:ext uri="{9D8B030D-6E8A-4147-A177-3AD203B41FA5}">
                      <a16:colId xmlns:a16="http://schemas.microsoft.com/office/drawing/2014/main" val="2890845588"/>
                    </a:ext>
                  </a:extLst>
                </a:gridCol>
                <a:gridCol w="642088">
                  <a:extLst>
                    <a:ext uri="{9D8B030D-6E8A-4147-A177-3AD203B41FA5}">
                      <a16:colId xmlns:a16="http://schemas.microsoft.com/office/drawing/2014/main" val="3348788074"/>
                    </a:ext>
                  </a:extLst>
                </a:gridCol>
                <a:gridCol w="871406">
                  <a:extLst>
                    <a:ext uri="{9D8B030D-6E8A-4147-A177-3AD203B41FA5}">
                      <a16:colId xmlns:a16="http://schemas.microsoft.com/office/drawing/2014/main" val="1469769082"/>
                    </a:ext>
                  </a:extLst>
                </a:gridCol>
                <a:gridCol w="541189">
                  <a:extLst>
                    <a:ext uri="{9D8B030D-6E8A-4147-A177-3AD203B41FA5}">
                      <a16:colId xmlns:a16="http://schemas.microsoft.com/office/drawing/2014/main" val="11223182"/>
                    </a:ext>
                  </a:extLst>
                </a:gridCol>
                <a:gridCol w="504498">
                  <a:extLst>
                    <a:ext uri="{9D8B030D-6E8A-4147-A177-3AD203B41FA5}">
                      <a16:colId xmlns:a16="http://schemas.microsoft.com/office/drawing/2014/main" val="3731957305"/>
                    </a:ext>
                  </a:extLst>
                </a:gridCol>
                <a:gridCol w="807197">
                  <a:extLst>
                    <a:ext uri="{9D8B030D-6E8A-4147-A177-3AD203B41FA5}">
                      <a16:colId xmlns:a16="http://schemas.microsoft.com/office/drawing/2014/main" val="2783648992"/>
                    </a:ext>
                  </a:extLst>
                </a:gridCol>
                <a:gridCol w="605398">
                  <a:extLst>
                    <a:ext uri="{9D8B030D-6E8A-4147-A177-3AD203B41FA5}">
                      <a16:colId xmlns:a16="http://schemas.microsoft.com/office/drawing/2014/main" val="3888882504"/>
                    </a:ext>
                  </a:extLst>
                </a:gridCol>
                <a:gridCol w="653555">
                  <a:extLst>
                    <a:ext uri="{9D8B030D-6E8A-4147-A177-3AD203B41FA5}">
                      <a16:colId xmlns:a16="http://schemas.microsoft.com/office/drawing/2014/main" val="3395299223"/>
                    </a:ext>
                  </a:extLst>
                </a:gridCol>
                <a:gridCol w="513670">
                  <a:extLst>
                    <a:ext uri="{9D8B030D-6E8A-4147-A177-3AD203B41FA5}">
                      <a16:colId xmlns:a16="http://schemas.microsoft.com/office/drawing/2014/main" val="1002046894"/>
                    </a:ext>
                  </a:extLst>
                </a:gridCol>
                <a:gridCol w="715471">
                  <a:extLst>
                    <a:ext uri="{9D8B030D-6E8A-4147-A177-3AD203B41FA5}">
                      <a16:colId xmlns:a16="http://schemas.microsoft.com/office/drawing/2014/main" val="3424379495"/>
                    </a:ext>
                  </a:extLst>
                </a:gridCol>
                <a:gridCol w="539400">
                  <a:extLst>
                    <a:ext uri="{9D8B030D-6E8A-4147-A177-3AD203B41FA5}">
                      <a16:colId xmlns:a16="http://schemas.microsoft.com/office/drawing/2014/main" val="695889759"/>
                    </a:ext>
                  </a:extLst>
                </a:gridCol>
                <a:gridCol w="387043">
                  <a:extLst>
                    <a:ext uri="{9D8B030D-6E8A-4147-A177-3AD203B41FA5}">
                      <a16:colId xmlns:a16="http://schemas.microsoft.com/office/drawing/2014/main" val="1385683789"/>
                    </a:ext>
                  </a:extLst>
                </a:gridCol>
                <a:gridCol w="1176398">
                  <a:extLst>
                    <a:ext uri="{9D8B030D-6E8A-4147-A177-3AD203B41FA5}">
                      <a16:colId xmlns:a16="http://schemas.microsoft.com/office/drawing/2014/main" val="578868932"/>
                    </a:ext>
                  </a:extLst>
                </a:gridCol>
                <a:gridCol w="1339212">
                  <a:extLst>
                    <a:ext uri="{9D8B030D-6E8A-4147-A177-3AD203B41FA5}">
                      <a16:colId xmlns:a16="http://schemas.microsoft.com/office/drawing/2014/main" val="3305438557"/>
                    </a:ext>
                  </a:extLst>
                </a:gridCol>
              </a:tblGrid>
              <a:tr h="4633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样本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用户名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交易日期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已填充媒体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填充体积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使用前的阻力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发放日期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进展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返回日期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收集的阻力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effectLst/>
                        </a:rPr>
                        <a:t>电压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功率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有问题吗？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评论？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319650702"/>
                  </a:ext>
                </a:extLst>
              </a:tr>
              <a:tr h="644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批次用户-1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查理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75%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1/24/2025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昨天在实验室工作台下丢失了设备。在此之前没有问题。</a:t>
                      </a:r>
                      <a:r>
                        <a:rPr lang="en-US" sz="900" u="none" strike="noStrike" dirty="0">
                          <a:effectLst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性能优良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571817148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批次 用户-2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里昂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90%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没有问题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性能好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396405035"/>
                  </a:ext>
                </a:extLst>
              </a:tr>
              <a:tr h="8778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批次 用户-3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内莉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1/2/2025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剩余 60% 时停止激活</a:t>
                      </a:r>
                      <a:r>
                        <a:rPr lang="en-US" altLang="zh-CN" sz="900" u="none" strike="noStrike" dirty="0">
                          <a:effectLst/>
                        </a:rPr>
                        <a:t/>
                      </a:r>
                      <a:r>
                        <a:rPr lang="zh-CN" altLang="en-US" sz="900" u="none" strike="noStrike" dirty="0">
                          <a:effectLst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故障似乎是与引脚的连接不良。加热器没有损坏，电阻是标称的。</a:t>
                      </a:r>
                      <a:r>
                        <a:rPr lang="en-US" sz="900" u="none" strike="noStrike" dirty="0">
                          <a:effectLst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344352417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批次 用户-4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约旦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50%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目前还没有问题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787352302"/>
                  </a:ext>
                </a:extLst>
              </a:tr>
              <a:tr h="4832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1-22 批次 用户-5 ROSIN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查理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1/29/2025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MPX 松香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1/29/2025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轻微变色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966896493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2-3 批次 用户-1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查理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2/4/2025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2/5/2025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690890727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2-3 批次用户-2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伊莎贝尔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2/4/2025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2/5/2025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694572331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2-3 批次 用户-3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Leland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2/4/2025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2/5/2025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265811429"/>
                  </a:ext>
                </a:extLst>
              </a:tr>
            </a:tbl>
          </a:graphicData>
        </a:graphic>
      </p:graphicFrame>
      <p:pic>
        <p:nvPicPr>
          <p:cNvPr id="3" name="Picture 2" descr="A hand holding a small ring&#10;&#10;Description automatically generated">
            <a:extLst>
              <a:ext uri="{FF2B5EF4-FFF2-40B4-BE49-F238E27FC236}">
                <a16:creationId xmlns:a16="http://schemas.microsoft.com/office/drawing/2014/main" id="{4A9094B6-9C3E-AD59-75D4-99CCE37729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76" t="39562" r="37562" b="46034"/>
          <a:stretch/>
        </p:blipFill>
        <p:spPr>
          <a:xfrm>
            <a:off x="7649093" y="4771326"/>
            <a:ext cx="2467922" cy="1994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905FF1-8BED-E337-069D-16F1DC300F90}"/>
              </a:ext>
            </a:extLst>
          </p:cNvPr>
          <p:cNvSpPr txBox="1"/>
          <p:nvPr/>
        </p:nvSpPr>
        <p:spPr>
          <a:xfrm>
            <a:off x="7611138" y="4690995"/>
            <a:ext cx="1333686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1-13 批次用户-2</a:t>
            </a:r>
          </a:p>
        </p:txBody>
      </p:sp>
      <p:pic>
        <p:nvPicPr>
          <p:cNvPr id="6" name="Picture 5" descr="A hand holding a couple of plugs&#10;&#10;Description automatically generated">
            <a:extLst>
              <a:ext uri="{FF2B5EF4-FFF2-40B4-BE49-F238E27FC236}">
                <a16:creationId xmlns:a16="http://schemas.microsoft.com/office/drawing/2014/main" id="{427234A3-6F63-FB5E-7922-A3BB77C08E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14" t="44952" r="38687" b="39660"/>
          <a:stretch/>
        </p:blipFill>
        <p:spPr>
          <a:xfrm>
            <a:off x="5105261" y="4783455"/>
            <a:ext cx="2467922" cy="1970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631263-F12B-A3C4-BFA1-54B0D78748F9}"/>
              </a:ext>
            </a:extLst>
          </p:cNvPr>
          <p:cNvSpPr txBox="1"/>
          <p:nvPr/>
        </p:nvSpPr>
        <p:spPr>
          <a:xfrm>
            <a:off x="5105261" y="4752411"/>
            <a:ext cx="1340806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1-13 批次用户-3</a:t>
            </a:r>
          </a:p>
        </p:txBody>
      </p:sp>
      <p:pic>
        <p:nvPicPr>
          <p:cNvPr id="12" name="Picture 11" descr="A black and gold cigarette lighter&#10;&#10;Description automatically generated">
            <a:extLst>
              <a:ext uri="{FF2B5EF4-FFF2-40B4-BE49-F238E27FC236}">
                <a16:creationId xmlns:a16="http://schemas.microsoft.com/office/drawing/2014/main" id="{AEFDCA5E-D4F8-EB3F-4756-2B38BE7ECB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427" t="18911" r="37362" b="14558"/>
          <a:stretch/>
        </p:blipFill>
        <p:spPr>
          <a:xfrm>
            <a:off x="10277907" y="924566"/>
            <a:ext cx="1788122" cy="58292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6219B3-744C-1379-B333-8F4AD34435BE}"/>
              </a:ext>
            </a:extLst>
          </p:cNvPr>
          <p:cNvSpPr txBox="1"/>
          <p:nvPr/>
        </p:nvSpPr>
        <p:spPr>
          <a:xfrm>
            <a:off x="10277907" y="924566"/>
            <a:ext cx="166583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1-22 Batch User-5 Rosin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AC831-83ED-F4D5-10EF-10E339CF69C8}"/>
              </a:ext>
            </a:extLst>
          </p:cNvPr>
          <p:cNvSpPr txBox="1"/>
          <p:nvPr/>
        </p:nvSpPr>
        <p:spPr>
          <a:xfrm>
            <a:off x="307818" y="4890910"/>
            <a:ext cx="47974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Gembar </a:t>
            </a:r>
            <a:r>
              <a:rPr lang="zh-CN" altLang="en-US" sz="1600"/>
              <a:t>的用户测试很有希望。到目前为止只有 </a:t>
            </a:r>
            <a:r>
              <a:rPr lang="en-US" altLang="zh-CN" sz="1600"/>
              <a:t>1 </a:t>
            </a:r>
            <a:r>
              <a:rPr lang="zh-CN" altLang="en-US" sz="1600"/>
              <a:t>次失败，似乎是引脚连接问题。与 </a:t>
            </a:r>
            <a:r>
              <a:rPr lang="en-US" altLang="zh-CN" sz="1600"/>
              <a:t>Gembox </a:t>
            </a:r>
            <a:r>
              <a:rPr lang="zh-CN" altLang="en-US" sz="1600"/>
              <a:t>相比，松香的变色似乎不那么明显。在用户测试中，泄漏很小
今天已填充并分发了 </a:t>
            </a:r>
            <a:r>
              <a:rPr lang="en-US" altLang="zh-CN" sz="1600"/>
              <a:t>3 </a:t>
            </a:r>
            <a:r>
              <a:rPr lang="zh-CN" altLang="en-US" sz="1600"/>
              <a:t>个额外的新批次样品。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555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BF0C-F1CB-5062-16C1-509A8612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47C845-1B05-A51A-312A-344DCAD43C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029346-17E1-AF6E-0DB5-FD893FC36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68AED0F7-3E97-E82B-B861-C8DDFBB6036F}"/>
              </a:ext>
            </a:extLst>
          </p:cNvPr>
          <p:cNvSpPr/>
          <p:nvPr/>
        </p:nvSpPr>
        <p:spPr>
          <a:xfrm>
            <a:off x="640080" y="146304"/>
            <a:ext cx="5839804" cy="52322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大顶空高 T 检验结果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1EF7F3F-F086-E5B0-F5CB-74646EFB90BA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98932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设计和油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权力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电阻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政权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TPM (mg/puff) 和标准差</a:t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抽吸压力 （</a:t>
                      </a:r>
                      <a:r>
                        <a:rPr lang="en-US" altLang="zh-CN" sz="1000" dirty="0"/>
                        <a:t>kPa</a:t>
                      </a:r>
                      <a:r>
                        <a:rPr lang="zh-CN" altLang="en-US" sz="1000" dirty="0"/>
                        <a:t>）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SDR </a:t>
                      </a:r>
                      <a:r>
                        <a:rPr lang="zh-CN" altLang="en-US" sz="1000" dirty="0"/>
                        <a:t>结果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备注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BHHT-1 800kcp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2.63, 0.49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0.464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2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3.07, 0.27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0.379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初步通过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无堵塞，低拉力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3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2.2, 0.83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0.296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初步通过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无堵塞，低拉力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4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2.36, 0.1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0.692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BHHT-</a:t>
                      </a:r>
                      <a:r>
                        <a:rPr lang="en-US" sz="1000"/>
                        <a:t>5</a:t>
                      </a:r>
                      <a:r>
                        <a:rPr sz="1000"/>
                        <a:t> </a:t>
                      </a:r>
                      <a:r>
                        <a:rPr sz="1000" dirty="0"/>
                        <a:t>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4.45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0,0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0.382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失败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无堵塞，无激活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 descr="TPM_overlay.png">
            <a:extLst>
              <a:ext uri="{FF2B5EF4-FFF2-40B4-BE49-F238E27FC236}">
                <a16:creationId xmlns:a16="http://schemas.microsoft.com/office/drawing/2014/main" id="{370470C9-63F0-CAA4-2E77-B3125E174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19" name="Picture 18" descr="TPM_bar.png">
            <a:extLst>
              <a:ext uri="{FF2B5EF4-FFF2-40B4-BE49-F238E27FC236}">
                <a16:creationId xmlns:a16="http://schemas.microsoft.com/office/drawing/2014/main" id="{5B2D5962-A705-2420-CE28-D56C95B8C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8" name="Picture 7" descr="A close-up of a device&#10;&#10;Description automatically generated">
            <a:extLst>
              <a:ext uri="{FF2B5EF4-FFF2-40B4-BE49-F238E27FC236}">
                <a16:creationId xmlns:a16="http://schemas.microsoft.com/office/drawing/2014/main" id="{1164A70A-F806-6EBE-9FDD-64EC62C0C6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284063" y="4047898"/>
            <a:ext cx="3195548" cy="2396661"/>
          </a:xfrm>
          <a:prstGeom prst="rect">
            <a:avLst/>
          </a:prstGeom>
        </p:spPr>
      </p:pic>
      <p:pic>
        <p:nvPicPr>
          <p:cNvPr id="11" name="Picture 10" descr="Close-up of a black plastic box with a gold and silver connector&#10;&#10;Description automatically generated">
            <a:extLst>
              <a:ext uri="{FF2B5EF4-FFF2-40B4-BE49-F238E27FC236}">
                <a16:creationId xmlns:a16="http://schemas.microsoft.com/office/drawing/2014/main" id="{03E03099-6EDA-F986-D181-A583C46D2B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9048423" y="4047897"/>
            <a:ext cx="3195549" cy="239666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058FC3-C885-50B4-C61E-AAAB8A543183}"/>
              </a:ext>
            </a:extLst>
          </p:cNvPr>
          <p:cNvCxnSpPr/>
          <p:nvPr/>
        </p:nvCxnSpPr>
        <p:spPr>
          <a:xfrm>
            <a:off x="6251448" y="3429000"/>
            <a:ext cx="281473" cy="555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CC221C-E33E-FBC9-C239-22C62DC4BA44}"/>
              </a:ext>
            </a:extLst>
          </p:cNvPr>
          <p:cNvCxnSpPr>
            <a:cxnSpLocks/>
          </p:cNvCxnSpPr>
          <p:nvPr/>
        </p:nvCxnSpPr>
        <p:spPr>
          <a:xfrm>
            <a:off x="6336792" y="3375425"/>
            <a:ext cx="3327658" cy="1106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0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55C7-E52A-B555-5D12-0C803CB0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9D74E9-FEC7-9C17-889A-A887488210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1C77AD-824D-7731-ECDA-8BE108DD2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FC488F8C-00AC-CCF6-A1FC-947FB75F96D2}"/>
              </a:ext>
            </a:extLst>
          </p:cNvPr>
          <p:cNvSpPr/>
          <p:nvPr/>
        </p:nvSpPr>
        <p:spPr>
          <a:xfrm>
            <a:off x="640080" y="146304"/>
            <a:ext cx="53447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Intense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C10EF7-1926-14F8-AC22-91C6F81A56CD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98932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3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设计与油液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使用效率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SDR 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Intense-1 800kcp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200毫L/3秒/30秒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3.38, 0.91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79.0%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合格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样品完全为空 </a:t>
                      </a:r>
                      <a:r>
                        <a:rPr lang="en-US" altLang="zh-CN" sz="1000" dirty="0"/>
                        <a:t>– 79% </a:t>
                      </a:r>
                      <a:r>
                        <a:rPr lang="zh-CN" altLang="en-US" sz="1000" dirty="0"/>
                        <a:t>的使用效率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3.79, 0.49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3.76, 0.98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4.06, 0.99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3.3, 0.28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A4456CCC-6BEA-FF18-CD0C-9A318333F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3F115A13-144C-59E8-5D40-8879F39DF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10" name="Picture 9" descr="A close-up of a device&#10;&#10;Description automatically generated">
            <a:extLst>
              <a:ext uri="{FF2B5EF4-FFF2-40B4-BE49-F238E27FC236}">
                <a16:creationId xmlns:a16="http://schemas.microsoft.com/office/drawing/2014/main" id="{3FC5D9AD-156F-8EF9-572F-2D0C36BC3D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126" b="7855"/>
          <a:stretch/>
        </p:blipFill>
        <p:spPr>
          <a:xfrm rot="5400000">
            <a:off x="8647944" y="4314066"/>
            <a:ext cx="3229069" cy="1889485"/>
          </a:xfrm>
          <a:prstGeom prst="rect">
            <a:avLst/>
          </a:prstGeom>
        </p:spPr>
      </p:pic>
      <p:pic>
        <p:nvPicPr>
          <p:cNvPr id="12" name="Picture 11" descr="A close-up of a black device&#10;&#10;Description automatically generated">
            <a:extLst>
              <a:ext uri="{FF2B5EF4-FFF2-40B4-BE49-F238E27FC236}">
                <a16:creationId xmlns:a16="http://schemas.microsoft.com/office/drawing/2014/main" id="{8F7B07B7-F086-9CB1-ABDD-BF020F1379B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868" t="16765" b="5611"/>
          <a:stretch/>
        </p:blipFill>
        <p:spPr>
          <a:xfrm rot="16200000">
            <a:off x="6660346" y="4215953"/>
            <a:ext cx="3229069" cy="208571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A2FFC9F-2D91-87EA-00DD-1151F4F6B271}"/>
              </a:ext>
            </a:extLst>
          </p:cNvPr>
          <p:cNvSpPr/>
          <p:nvPr/>
        </p:nvSpPr>
        <p:spPr>
          <a:xfrm>
            <a:off x="7710304" y="5760135"/>
            <a:ext cx="1131684" cy="98085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4A7522-7100-87D8-A52F-492ABBC546D4}"/>
              </a:ext>
            </a:extLst>
          </p:cNvPr>
          <p:cNvSpPr txBox="1"/>
          <p:nvPr/>
        </p:nvSpPr>
        <p:spPr>
          <a:xfrm>
            <a:off x="7232026" y="3677747"/>
            <a:ext cx="141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进气道内壁成功防堵塞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D074B5-A096-7CAB-A292-37F8D53F0019}"/>
              </a:ext>
            </a:extLst>
          </p:cNvPr>
          <p:cNvCxnSpPr/>
          <p:nvPr/>
        </p:nvCxnSpPr>
        <p:spPr>
          <a:xfrm>
            <a:off x="6255945" y="2697933"/>
            <a:ext cx="860079" cy="11860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33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01C8-65CE-67FE-0FF7-13CF51D5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ECA5CA-9FF0-DCA8-AE7B-35881F3648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BB271F-A446-A035-74F3-36A3E892F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E528A1E8-4766-1918-8E6D-1E652F1264EF}"/>
              </a:ext>
            </a:extLst>
          </p:cNvPr>
          <p:cNvSpPr/>
          <p:nvPr/>
        </p:nvSpPr>
        <p:spPr>
          <a:xfrm>
            <a:off x="640080" y="146304"/>
            <a:ext cx="470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0739B0-7E02-8112-550E-41BC36855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61" y="801881"/>
            <a:ext cx="12125325" cy="3838575"/>
          </a:xfrm>
          <a:prstGeom prst="rect">
            <a:avLst/>
          </a:prstGeom>
        </p:spPr>
      </p:pic>
      <p:pic>
        <p:nvPicPr>
          <p:cNvPr id="16" name="Picture 15" descr="A close-up of a black device&#10;&#10;Description automatically generated">
            <a:extLst>
              <a:ext uri="{FF2B5EF4-FFF2-40B4-BE49-F238E27FC236}">
                <a16:creationId xmlns:a16="http://schemas.microsoft.com/office/drawing/2014/main" id="{D2280230-E856-CE62-293D-FFABF1414E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79" t="8203" r="11462" b="18878"/>
          <a:stretch/>
        </p:blipFill>
        <p:spPr>
          <a:xfrm rot="5400000">
            <a:off x="6592364" y="4819482"/>
            <a:ext cx="2071240" cy="1901901"/>
          </a:xfrm>
          <a:prstGeom prst="rect">
            <a:avLst/>
          </a:prstGeom>
        </p:spPr>
      </p:pic>
      <p:pic>
        <p:nvPicPr>
          <p:cNvPr id="18" name="Picture 17" descr="Close-up of a black electrical device&#10;&#10;Description automatically generated">
            <a:extLst>
              <a:ext uri="{FF2B5EF4-FFF2-40B4-BE49-F238E27FC236}">
                <a16:creationId xmlns:a16="http://schemas.microsoft.com/office/drawing/2014/main" id="{DF22D839-BB73-9852-E196-A7B57A85CE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080" t="18843" r="18629" b="5239"/>
          <a:stretch/>
        </p:blipFill>
        <p:spPr>
          <a:xfrm rot="5400000">
            <a:off x="2530400" y="4807332"/>
            <a:ext cx="2042577" cy="18975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2D06EA-05A4-3021-9CD0-B7EE64708762}"/>
              </a:ext>
            </a:extLst>
          </p:cNvPr>
          <p:cNvSpPr txBox="1"/>
          <p:nvPr/>
        </p:nvSpPr>
        <p:spPr>
          <a:xfrm>
            <a:off x="1112986" y="4816288"/>
            <a:ext cx="1580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HTHH-1：垂直方向，进气口无堵塞</a:t>
            </a:r>
            <a:r>
              <a:rPr lang="zh-CN" altLang="en-US"/>
              <a:t/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80C81-DA9C-2CEC-0C4E-5463AAC562AF}"/>
              </a:ext>
            </a:extLst>
          </p:cNvPr>
          <p:cNvSpPr txBox="1"/>
          <p:nvPr/>
        </p:nvSpPr>
        <p:spPr>
          <a:xfrm>
            <a:off x="5231685" y="4830133"/>
            <a:ext cx="1445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HTHH-2：反转方向，进气口堵塞</a:t>
            </a:r>
            <a:r>
              <a:rPr lang="zh-CN" altLang="en-US"/>
              <a:t/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395B7A-FFD1-8A80-ADB7-BC046405C388}"/>
              </a:ext>
            </a:extLst>
          </p:cNvPr>
          <p:cNvSpPr/>
          <p:nvPr/>
        </p:nvSpPr>
        <p:spPr>
          <a:xfrm>
            <a:off x="7228268" y="5851345"/>
            <a:ext cx="793102" cy="765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C96A5-5027-2023-9965-EE28127D27E3}"/>
              </a:ext>
            </a:extLst>
          </p:cNvPr>
          <p:cNvSpPr txBox="1"/>
          <p:nvPr/>
        </p:nvSpPr>
        <p:spPr>
          <a:xfrm>
            <a:off x="8799968" y="4830133"/>
            <a:ext cx="21004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这是一个非常小的失败 </a:t>
            </a:r>
            <a:r>
              <a:rPr lang="en-US" altLang="zh-CN" sz="1400"/>
              <a:t>- </a:t>
            </a:r>
            <a:r>
              <a:rPr lang="zh-CN" altLang="en-US" sz="1400"/>
              <a:t>请小心寻找可能导致更多堵塞的解决方案。我建议像 </a:t>
            </a:r>
            <a:r>
              <a:rPr lang="en-US" altLang="zh-CN" sz="1400"/>
              <a:t>CPS2910 </a:t>
            </a:r>
            <a:r>
              <a:rPr lang="zh-CN" altLang="en-US" sz="1400"/>
              <a:t>团队所做的那样使用双进气口。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6148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6B6B-3AD2-697D-9F9D-BA2BE4DC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429E7AD-41F8-5610-39DB-98C75AE578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37F35331-E9D1-93B2-4149-834BEB3A74D5}"/>
              </a:ext>
            </a:extLst>
          </p:cNvPr>
          <p:cNvSpPr/>
          <p:nvPr/>
        </p:nvSpPr>
        <p:spPr>
          <a:xfrm>
            <a:off x="640080" y="146304"/>
            <a:ext cx="57516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Long Puff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4" name="Picture 3" descr="TPM_overlay.png">
            <a:extLst>
              <a:ext uri="{FF2B5EF4-FFF2-40B4-BE49-F238E27FC236}">
                <a16:creationId xmlns:a16="http://schemas.microsoft.com/office/drawing/2014/main" id="{41C73C45-8614-949D-CC2D-B03FFD5AA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092" y="813816"/>
            <a:ext cx="4708436" cy="4708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39AAB-5905-6906-B605-95CE12FB3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97313B-277E-6FF9-95DE-F1597DE60483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629777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3900310265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设计和油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权力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电阻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政权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拉拔电阻（kPa）</a:t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SDR </a:t>
                      </a:r>
                      <a:r>
                        <a:rPr lang="zh-CN" altLang="en-US" sz="1000" dirty="0"/>
                        <a:t>结果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备注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Long-1 700kcp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100mL/5秒，160mL/8秒，200mL/10秒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0.696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Long-2 700kcp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0.365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暂定通过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拉力低和 TPM 低。没有烧伤或任何其他问题。</a:t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Long-3 700kcp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0.798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Long-4 700kcp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0.586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暂定通过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TPM 低，抽吸时间更长，但不会灼伤</a:t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473FFF-CBD6-DDBF-2896-4D246619CD3F}"/>
              </a:ext>
            </a:extLst>
          </p:cNvPr>
          <p:cNvCxnSpPr>
            <a:cxnSpLocks/>
          </p:cNvCxnSpPr>
          <p:nvPr/>
        </p:nvCxnSpPr>
        <p:spPr>
          <a:xfrm flipV="1">
            <a:off x="8797994" y="1412341"/>
            <a:ext cx="0" cy="36123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2B4E54-8931-D3FC-3180-2025569A5A83}"/>
              </a:ext>
            </a:extLst>
          </p:cNvPr>
          <p:cNvCxnSpPr>
            <a:cxnSpLocks/>
          </p:cNvCxnSpPr>
          <p:nvPr/>
        </p:nvCxnSpPr>
        <p:spPr>
          <a:xfrm flipV="1">
            <a:off x="10201998" y="1412341"/>
            <a:ext cx="0" cy="36123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12848B-ADB4-AD04-D90D-C2FBC20F6171}"/>
              </a:ext>
            </a:extLst>
          </p:cNvPr>
          <p:cNvSpPr txBox="1"/>
          <p:nvPr/>
        </p:nvSpPr>
        <p:spPr>
          <a:xfrm>
            <a:off x="8134327" y="4370446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5秒泡芙</a:t>
            </a:r>
            <a:r>
              <a:rPr lang="zh-CN" altLang="en-US" sz="1600"/>
              <a:t/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51148-74A2-BA1A-9FE6-20E662514428}"/>
              </a:ext>
            </a:extLst>
          </p:cNvPr>
          <p:cNvSpPr txBox="1"/>
          <p:nvPr/>
        </p:nvSpPr>
        <p:spPr>
          <a:xfrm>
            <a:off x="9569609" y="4439898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8s泡芙</a:t>
            </a:r>
            <a:r>
              <a:rPr lang="zh-CN" altLang="en-US" sz="1600"/>
              <a:t/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E0156-18CF-31B7-1EA0-0AC71045E5FB}"/>
              </a:ext>
            </a:extLst>
          </p:cNvPr>
          <p:cNvSpPr txBox="1"/>
          <p:nvPr/>
        </p:nvSpPr>
        <p:spPr>
          <a:xfrm>
            <a:off x="10735060" y="4370446"/>
            <a:ext cx="694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10 </a:t>
            </a:r>
            <a:r>
              <a:rPr lang="zh-CN" altLang="en-US" sz="1600"/>
              <a:t>秒泡芙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120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3644-84E6-25DD-1967-3A3975F8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31D971-5013-7230-A5D9-1C5E21AD1D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31BC15-A82B-91CF-A093-FD5684294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39017EEF-6852-4A89-A97B-1175BDE04049}"/>
              </a:ext>
            </a:extLst>
          </p:cNvPr>
          <p:cNvSpPr/>
          <p:nvPr/>
        </p:nvSpPr>
        <p:spPr>
          <a:xfrm>
            <a:off x="640080" y="146304"/>
            <a:ext cx="38876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878F6C-7BC5-FE35-737F-050C820A3BA8}"/>
              </a:ext>
            </a:extLst>
          </p:cNvPr>
          <p:cNvSpPr txBox="1"/>
          <p:nvPr/>
        </p:nvSpPr>
        <p:spPr>
          <a:xfrm>
            <a:off x="307818" y="4718936"/>
            <a:ext cx="4056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对 </a:t>
            </a:r>
            <a:r>
              <a:rPr lang="en-US" altLang="zh-CN" sz="1400" dirty="0"/>
              <a:t>D9 </a:t>
            </a:r>
            <a:r>
              <a:rPr lang="zh-CN" altLang="en-US" sz="1400" dirty="0"/>
              <a:t>的用户测试不足 </a:t>
            </a:r>
            <a:r>
              <a:rPr lang="en-US" altLang="zh-CN" sz="1400" dirty="0"/>
              <a:t>- </a:t>
            </a:r>
            <a:r>
              <a:rPr lang="zh-CN" altLang="en-US" sz="1400" dirty="0"/>
              <a:t>重点一直放在 </a:t>
            </a:r>
            <a:r>
              <a:rPr lang="en-US" altLang="zh-CN" sz="1400" dirty="0"/>
              <a:t>Gembar </a:t>
            </a:r>
            <a:r>
              <a:rPr lang="zh-CN" altLang="en-US" sz="1400" dirty="0"/>
              <a:t>和 </a:t>
            </a:r>
            <a:r>
              <a:rPr lang="en-US" altLang="zh-CN" sz="1400" dirty="0"/>
              <a:t>510 </a:t>
            </a:r>
            <a:r>
              <a:rPr lang="zh-CN" altLang="en-US" sz="1400" dirty="0"/>
              <a:t>模型上。需要对进气口和进气口上方的垫圈角度进行大量修改。
在松香用户测试中，入口周围有壁的 </a:t>
            </a:r>
            <a:r>
              <a:rPr lang="en-US" altLang="zh-CN" sz="1400" dirty="0"/>
              <a:t>12-11 </a:t>
            </a:r>
            <a:r>
              <a:rPr lang="zh-CN" altLang="en-US" sz="1400" dirty="0"/>
              <a:t>批次表现最佳。然而，没有足够的 </a:t>
            </a:r>
            <a:r>
              <a:rPr lang="en-US" altLang="zh-CN" sz="1400" dirty="0"/>
              <a:t>D9 </a:t>
            </a:r>
            <a:r>
              <a:rPr lang="zh-CN" altLang="en-US" sz="1400" dirty="0"/>
              <a:t>数据来支持这一点。</a:t>
            </a:r>
            <a:endParaRPr lang="en-U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FED31D-715B-0DB1-65FE-F5B6C7D54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53310"/>
              </p:ext>
            </p:extLst>
          </p:nvPr>
        </p:nvGraphicFramePr>
        <p:xfrm>
          <a:off x="551485" y="815625"/>
          <a:ext cx="10946417" cy="3589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25">
                  <a:extLst>
                    <a:ext uri="{9D8B030D-6E8A-4147-A177-3AD203B41FA5}">
                      <a16:colId xmlns:a16="http://schemas.microsoft.com/office/drawing/2014/main" val="3366786461"/>
                    </a:ext>
                  </a:extLst>
                </a:gridCol>
                <a:gridCol w="702659">
                  <a:extLst>
                    <a:ext uri="{9D8B030D-6E8A-4147-A177-3AD203B41FA5}">
                      <a16:colId xmlns:a16="http://schemas.microsoft.com/office/drawing/2014/main" val="3327106287"/>
                    </a:ext>
                  </a:extLst>
                </a:gridCol>
                <a:gridCol w="953608">
                  <a:extLst>
                    <a:ext uri="{9D8B030D-6E8A-4147-A177-3AD203B41FA5}">
                      <a16:colId xmlns:a16="http://schemas.microsoft.com/office/drawing/2014/main" val="609022931"/>
                    </a:ext>
                  </a:extLst>
                </a:gridCol>
                <a:gridCol w="592240">
                  <a:extLst>
                    <a:ext uri="{9D8B030D-6E8A-4147-A177-3AD203B41FA5}">
                      <a16:colId xmlns:a16="http://schemas.microsoft.com/office/drawing/2014/main" val="1576387155"/>
                    </a:ext>
                  </a:extLst>
                </a:gridCol>
                <a:gridCol w="552090">
                  <a:extLst>
                    <a:ext uri="{9D8B030D-6E8A-4147-A177-3AD203B41FA5}">
                      <a16:colId xmlns:a16="http://schemas.microsoft.com/office/drawing/2014/main" val="4181855029"/>
                    </a:ext>
                  </a:extLst>
                </a:gridCol>
                <a:gridCol w="883342">
                  <a:extLst>
                    <a:ext uri="{9D8B030D-6E8A-4147-A177-3AD203B41FA5}">
                      <a16:colId xmlns:a16="http://schemas.microsoft.com/office/drawing/2014/main" val="2210215240"/>
                    </a:ext>
                  </a:extLst>
                </a:gridCol>
                <a:gridCol w="662507">
                  <a:extLst>
                    <a:ext uri="{9D8B030D-6E8A-4147-A177-3AD203B41FA5}">
                      <a16:colId xmlns:a16="http://schemas.microsoft.com/office/drawing/2014/main" val="2757476954"/>
                    </a:ext>
                  </a:extLst>
                </a:gridCol>
                <a:gridCol w="715206">
                  <a:extLst>
                    <a:ext uri="{9D8B030D-6E8A-4147-A177-3AD203B41FA5}">
                      <a16:colId xmlns:a16="http://schemas.microsoft.com/office/drawing/2014/main" val="3866055920"/>
                    </a:ext>
                  </a:extLst>
                </a:gridCol>
                <a:gridCol w="562127">
                  <a:extLst>
                    <a:ext uri="{9D8B030D-6E8A-4147-A177-3AD203B41FA5}">
                      <a16:colId xmlns:a16="http://schemas.microsoft.com/office/drawing/2014/main" val="1958271037"/>
                    </a:ext>
                  </a:extLst>
                </a:gridCol>
                <a:gridCol w="782963">
                  <a:extLst>
                    <a:ext uri="{9D8B030D-6E8A-4147-A177-3AD203B41FA5}">
                      <a16:colId xmlns:a16="http://schemas.microsoft.com/office/drawing/2014/main" val="2912840028"/>
                    </a:ext>
                  </a:extLst>
                </a:gridCol>
                <a:gridCol w="401519">
                  <a:extLst>
                    <a:ext uri="{9D8B030D-6E8A-4147-A177-3AD203B41FA5}">
                      <a16:colId xmlns:a16="http://schemas.microsoft.com/office/drawing/2014/main" val="807322567"/>
                    </a:ext>
                  </a:extLst>
                </a:gridCol>
                <a:gridCol w="612316">
                  <a:extLst>
                    <a:ext uri="{9D8B030D-6E8A-4147-A177-3AD203B41FA5}">
                      <a16:colId xmlns:a16="http://schemas.microsoft.com/office/drawing/2014/main" val="1238306141"/>
                    </a:ext>
                  </a:extLst>
                </a:gridCol>
                <a:gridCol w="1287370">
                  <a:extLst>
                    <a:ext uri="{9D8B030D-6E8A-4147-A177-3AD203B41FA5}">
                      <a16:colId xmlns:a16="http://schemas.microsoft.com/office/drawing/2014/main" val="2003190672"/>
                    </a:ext>
                  </a:extLst>
                </a:gridCol>
                <a:gridCol w="1465545">
                  <a:extLst>
                    <a:ext uri="{9D8B030D-6E8A-4147-A177-3AD203B41FA5}">
                      <a16:colId xmlns:a16="http://schemas.microsoft.com/office/drawing/2014/main" val="3880904838"/>
                    </a:ext>
                  </a:extLst>
                </a:gridCol>
              </a:tblGrid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样本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用户名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交易日期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已填写媒体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填充体积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使用前的阻力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发放日期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进展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返回日期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收集到的阻力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effectLst/>
                        </a:rPr>
                        <a:t>电压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权力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有问题？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评论？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071251489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1-13 批次松香-1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查理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松香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1/21/2025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样品很快堵塞在进气口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409965113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分批松香-2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莱兰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松香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Leland </a:t>
                      </a:r>
                      <a:r>
                        <a:rPr lang="zh-CN" altLang="en-US" sz="1000" u="none" strike="noStrike" dirty="0">
                          <a:effectLst/>
                        </a:rPr>
                        <a:t>的样本仍然没有堵塞。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4243152594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Batch D9-1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查尔利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800kcp D9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40%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2/3/2025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堵塞物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进气口堵塞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847753158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Batch D9-2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Leon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800kcp D9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进气口堵塞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686043166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12-11批次松脂-1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查理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1/17/2025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松香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1/17/2025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1/29/2025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使用 </a:t>
                      </a:r>
                      <a:r>
                        <a:rPr lang="en-US" altLang="zh-CN" sz="1000" u="none" strike="noStrike" dirty="0">
                          <a:effectLst/>
                        </a:rPr>
                        <a:t>80% </a:t>
                      </a:r>
                      <a:r>
                        <a:rPr lang="zh-CN" altLang="en-US" sz="1000" u="none" strike="noStrike" dirty="0">
                          <a:effectLst/>
                        </a:rPr>
                        <a:t>后会堵塞进气口。严重变色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100795562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12-11 批次松香-2 (1毫升)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吉姆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松香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暂无更新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97673684"/>
                  </a:ext>
                </a:extLst>
              </a:tr>
            </a:tbl>
          </a:graphicData>
        </a:graphic>
      </p:graphicFrame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65A6EB1-29FF-1392-9E7F-75ABAEB9E203}"/>
              </a:ext>
            </a:extLst>
          </p:cNvPr>
          <p:cNvGrpSpPr/>
          <p:nvPr/>
        </p:nvGrpSpPr>
        <p:grpSpPr>
          <a:xfrm>
            <a:off x="4831315" y="4580436"/>
            <a:ext cx="7269465" cy="2178260"/>
            <a:chOff x="4831315" y="4580436"/>
            <a:chExt cx="7269465" cy="2178260"/>
          </a:xfrm>
        </p:grpSpPr>
        <p:pic>
          <p:nvPicPr>
            <p:cNvPr id="93" name="Picture 92" descr="A close-up of a device&#10;&#10;Description automatically generated">
              <a:extLst>
                <a:ext uri="{FF2B5EF4-FFF2-40B4-BE49-F238E27FC236}">
                  <a16:creationId xmlns:a16="http://schemas.microsoft.com/office/drawing/2014/main" id="{95E834BE-EB0E-1BC1-A99F-121E00CFC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441" b="14663"/>
            <a:stretch/>
          </p:blipFill>
          <p:spPr>
            <a:xfrm>
              <a:off x="4831315" y="4656655"/>
              <a:ext cx="3637566" cy="2043284"/>
            </a:xfrm>
            <a:prstGeom prst="rect">
              <a:avLst/>
            </a:prstGeom>
          </p:spPr>
        </p:pic>
        <p:pic>
          <p:nvPicPr>
            <p:cNvPr id="96" name="Picture 95" descr="A close-up of a chip&#10;&#10;Description automatically generated">
              <a:extLst>
                <a:ext uri="{FF2B5EF4-FFF2-40B4-BE49-F238E27FC236}">
                  <a16:creationId xmlns:a16="http://schemas.microsoft.com/office/drawing/2014/main" id="{7575DC69-F304-A22A-1C14-87808A838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732" b="9349"/>
            <a:stretch/>
          </p:blipFill>
          <p:spPr>
            <a:xfrm rot="10800000">
              <a:off x="8656916" y="4668613"/>
              <a:ext cx="3443863" cy="2090083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B98B49A-ABB6-2F37-7E66-5C3F0A8B91C0}"/>
                </a:ext>
              </a:extLst>
            </p:cNvPr>
            <p:cNvSpPr txBox="1"/>
            <p:nvPr/>
          </p:nvSpPr>
          <p:spPr>
            <a:xfrm>
              <a:off x="7086018" y="4580436"/>
              <a:ext cx="2953762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1-13 Batch D9-2 – </a:t>
              </a:r>
              <a:r>
                <a:rPr lang="zh-CN" altLang="en-US" sz="1200" dirty="0">
                  <a:solidFill>
                    <a:schemeClr val="bg1"/>
                  </a:solidFill>
                </a:rPr>
                <a:t>剩余 </a:t>
              </a:r>
              <a:r>
                <a:rPr lang="en-US" altLang="zh-CN" sz="1200" dirty="0">
                  <a:solidFill>
                    <a:schemeClr val="bg1"/>
                  </a:solidFill>
                </a:rPr>
                <a:t>50% </a:t>
              </a:r>
              <a:r>
                <a:rPr lang="zh-CN" altLang="en-US" sz="1200" dirty="0">
                  <a:solidFill>
                    <a:schemeClr val="bg1"/>
                  </a:solidFill>
                </a:rPr>
                <a:t>时堵塞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ED9B08F-55B7-808D-9470-73AA52943DE2}"/>
                </a:ext>
              </a:extLst>
            </p:cNvPr>
            <p:cNvCxnSpPr/>
            <p:nvPr/>
          </p:nvCxnSpPr>
          <p:spPr>
            <a:xfrm>
              <a:off x="10723584" y="4927317"/>
              <a:ext cx="65941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23DD4117-2C92-F69D-70F1-D73E9E7E0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4455" y="4927317"/>
              <a:ext cx="67398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E1B6B9B-BE08-12E3-1F22-45C77FF2A9D5}"/>
                </a:ext>
              </a:extLst>
            </p:cNvPr>
            <p:cNvSpPr txBox="1"/>
            <p:nvPr/>
          </p:nvSpPr>
          <p:spPr>
            <a:xfrm>
              <a:off x="9031832" y="4818339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蒸汽路径——期望这里的石油</a:t>
              </a:r>
              <a:r>
                <a:rPr lang="zh-CN" altLang="en-US" sz="800" dirty="0">
                  <a:solidFill>
                    <a:schemeClr val="bg1"/>
                  </a:solidFill>
                </a:rPr>
                <a:t/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D11C992-39A0-5CD0-C0A4-058C60691DCB}"/>
                </a:ext>
              </a:extLst>
            </p:cNvPr>
            <p:cNvSpPr txBox="1"/>
            <p:nvPr/>
          </p:nvSpPr>
          <p:spPr>
            <a:xfrm>
              <a:off x="11317518" y="4768868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错误的方向——我们不应该在这里看到石油</a:t>
              </a:r>
              <a:r>
                <a:rPr lang="en-US" altLang="zh-CN" sz="800" dirty="0">
                  <a:solidFill>
                    <a:schemeClr val="bg1"/>
                  </a:solidFill>
                </a:rPr>
                <a:t/>
              </a:r>
              <a:r>
                <a:rPr lang="zh-CN" altLang="en-US" sz="800" dirty="0">
                  <a:solidFill>
                    <a:schemeClr val="bg1"/>
                  </a:solidFill>
                </a:rPr>
                <a:t/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971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9BCD-6C5C-C5D8-45B8-70E02F1B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151C36-BD7C-756C-93F6-B3D8F3F8EC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BCE831-D05E-EC1F-4A03-6CFCEEE96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A0A6A206-3A27-4483-4E56-E123BCEA1F32}"/>
              </a:ext>
            </a:extLst>
          </p:cNvPr>
          <p:cNvSpPr/>
          <p:nvPr/>
        </p:nvSpPr>
        <p:spPr>
          <a:xfrm>
            <a:off x="640080" y="146304"/>
            <a:ext cx="4246740" cy="52322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en-US" altLang="zh-CN" sz="27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需要的设计更改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75820-3F1A-2196-6043-18323EF66A58}"/>
              </a:ext>
            </a:extLst>
          </p:cNvPr>
          <p:cNvSpPr txBox="1"/>
          <p:nvPr/>
        </p:nvSpPr>
        <p:spPr>
          <a:xfrm>
            <a:off x="242165" y="814959"/>
            <a:ext cx="57058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请观察这三个图。第一个图在进气口正上方产生了不必要的冷凝水。这会增加堵塞的风险，并进一步降低整体效率。</a:t>
            </a:r>
            <a:r>
              <a:rPr lang="en-US" altLang="zh-CN" sz="1400"/>
              <a:t/>
            </a:r>
            <a:r>
              <a:rPr lang="zh-CN" altLang="en-US" sz="1400"/>
              <a:t/>
            </a:r>
            <a:r>
              <a:rPr lang="en-US" altLang="zh-CN" sz="1400"/>
              <a:t/>
            </a:r>
            <a:r>
              <a:rPr lang="zh-CN" altLang="en-US" sz="1400"/>
              <a:t/>
            </a:r>
            <a:r>
              <a:rPr lang="en-US" altLang="zh-CN" sz="1400"/>
              <a:t/>
            </a:r>
            <a:r>
              <a:rPr lang="zh-CN" altLang="en-US" sz="1400"/>
              <a:t/>
            </a:r>
            <a:r>
              <a:rPr lang="en-US" altLang="zh-CN" sz="1400"/>
              <a:t/>
            </a:r>
            <a:r>
              <a:rPr lang="zh-CN" altLang="en-US" sz="1400"/>
              <a:t/>
            </a:r>
            <a:endParaRPr lang="en-US" sz="1400" dirty="0"/>
            <a:br/>
            <a:r>
              <a:rPr lang="zh-CN" altLang="en-US" sz="1400"/>
              <a:t>第二个图表可以防止进气口上方的不必要蒸汽反射和冷凝现象。这种简单的修改对于预防进气口堵塞是必要的。</a:t>
            </a:r>
            <a:br/>
            <a:r>
              <a:rPr lang="zh-CN" altLang="en-US" sz="1400"/>
              <a:t>第三个图重新引入了 2024 年 12 月 11 日批次中存在的进气口壁。这将使机油泄漏到进气口的空间减少 75%。松香用户测试表明，这减少了堵塞现象。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994EDA-DCEB-5129-8A29-9EC67CEA24BC}"/>
              </a:ext>
            </a:extLst>
          </p:cNvPr>
          <p:cNvGrpSpPr/>
          <p:nvPr/>
        </p:nvGrpSpPr>
        <p:grpSpPr>
          <a:xfrm>
            <a:off x="5917895" y="907924"/>
            <a:ext cx="2771201" cy="2168590"/>
            <a:chOff x="4444031" y="4638734"/>
            <a:chExt cx="2771201" cy="21685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DD231F-0DF1-8152-D33D-C45440DE4776}"/>
                </a:ext>
              </a:extLst>
            </p:cNvPr>
            <p:cNvSpPr txBox="1"/>
            <p:nvPr/>
          </p:nvSpPr>
          <p:spPr>
            <a:xfrm>
              <a:off x="4559740" y="4638734"/>
              <a:ext cx="2655492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1：当前的 Gembox 蒸汽通道（前横截面 – 去掉了针脚）</a:t>
              </a:r>
              <a:r>
                <a:rPr lang="en-US" altLang="zh-CN" sz="1200" dirty="0"/>
                <a:t/>
              </a:r>
              <a:r>
                <a:rPr lang="zh-CN" altLang="en-US" sz="1200" dirty="0"/>
                <a:t/>
              </a:r>
              <a:r>
                <a:rPr lang="en-US" altLang="zh-CN" sz="1200" dirty="0"/>
                <a:t/>
              </a:r>
              <a:r>
                <a:rPr lang="zh-CN" altLang="en-US" sz="1200" dirty="0"/>
                <a:t/>
              </a:r>
              <a:r>
                <a:rPr lang="en-US" altLang="zh-CN" sz="1200" dirty="0"/>
                <a:t/>
              </a:r>
              <a:r>
                <a:rPr lang="zh-CN" altLang="en-US" sz="1200" dirty="0"/>
                <a:t/>
              </a:r>
              <a:endParaRPr lang="en-US" sz="12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0B580F-3A9D-C0C9-2217-7B35409A6D63}"/>
                </a:ext>
              </a:extLst>
            </p:cNvPr>
            <p:cNvSpPr/>
            <p:nvPr/>
          </p:nvSpPr>
          <p:spPr>
            <a:xfrm>
              <a:off x="5305332" y="5315656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B9A23E-72A8-9828-3FE3-E30DBC106EB9}"/>
                </a:ext>
              </a:extLst>
            </p:cNvPr>
            <p:cNvCxnSpPr/>
            <p:nvPr/>
          </p:nvCxnSpPr>
          <p:spPr>
            <a:xfrm flipH="1" flipV="1">
              <a:off x="4444031" y="5388560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B53230-92B8-9517-A437-6188F8684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213" y="5413502"/>
              <a:ext cx="371191" cy="1591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63F4F9-8F8E-3B5F-C344-E5D2EEF10C2D}"/>
                </a:ext>
              </a:extLst>
            </p:cNvPr>
            <p:cNvSpPr/>
            <p:nvPr/>
          </p:nvSpPr>
          <p:spPr>
            <a:xfrm>
              <a:off x="6486808" y="6110413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39577FD-C32F-EE93-A66A-36D989554202}"/>
                </a:ext>
              </a:extLst>
            </p:cNvPr>
            <p:cNvSpPr/>
            <p:nvPr/>
          </p:nvSpPr>
          <p:spPr>
            <a:xfrm>
              <a:off x="6486808" y="6170555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BED50AC-8EF6-E17C-71CD-E97EEAE460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2694" y="5670512"/>
              <a:ext cx="172016" cy="379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F757303-116B-E177-8E24-0C0185A9ED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0678" y="5700935"/>
              <a:ext cx="316872" cy="376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3C15419-2084-53F8-0A1A-3487E719C0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8868" y="5720924"/>
              <a:ext cx="466254" cy="389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25DB795-DB27-75C1-351A-5294BFEB91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2282" y="5602417"/>
              <a:ext cx="144856" cy="4755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576BEC-17F7-468D-1959-3E497F0C8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138" y="5572666"/>
              <a:ext cx="108641" cy="4480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7C06DE-E355-7824-A186-AFB62AF46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5122" y="5491656"/>
              <a:ext cx="280657" cy="382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04028ED-C0AB-C8FC-1E64-0BE0F40BF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068" y="5529173"/>
              <a:ext cx="380245" cy="304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F3B13E-75BA-19FD-8296-6429AA4C2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3161" y="5428846"/>
              <a:ext cx="28065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C75F3C2-6D97-5B2A-33E7-ABE54E9C5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34575" y="5429320"/>
              <a:ext cx="18486" cy="137800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5D5AC17-39A4-F6F6-78A4-5C14C79DD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4041" y="5524336"/>
              <a:ext cx="35086" cy="2088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1188E58-67A2-BF88-4CC9-DE2885C19A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6346" y="5524335"/>
              <a:ext cx="107134" cy="1836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42BCE63-62E4-5613-AC0F-D47E5F19FC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79214" y="5670512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6E759F3-B628-AD36-0727-A10841495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44031" y="5491656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D7F8C92-5BC6-1335-36AD-E50740A91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3892" y="5932248"/>
              <a:ext cx="134876" cy="1619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4CE7153-7C94-9F41-DFF3-5DC1D8D1DF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9180" y="5700935"/>
              <a:ext cx="116443" cy="2001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030E9D5-567F-5F48-3AFC-634B71460AC3}"/>
              </a:ext>
            </a:extLst>
          </p:cNvPr>
          <p:cNvGrpSpPr/>
          <p:nvPr/>
        </p:nvGrpSpPr>
        <p:grpSpPr>
          <a:xfrm>
            <a:off x="9005777" y="956145"/>
            <a:ext cx="2686987" cy="2112814"/>
            <a:chOff x="7684981" y="4628914"/>
            <a:chExt cx="2686987" cy="211281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DD9431C-805D-AC74-B1A7-DE8A9BC2D0D9}"/>
                </a:ext>
              </a:extLst>
            </p:cNvPr>
            <p:cNvSpPr/>
            <p:nvPr/>
          </p:nvSpPr>
          <p:spPr>
            <a:xfrm>
              <a:off x="8546282" y="5250060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43ED68-C998-F0D9-BEE4-94613981329A}"/>
                </a:ext>
              </a:extLst>
            </p:cNvPr>
            <p:cNvCxnSpPr/>
            <p:nvPr/>
          </p:nvCxnSpPr>
          <p:spPr>
            <a:xfrm flipH="1" flipV="1">
              <a:off x="7684981" y="5322964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41DC9B9-EE70-4008-21D3-899B915DB1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2163" y="5507070"/>
              <a:ext cx="615268" cy="2247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97DBC3B-F385-460F-FB4A-8F02F76D2109}"/>
                </a:ext>
              </a:extLst>
            </p:cNvPr>
            <p:cNvSpPr/>
            <p:nvPr/>
          </p:nvSpPr>
          <p:spPr>
            <a:xfrm>
              <a:off x="9727758" y="6044817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4494EFF-A189-93A1-F520-86E197841993}"/>
                </a:ext>
              </a:extLst>
            </p:cNvPr>
            <p:cNvSpPr/>
            <p:nvPr/>
          </p:nvSpPr>
          <p:spPr>
            <a:xfrm>
              <a:off x="9727758" y="6104959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14C20B5-BB3B-960E-DDF2-1D94DEA700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3644" y="5604916"/>
              <a:ext cx="172016" cy="379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5B64B36-263E-7F19-6BFE-13D1C82E0B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51628" y="5635339"/>
              <a:ext cx="316872" cy="376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71F4886-AD84-F40C-44CC-8CBDDA360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29818" y="5655328"/>
              <a:ext cx="466254" cy="389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BEDE801-979F-6B61-FD8C-90A158B0AE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5355" y="5728916"/>
              <a:ext cx="18656" cy="10128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F8C5F87-BD09-68FA-7E70-2D93FD2C66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0164" y="5604916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22DD729-71D1-E1DD-1AF9-066061A678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4981" y="5426060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2D1766D-DEDB-225F-5A18-657AB8C69C20}"/>
                </a:ext>
              </a:extLst>
            </p:cNvPr>
            <p:cNvCxnSpPr/>
            <p:nvPr/>
          </p:nvCxnSpPr>
          <p:spPr>
            <a:xfrm flipH="1" flipV="1">
              <a:off x="9849797" y="5700935"/>
              <a:ext cx="11500" cy="3198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B7D003B-8C77-AE7F-DCE7-18D7B0E51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179" y="5914976"/>
              <a:ext cx="103167" cy="950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CE6E38D-2F02-D14A-1503-9EEC95772A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0817" y="5716367"/>
              <a:ext cx="165871" cy="1321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275A888-ED0B-8C17-C0E9-31E8E0E9A4EF}"/>
                </a:ext>
              </a:extLst>
            </p:cNvPr>
            <p:cNvSpPr txBox="1"/>
            <p:nvPr/>
          </p:nvSpPr>
          <p:spPr>
            <a:xfrm>
              <a:off x="7716476" y="4628914"/>
              <a:ext cx="2655492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2：改进后的 Gembox 蒸汽通道（前横截面 - 去除了引脚）</a:t>
              </a:r>
              <a:r>
                <a:rPr lang="en-US" altLang="zh-CN" sz="1200" dirty="0"/>
                <a:t/>
              </a:r>
              <a:r>
                <a:rPr lang="zh-CN" altLang="en-US" sz="1200" dirty="0"/>
                <a:t/>
              </a:r>
              <a:r>
                <a:rPr lang="en-US" altLang="zh-CN" sz="1200" dirty="0"/>
                <a:t/>
              </a:r>
              <a:r>
                <a:rPr lang="zh-CN" altLang="en-US" sz="1200" dirty="0"/>
                <a:t/>
              </a:r>
              <a:r>
                <a:rPr lang="en-US" altLang="zh-CN" sz="1200" dirty="0"/>
                <a:t/>
              </a:r>
              <a:r>
                <a:rPr lang="zh-CN" altLang="en-US" sz="1200" dirty="0"/>
                <a:t/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B88639-5809-D0C9-3E2B-3AEDF028BFFC}"/>
              </a:ext>
            </a:extLst>
          </p:cNvPr>
          <p:cNvGrpSpPr/>
          <p:nvPr/>
        </p:nvGrpSpPr>
        <p:grpSpPr>
          <a:xfrm>
            <a:off x="451427" y="3451002"/>
            <a:ext cx="7269465" cy="2178260"/>
            <a:chOff x="4831315" y="4580436"/>
            <a:chExt cx="7269465" cy="2178260"/>
          </a:xfrm>
        </p:grpSpPr>
        <p:pic>
          <p:nvPicPr>
            <p:cNvPr id="12" name="Picture 11" descr="A close-up of a device&#10;&#10;Description automatically generated">
              <a:extLst>
                <a:ext uri="{FF2B5EF4-FFF2-40B4-BE49-F238E27FC236}">
                  <a16:creationId xmlns:a16="http://schemas.microsoft.com/office/drawing/2014/main" id="{5E5A99B5-6DC9-3312-0B87-A1A4AA616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441" b="14663"/>
            <a:stretch/>
          </p:blipFill>
          <p:spPr>
            <a:xfrm>
              <a:off x="4831315" y="4656655"/>
              <a:ext cx="3637566" cy="2043284"/>
            </a:xfrm>
            <a:prstGeom prst="rect">
              <a:avLst/>
            </a:prstGeom>
          </p:spPr>
        </p:pic>
        <p:pic>
          <p:nvPicPr>
            <p:cNvPr id="16" name="Picture 15" descr="A close-up of a chip&#10;&#10;Description automatically generated">
              <a:extLst>
                <a:ext uri="{FF2B5EF4-FFF2-40B4-BE49-F238E27FC236}">
                  <a16:creationId xmlns:a16="http://schemas.microsoft.com/office/drawing/2014/main" id="{F66DA37A-D50F-C5B5-0CA8-793CC92A3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732" b="9349"/>
            <a:stretch/>
          </p:blipFill>
          <p:spPr>
            <a:xfrm rot="10800000">
              <a:off x="8656916" y="4668613"/>
              <a:ext cx="3443863" cy="209008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2CC563-24B1-AA87-6F0E-8AEEBA23E679}"/>
                </a:ext>
              </a:extLst>
            </p:cNvPr>
            <p:cNvSpPr txBox="1"/>
            <p:nvPr/>
          </p:nvSpPr>
          <p:spPr>
            <a:xfrm>
              <a:off x="7086018" y="4580436"/>
              <a:ext cx="2953762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Batch D9-2 – 在 50% 残留时堵塞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B93F749-52EC-69CF-8290-75461AF0E9A6}"/>
                </a:ext>
              </a:extLst>
            </p:cNvPr>
            <p:cNvCxnSpPr/>
            <p:nvPr/>
          </p:nvCxnSpPr>
          <p:spPr>
            <a:xfrm>
              <a:off x="10723584" y="4927317"/>
              <a:ext cx="65941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9C504DC-3098-5B6F-E74C-7217B5ADA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4455" y="4927317"/>
              <a:ext cx="67398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105A2AF-D338-B741-03F2-52DB2CE56D7F}"/>
                </a:ext>
              </a:extLst>
            </p:cNvPr>
            <p:cNvSpPr txBox="1"/>
            <p:nvPr/>
          </p:nvSpPr>
          <p:spPr>
            <a:xfrm>
              <a:off x="9031832" y="4818339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蒸汽通道 – 期待这里的石油</a:t>
              </a:r>
              <a:r>
                <a:rPr lang="zh-CN" altLang="en-US" sz="800" dirty="0">
                  <a:solidFill>
                    <a:schemeClr val="bg1"/>
                  </a:solidFill>
                </a:rPr>
                <a:t/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82EAD5-1854-4DA5-10DB-F08641DFAC92}"/>
                </a:ext>
              </a:extLst>
            </p:cNvPr>
            <p:cNvSpPr txBox="1"/>
            <p:nvPr/>
          </p:nvSpPr>
          <p:spPr>
            <a:xfrm>
              <a:off x="11317518" y="4768868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错误的方向 – 我们不应该在这里看到油污</a:t>
              </a:r>
              <a:r>
                <a:rPr lang="en-US" altLang="zh-CN" sz="800" dirty="0">
                  <a:solidFill>
                    <a:schemeClr val="bg1"/>
                  </a:solidFill>
                </a:rPr>
                <a:t/>
              </a:r>
              <a:r>
                <a:rPr lang="zh-CN" altLang="en-US" sz="800" dirty="0">
                  <a:solidFill>
                    <a:schemeClr val="bg1"/>
                  </a:solidFill>
                </a:rPr>
                <a:t/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AE0D6E-F6B1-1292-A024-2332CD0894F4}"/>
              </a:ext>
            </a:extLst>
          </p:cNvPr>
          <p:cNvGrpSpPr/>
          <p:nvPr/>
        </p:nvGrpSpPr>
        <p:grpSpPr>
          <a:xfrm>
            <a:off x="8146414" y="3674200"/>
            <a:ext cx="3620064" cy="2398892"/>
            <a:chOff x="816610" y="3403458"/>
            <a:chExt cx="3620064" cy="239889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4C32F9D-92D4-3920-8691-F198C5B9F122}"/>
                </a:ext>
              </a:extLst>
            </p:cNvPr>
            <p:cNvSpPr/>
            <p:nvPr/>
          </p:nvSpPr>
          <p:spPr>
            <a:xfrm>
              <a:off x="1677911" y="4310682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00FB42-508D-2B0D-B9A0-1A4947897164}"/>
                </a:ext>
              </a:extLst>
            </p:cNvPr>
            <p:cNvCxnSpPr/>
            <p:nvPr/>
          </p:nvCxnSpPr>
          <p:spPr>
            <a:xfrm flipH="1" flipV="1">
              <a:off x="816610" y="4383586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B540FC-9D8A-6E95-F03D-884DA12062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792" y="4567692"/>
              <a:ext cx="615268" cy="2247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A8FE7BD-55F4-BA76-8F64-E1A594F7CB71}"/>
                </a:ext>
              </a:extLst>
            </p:cNvPr>
            <p:cNvSpPr/>
            <p:nvPr/>
          </p:nvSpPr>
          <p:spPr>
            <a:xfrm>
              <a:off x="2859387" y="5105439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9E3E9A4-6B1E-CFF8-2358-E98BB285595B}"/>
                </a:ext>
              </a:extLst>
            </p:cNvPr>
            <p:cNvSpPr/>
            <p:nvPr/>
          </p:nvSpPr>
          <p:spPr>
            <a:xfrm>
              <a:off x="2859387" y="5165581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2C37088-6054-13B5-716F-B05FDC2CF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6984" y="4789538"/>
              <a:ext cx="0" cy="10128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9424EB9-684E-14F0-C2FC-9EDE2FECE4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1793" y="4665538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8AFC8BB-21DE-4142-DCB3-F948D47F67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610" y="4486682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61D5607-1D2D-6958-54F3-F6833EF55BE7}"/>
                </a:ext>
              </a:extLst>
            </p:cNvPr>
            <p:cNvSpPr txBox="1"/>
            <p:nvPr/>
          </p:nvSpPr>
          <p:spPr>
            <a:xfrm>
              <a:off x="816610" y="3403458"/>
              <a:ext cx="282796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3</a:t>
              </a:r>
              <a:r>
                <a:rPr lang="zh-CN" altLang="en-US" sz="1200" dirty="0"/>
                <a:t>：改进的 </a:t>
              </a:r>
              <a:r>
                <a:rPr lang="en-US" altLang="zh-CN" sz="1200" dirty="0"/>
                <a:t>Gembox </a:t>
              </a:r>
              <a:r>
                <a:rPr lang="zh-CN" altLang="en-US" sz="1200" dirty="0"/>
                <a:t>蒸汽通道 </a:t>
              </a:r>
              <a:r>
                <a:rPr lang="en-US" altLang="zh-CN" sz="1200" dirty="0"/>
                <a:t>+ </a:t>
              </a:r>
              <a:r>
                <a:rPr lang="zh-CN" altLang="en-US" sz="1200" dirty="0"/>
                <a:t>进气壁（前横截面 </a:t>
              </a:r>
              <a:r>
                <a:rPr lang="en-US" altLang="zh-CN" sz="1200" dirty="0"/>
                <a:t>- </a:t>
              </a:r>
              <a:r>
                <a:rPr lang="zh-CN" altLang="en-US" sz="1200" dirty="0"/>
                <a:t>去掉销）</a:t>
              </a:r>
              <a:endParaRPr lang="en-US" sz="12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BF34ED4-6E9A-D880-C7B9-7A3A0677FCE5}"/>
                </a:ext>
              </a:extLst>
            </p:cNvPr>
            <p:cNvSpPr/>
            <p:nvPr/>
          </p:nvSpPr>
          <p:spPr>
            <a:xfrm>
              <a:off x="2859386" y="4789538"/>
              <a:ext cx="429674" cy="1012812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ight Triangle 100">
              <a:extLst>
                <a:ext uri="{FF2B5EF4-FFF2-40B4-BE49-F238E27FC236}">
                  <a16:creationId xmlns:a16="http://schemas.microsoft.com/office/drawing/2014/main" id="{BD1C3DBD-9AEB-633B-FCE1-C539010F219B}"/>
                </a:ext>
              </a:extLst>
            </p:cNvPr>
            <p:cNvSpPr/>
            <p:nvPr/>
          </p:nvSpPr>
          <p:spPr>
            <a:xfrm>
              <a:off x="2859386" y="4646928"/>
              <a:ext cx="361908" cy="142610"/>
            </a:xfrm>
            <a:prstGeom prst="rtTriangl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DFF8FCE-BF2E-4824-A9C4-42E64DE24F6B}"/>
                </a:ext>
              </a:extLst>
            </p:cNvPr>
            <p:cNvSpPr txBox="1"/>
            <p:nvPr/>
          </p:nvSpPr>
          <p:spPr>
            <a:xfrm>
              <a:off x="3391181" y="5009646"/>
              <a:ext cx="10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入口壁是透明的，便于观察。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CB4336EA-DCD3-ED09-45DB-65A8D9F3D53F}"/>
              </a:ext>
            </a:extLst>
          </p:cNvPr>
          <p:cNvSpPr txBox="1"/>
          <p:nvPr/>
        </p:nvSpPr>
        <p:spPr>
          <a:xfrm>
            <a:off x="278207" y="5857992"/>
            <a:ext cx="7750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进行设计更改时：确保遵循适当的实验设计（DoE）程序。这意味着在引入最终设计之前，应隔离和测试所有修改。</a:t>
            </a:r>
            <a:r>
              <a:rPr lang="en-US" altLang="zh-CN" sz="1400"/>
              <a:t/>
            </a:r>
            <a:r>
              <a:rPr lang="zh-CN" altLang="en-US" sz="1400"/>
              <a:t/>
            </a:r>
            <a:endParaRPr lang="en-US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D487BC-D029-EC2D-34A4-121262367549}"/>
              </a:ext>
            </a:extLst>
          </p:cNvPr>
          <p:cNvSpPr txBox="1"/>
          <p:nvPr/>
        </p:nvSpPr>
        <p:spPr>
          <a:xfrm>
            <a:off x="8276574" y="5398640"/>
            <a:ext cx="176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进气壁有两个作用：防止油进入，并将空气直接导向加热器。</a:t>
            </a:r>
            <a:endParaRPr lang="en-US" sz="12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AF2E80D-C881-8A40-10D6-76A4A0C6680D}"/>
              </a:ext>
            </a:extLst>
          </p:cNvPr>
          <p:cNvCxnSpPr/>
          <p:nvPr/>
        </p:nvCxnSpPr>
        <p:spPr>
          <a:xfrm flipV="1">
            <a:off x="9951349" y="5391731"/>
            <a:ext cx="153645" cy="111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54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E22A-F55A-5751-5ECC-D3E3D27A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407BDC-F203-D6BC-C97F-C73156038A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822180-F20A-7F09-D1F4-B3959A266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B270995E-C223-5A51-5193-9233962ADC3B}"/>
              </a:ext>
            </a:extLst>
          </p:cNvPr>
          <p:cNvSpPr/>
          <p:nvPr/>
        </p:nvSpPr>
        <p:spPr>
          <a:xfrm>
            <a:off x="640080" y="146304"/>
            <a:ext cx="7946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大空隙高 T 测试结果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4C6ECA-D8F5-36E9-755F-8D3EB5F4B80A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713778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工况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吸气压力 (kPa)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2.65, 0.19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0.498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2.29, 0.24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0.531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2.49, 0.12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0.608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1.73, 0.24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0.802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1.98, 0.17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0.628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B99D0FBE-3685-6EDC-9568-89D55EC20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49597473-8895-97FF-3DAF-39F347A9F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D801D8BF-11DA-77F4-1B68-4C187E263D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pic>
        <p:nvPicPr>
          <p:cNvPr id="10" name="Picture 9" descr="A close-up of a car part&#10;&#10;Description automatically generated">
            <a:extLst>
              <a:ext uri="{FF2B5EF4-FFF2-40B4-BE49-F238E27FC236}">
                <a16:creationId xmlns:a16="http://schemas.microsoft.com/office/drawing/2014/main" id="{843831C2-6086-A060-22B2-8ABC80613F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974" r="13787" b="-1147"/>
          <a:stretch/>
        </p:blipFill>
        <p:spPr>
          <a:xfrm>
            <a:off x="6336793" y="5241642"/>
            <a:ext cx="2814904" cy="1369470"/>
          </a:xfrm>
          <a:prstGeom prst="rect">
            <a:avLst/>
          </a:prstGeom>
        </p:spPr>
      </p:pic>
      <p:pic>
        <p:nvPicPr>
          <p:cNvPr id="12" name="Picture 11" descr="A close-up of a device&#10;&#10;Description automatically generated">
            <a:extLst>
              <a:ext uri="{FF2B5EF4-FFF2-40B4-BE49-F238E27FC236}">
                <a16:creationId xmlns:a16="http://schemas.microsoft.com/office/drawing/2014/main" id="{BE12F00A-C70D-9F4B-8FEF-BB15ABED1C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419" b="18238"/>
          <a:stretch/>
        </p:blipFill>
        <p:spPr>
          <a:xfrm>
            <a:off x="6336793" y="3844371"/>
            <a:ext cx="2788919" cy="140858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1C2C90-89D0-AA6E-2914-C054931D3D4B}"/>
              </a:ext>
            </a:extLst>
          </p:cNvPr>
          <p:cNvCxnSpPr/>
          <p:nvPr/>
        </p:nvCxnSpPr>
        <p:spPr>
          <a:xfrm flipH="1">
            <a:off x="6323800" y="6044184"/>
            <a:ext cx="475352" cy="1013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E2D5B8-6B1C-2C8B-3142-7760ACB39F3C}"/>
              </a:ext>
            </a:extLst>
          </p:cNvPr>
          <p:cNvCxnSpPr>
            <a:cxnSpLocks/>
          </p:cNvCxnSpPr>
          <p:nvPr/>
        </p:nvCxnSpPr>
        <p:spPr>
          <a:xfrm flipH="1">
            <a:off x="6323800" y="4929584"/>
            <a:ext cx="737903" cy="11296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08E385E-1348-9C07-0FF0-E6EBE2931FA1}"/>
              </a:ext>
            </a:extLst>
          </p:cNvPr>
          <p:cNvSpPr/>
          <p:nvPr/>
        </p:nvSpPr>
        <p:spPr>
          <a:xfrm>
            <a:off x="8184333" y="4010685"/>
            <a:ext cx="1133403" cy="1129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4AC5D-71B2-3FE1-DE85-EAD3AB807CC7}"/>
              </a:ext>
            </a:extLst>
          </p:cNvPr>
          <p:cNvSpPr txBox="1"/>
          <p:nvPr/>
        </p:nvSpPr>
        <p:spPr>
          <a:xfrm>
            <a:off x="6350327" y="3882665"/>
            <a:ext cx="135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由于此处的坡度，进油口上方积聚 - 请移除它！</a:t>
            </a:r>
            <a:r>
              <a:rPr lang="en-US" altLang="zh-CN" sz="1200" dirty="0">
                <a:solidFill>
                  <a:schemeClr val="bg1"/>
                </a:solidFill>
              </a:rPr>
              <a:t/>
            </a:r>
            <a:r>
              <a:rPr lang="zh-CN" altLang="en-US" sz="1200" dirty="0">
                <a:solidFill>
                  <a:schemeClr val="bg1"/>
                </a:solidFill>
              </a:rPr>
              <a:t/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5F6AF2-57B0-8C5C-CE3F-976BEE8CEAAC}"/>
              </a:ext>
            </a:extLst>
          </p:cNvPr>
          <p:cNvCxnSpPr/>
          <p:nvPr/>
        </p:nvCxnSpPr>
        <p:spPr>
          <a:xfrm>
            <a:off x="7744245" y="3971479"/>
            <a:ext cx="643565" cy="39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51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7AD3-1299-06C7-352B-40E91B75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9AC1BE-16D6-F9D0-63AC-1895CC12AB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4815EF-995C-350E-1BB0-0C773FB4D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4CA66DF1-1E9E-A30B-9D4A-BB0C06C628FD}"/>
              </a:ext>
            </a:extLst>
          </p:cNvPr>
          <p:cNvSpPr/>
          <p:nvPr/>
        </p:nvSpPr>
        <p:spPr>
          <a:xfrm>
            <a:off x="640080" y="146304"/>
            <a:ext cx="5418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Intense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94CC77-3161-D7AB-545C-4C5EECBA18DF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748526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运行模式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SDR 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Gembox Intense-1 800kcp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2.5, 0.69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测试仍在进行中。使用效率将在下周报告。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3.05, 0.96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2.98, 0.88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3.37, 0.93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2.94, 0.96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2D31CF5C-F3A5-8961-5D57-AAE650238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9AC6062E-067A-2989-A9A8-95444FCF5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C56C1C03-E563-94FA-53AB-A5E6B8BA0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F93525-C126-9223-74B3-D506A5E76D3B}"/>
              </a:ext>
            </a:extLst>
          </p:cNvPr>
          <p:cNvSpPr txBox="1"/>
          <p:nvPr/>
        </p:nvSpPr>
        <p:spPr>
          <a:xfrm>
            <a:off x="6476696" y="3829616"/>
            <a:ext cx="2408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到目前为止，性能看起来不错。最初较低的 TPM 是由于撞击器问题带来的。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3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4511-9443-5FEA-A3C0-11769986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FB2806-883A-F433-D0CD-5C77CF64C8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DC75B-5405-27C8-DB63-42F9CF25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127BB8A-80D9-7117-DE53-2923317BBB53}"/>
              </a:ext>
            </a:extLst>
          </p:cNvPr>
          <p:cNvSpPr/>
          <p:nvPr/>
        </p:nvSpPr>
        <p:spPr>
          <a:xfrm>
            <a:off x="640080" y="146304"/>
            <a:ext cx="58561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粘度相容性测试结果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04689C-E2B1-C8EE-4CA8-1D7CE0793A08}"/>
              </a:ext>
            </a:extLst>
          </p:cNvPr>
          <p:cNvGraphicFramePr>
            <a:graphicFrameLocks noGrp="1"/>
          </p:cNvGraphicFramePr>
          <p:nvPr/>
        </p:nvGraphicFramePr>
        <p:xfrm>
          <a:off x="316255" y="774720"/>
          <a:ext cx="5730109" cy="4303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功率 (电压设为 3.2V)</a:t>
                      </a:r>
                      <a:r>
                        <a:rPr 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工况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43kcp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2.9, 0.38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136kcp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2.49, 0.5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1.2mcp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2.17, 0.26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4mcp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1.12, 0.6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暂定通过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lang="zh-CN" altLang="en-US" sz="600" dirty="0"/>
                        <a:t>低 TPM 主要由于气泡较厚。当适当吸湿时，TPM 为 ~2 毫克/喷。</a:t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r>
                        <a:rPr lang="en-US" altLang="zh-CN" sz="1000" dirty="0"/>
                        <a:t/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97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800" dirty="0"/>
                        <a:t>Gembox (来自 QS-1, 3.4V) 800kcp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r>
                        <a:rPr sz="1000" dirty="0"/>
                        <a:t>W</a:t>
                      </a:r>
                      <a:r>
                        <a:rPr lang="en-US" sz="1000" dirty="0"/>
                        <a:t> (3.4V*)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3.39, 0.4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4EA0B682-77AA-5E6A-8B92-46F103BB7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F74DBA6F-5B94-9511-059C-C42DE51F5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050CF680-8D4C-7556-CC51-0C3C0E3C2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E064CBC-5101-BDF2-F180-43FB91A34906}"/>
              </a:ext>
            </a:extLst>
          </p:cNvPr>
          <p:cNvSpPr/>
          <p:nvPr/>
        </p:nvSpPr>
        <p:spPr>
          <a:xfrm>
            <a:off x="7179398" y="2806574"/>
            <a:ext cx="1511929" cy="6224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8FCF2-24AF-1517-C81C-28FAC4E60355}"/>
              </a:ext>
            </a:extLst>
          </p:cNvPr>
          <p:cNvSpPr txBox="1"/>
          <p:nvPr/>
        </p:nvSpPr>
        <p:spPr>
          <a:xfrm>
            <a:off x="6770299" y="1023678"/>
            <a:ext cx="1606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由于加热器上的厚气泡阻止了芯吸，因此 </a:t>
            </a:r>
            <a:r>
              <a:rPr lang="en-US" altLang="zh-CN" sz="1400" dirty="0"/>
              <a:t>4</a:t>
            </a:r>
            <a:r>
              <a:rPr lang="en-US" sz="1400" dirty="0"/>
              <a:t>mcp </a:t>
            </a:r>
            <a:r>
              <a:rPr lang="zh-CN" altLang="en-US" sz="1400" dirty="0"/>
              <a:t>油的 </a:t>
            </a:r>
            <a:r>
              <a:rPr lang="en-US" sz="1400" dirty="0"/>
              <a:t>TPM </a:t>
            </a:r>
            <a:r>
              <a:rPr lang="zh-CN" altLang="en-US" sz="1400" dirty="0"/>
              <a:t>下降</a:t>
            </a:r>
            <a:endParaRPr lang="en-US" sz="1400" dirty="0"/>
          </a:p>
        </p:txBody>
      </p:sp>
      <p:pic>
        <p:nvPicPr>
          <p:cNvPr id="12" name="Picture 11" descr="A close-up of a computer chip&#10;&#10;Description automatically generated">
            <a:extLst>
              <a:ext uri="{FF2B5EF4-FFF2-40B4-BE49-F238E27FC236}">
                <a16:creationId xmlns:a16="http://schemas.microsoft.com/office/drawing/2014/main" id="{FF23641B-6236-7F94-1224-4247B38952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962" t="22276" b="22135"/>
          <a:stretch/>
        </p:blipFill>
        <p:spPr>
          <a:xfrm>
            <a:off x="6362979" y="3692588"/>
            <a:ext cx="2713783" cy="1242830"/>
          </a:xfrm>
          <a:prstGeom prst="rect">
            <a:avLst/>
          </a:prstGeom>
        </p:spPr>
      </p:pic>
      <p:pic>
        <p:nvPicPr>
          <p:cNvPr id="14" name="Picture 13" descr="Close-up of a machine&#10;&#10;Description automatically generated">
            <a:extLst>
              <a:ext uri="{FF2B5EF4-FFF2-40B4-BE49-F238E27FC236}">
                <a16:creationId xmlns:a16="http://schemas.microsoft.com/office/drawing/2014/main" id="{3E14A8CF-AE16-A84F-DD36-8354E1EB91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430" t="12915" b="12087"/>
          <a:stretch/>
        </p:blipFill>
        <p:spPr>
          <a:xfrm>
            <a:off x="6120035" y="4949424"/>
            <a:ext cx="2980945" cy="12869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A40035-72BB-C50E-3E39-D685403E0B07}"/>
              </a:ext>
            </a:extLst>
          </p:cNvPr>
          <p:cNvSpPr txBox="1"/>
          <p:nvPr/>
        </p:nvSpPr>
        <p:spPr>
          <a:xfrm>
            <a:off x="85344" y="5592910"/>
            <a:ext cx="6034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/>
              <a:t>43kcp D8 </a:t>
            </a:r>
            <a:r>
              <a:rPr lang="zh-CN" altLang="en-US" sz="1500"/>
              <a:t>样品加热器似乎破裂。在进气口上方观察到油，最终会导致堵塞。进气口两侧的壁应尽量减少此问题。
加热器后面泄漏表明有进一步的堵塞风险。我们应该研究扩大进气口和加热器之间的距离。</a:t>
            </a:r>
            <a:endParaRPr lang="en-US" sz="15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9588F2-7840-6C0B-29AB-649DB0C153B4}"/>
              </a:ext>
            </a:extLst>
          </p:cNvPr>
          <p:cNvCxnSpPr>
            <a:cxnSpLocks/>
          </p:cNvCxnSpPr>
          <p:nvPr/>
        </p:nvCxnSpPr>
        <p:spPr>
          <a:xfrm>
            <a:off x="6095303" y="2018923"/>
            <a:ext cx="1129398" cy="2108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4057E5-7C4B-F9F4-A00D-F3F1F43DF804}"/>
              </a:ext>
            </a:extLst>
          </p:cNvPr>
          <p:cNvCxnSpPr>
            <a:cxnSpLocks/>
          </p:cNvCxnSpPr>
          <p:nvPr/>
        </p:nvCxnSpPr>
        <p:spPr>
          <a:xfrm>
            <a:off x="6100321" y="2044767"/>
            <a:ext cx="427228" cy="2735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673132-CF31-DC72-366C-8ECEF9C8E3F0}"/>
              </a:ext>
            </a:extLst>
          </p:cNvPr>
          <p:cNvCxnSpPr/>
          <p:nvPr/>
        </p:nvCxnSpPr>
        <p:spPr>
          <a:xfrm flipV="1">
            <a:off x="5866646" y="4780230"/>
            <a:ext cx="1520982" cy="9244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C94EC7B-D8F3-3959-77F1-9CC5DB94F395}"/>
              </a:ext>
            </a:extLst>
          </p:cNvPr>
          <p:cNvSpPr/>
          <p:nvPr/>
        </p:nvSpPr>
        <p:spPr>
          <a:xfrm>
            <a:off x="8155236" y="3801500"/>
            <a:ext cx="1133403" cy="1129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5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AB0A-0A67-94AD-AE87-9E68B339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5A4605-E415-756A-53E1-956B31C7D6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-4159"/>
            <a:ext cx="12192361" cy="6857797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7D2F868C-7B99-70FA-8022-8F0813E5C2E3}"/>
              </a:ext>
            </a:extLst>
          </p:cNvPr>
          <p:cNvSpPr/>
          <p:nvPr/>
        </p:nvSpPr>
        <p:spPr>
          <a:xfrm>
            <a:off x="640080" y="146304"/>
            <a:ext cx="58256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长烟雾测试结果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4" name="Picture 3" descr="TPM_overlay.png">
            <a:extLst>
              <a:ext uri="{FF2B5EF4-FFF2-40B4-BE49-F238E27FC236}">
                <a16:creationId xmlns:a16="http://schemas.microsoft.com/office/drawing/2014/main" id="{C199AEFE-485D-E0B1-E40E-EBC5FA296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893" y="813816"/>
            <a:ext cx="4982635" cy="4982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28942-310A-0B29-F697-D403CD5F7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8369D9-CDD0-4F34-04E5-9F0D651310CF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624345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56890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吸阻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Long-1 700kcp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100mL/5s, 160mL/8s, 200mL/10s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0.842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Long-2 700kcp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0.528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Long-3 700kcp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1.032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Long-4 700kcp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0.392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吸阻很低</a:t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即使在低拉力下也没有激活问题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E63357-F311-8523-3482-195CEB623907}"/>
              </a:ext>
            </a:extLst>
          </p:cNvPr>
          <p:cNvCxnSpPr>
            <a:cxnSpLocks/>
          </p:cNvCxnSpPr>
          <p:nvPr/>
        </p:nvCxnSpPr>
        <p:spPr>
          <a:xfrm flipV="1">
            <a:off x="8393393" y="1421394"/>
            <a:ext cx="0" cy="383866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AE0B73-5338-1FB5-C168-D0D3D944B570}"/>
              </a:ext>
            </a:extLst>
          </p:cNvPr>
          <p:cNvCxnSpPr>
            <a:cxnSpLocks/>
          </p:cNvCxnSpPr>
          <p:nvPr/>
        </p:nvCxnSpPr>
        <p:spPr>
          <a:xfrm flipV="1">
            <a:off x="9797397" y="1421394"/>
            <a:ext cx="0" cy="383866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32079E-054C-ADAD-EE69-A3587D3BCB8C}"/>
              </a:ext>
            </a:extLst>
          </p:cNvPr>
          <p:cNvSpPr txBox="1"/>
          <p:nvPr/>
        </p:nvSpPr>
        <p:spPr>
          <a:xfrm>
            <a:off x="7729726" y="4605836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5秒泡芙</a:t>
            </a:r>
            <a:r>
              <a:rPr lang="zh-CN" altLang="en-US" sz="1600" dirty="0"/>
              <a:t/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E7DBA-C6C9-2B54-27E0-0C8F80890416}"/>
              </a:ext>
            </a:extLst>
          </p:cNvPr>
          <p:cNvSpPr txBox="1"/>
          <p:nvPr/>
        </p:nvSpPr>
        <p:spPr>
          <a:xfrm>
            <a:off x="8827570" y="4568144"/>
            <a:ext cx="632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8s </a:t>
            </a:r>
            <a:r>
              <a:rPr lang="zh-CN" altLang="en-US" sz="1600" dirty="0"/>
              <a:t>吹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AB89E-6B86-EE27-B6B4-8768992A3A7F}"/>
              </a:ext>
            </a:extLst>
          </p:cNvPr>
          <p:cNvSpPr txBox="1"/>
          <p:nvPr/>
        </p:nvSpPr>
        <p:spPr>
          <a:xfrm>
            <a:off x="10287695" y="4558191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10秒 吹</a:t>
            </a:r>
            <a:r>
              <a:rPr lang="zh-CN" altLang="en-US" sz="1600" dirty="0"/>
              <a:t/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8118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BE1E-8BBB-0C4D-59A6-F28FF0E0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81D2DB-BAB9-1949-0374-CA2F7BB17C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218219-6114-F1E9-AF52-84548EBB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B4A10F04-DB65-ED82-12A9-15FE4CCB41B2}"/>
              </a:ext>
            </a:extLst>
          </p:cNvPr>
          <p:cNvSpPr/>
          <p:nvPr/>
        </p:nvSpPr>
        <p:spPr>
          <a:xfrm>
            <a:off x="640080" y="146304"/>
            <a:ext cx="47789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570754-6716-C284-101F-2C60D161C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1" y="724795"/>
            <a:ext cx="12144375" cy="3886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AAF21-4AC9-698A-177A-0EB3AAB6E419}"/>
              </a:ext>
            </a:extLst>
          </p:cNvPr>
          <p:cNvSpPr txBox="1"/>
          <p:nvPr/>
        </p:nvSpPr>
        <p:spPr>
          <a:xfrm>
            <a:off x="23631" y="4759311"/>
            <a:ext cx="362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泄漏仅发生在蒸汽路径的后方。这意味着硅垫片上的倾角</a:t>
            </a:r>
            <a:endParaRPr lang="en-US" dirty="0"/>
          </a:p>
        </p:txBody>
      </p:sp>
      <p:pic>
        <p:nvPicPr>
          <p:cNvPr id="14" name="Picture 13" descr="A close-up of a computer chip&#10;&#10;Description automatically generated">
            <a:extLst>
              <a:ext uri="{FF2B5EF4-FFF2-40B4-BE49-F238E27FC236}">
                <a16:creationId xmlns:a16="http://schemas.microsoft.com/office/drawing/2014/main" id="{4B3D6E7C-5A1C-5D1C-CEA1-3A053E8F45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35" t="14107" b="23299"/>
          <a:stretch/>
        </p:blipFill>
        <p:spPr>
          <a:xfrm>
            <a:off x="4052819" y="4564747"/>
            <a:ext cx="4086363" cy="2279306"/>
          </a:xfrm>
          <a:prstGeom prst="rect">
            <a:avLst/>
          </a:prstGeom>
        </p:spPr>
      </p:pic>
      <p:pic>
        <p:nvPicPr>
          <p:cNvPr id="16" name="Picture 15" descr="Close-up of a car battery&#10;&#10;Description automatically generated">
            <a:extLst>
              <a:ext uri="{FF2B5EF4-FFF2-40B4-BE49-F238E27FC236}">
                <a16:creationId xmlns:a16="http://schemas.microsoft.com/office/drawing/2014/main" id="{BC2684B6-494F-7DE2-46D8-033753D447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415" t="22041" r="5096" b="19592"/>
          <a:stretch/>
        </p:blipFill>
        <p:spPr>
          <a:xfrm>
            <a:off x="8139182" y="4568061"/>
            <a:ext cx="4028824" cy="22759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644FDD-D939-B847-3F7B-A005F057A3A3}"/>
              </a:ext>
            </a:extLst>
          </p:cNvPr>
          <p:cNvSpPr txBox="1"/>
          <p:nvPr/>
        </p:nvSpPr>
        <p:spPr>
          <a:xfrm>
            <a:off x="7652554" y="4613776"/>
            <a:ext cx="936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HTHH-6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0F7921-A82F-FB38-7D56-64C617EF9201}"/>
              </a:ext>
            </a:extLst>
          </p:cNvPr>
          <p:cNvSpPr/>
          <p:nvPr/>
        </p:nvSpPr>
        <p:spPr>
          <a:xfrm>
            <a:off x="6649805" y="4976649"/>
            <a:ext cx="1489377" cy="1550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3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1581-176D-4859-1C00-2764A42F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33944A-9C45-9DD3-5C89-07C7ABBD6C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01DA53-EA98-799C-AB72-09727190F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EC2BBE8-680D-B606-7D4C-624999554D09}"/>
              </a:ext>
            </a:extLst>
          </p:cNvPr>
          <p:cNvSpPr/>
          <p:nvPr/>
        </p:nvSpPr>
        <p:spPr>
          <a:xfrm>
            <a:off x="640080" y="146304"/>
            <a:ext cx="4134465" cy="52322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松香棒新旧线圈气味对比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81C4A3-583C-3677-D81C-C9E816B0D8F9}"/>
              </a:ext>
            </a:extLst>
          </p:cNvPr>
          <p:cNvGraphicFramePr>
            <a:graphicFrameLocks noGrp="1"/>
          </p:cNvGraphicFramePr>
          <p:nvPr/>
        </p:nvGraphicFramePr>
        <p:xfrm>
          <a:off x="2696564" y="965218"/>
          <a:ext cx="6798510" cy="28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用户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内莉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新线圈 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新工时-1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旧线圈 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老工法-2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利兰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老线圈 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新工作-1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新线圈 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旧工作2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查尔利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老线圈 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新工作-1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新线圈 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旧工作版本-2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DAFC33-A4C5-C442-1F56-462C36889116}"/>
              </a:ext>
            </a:extLst>
          </p:cNvPr>
          <p:cNvSpPr txBox="1"/>
          <p:nvPr/>
        </p:nvSpPr>
        <p:spPr>
          <a:xfrm>
            <a:off x="5159336" y="630959"/>
            <a:ext cx="239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排名 (1 最优)</a:t>
            </a:r>
          </a:p>
        </p:txBody>
      </p:sp>
      <p:pic>
        <p:nvPicPr>
          <p:cNvPr id="7" name="Picture 6" descr="A group of small tubes with yellow and black caps&#10;&#10;Description automatically generated">
            <a:extLst>
              <a:ext uri="{FF2B5EF4-FFF2-40B4-BE49-F238E27FC236}">
                <a16:creationId xmlns:a16="http://schemas.microsoft.com/office/drawing/2014/main" id="{335F9A62-8EEA-ED65-C710-43127671D6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65" b="8161"/>
          <a:stretch/>
        </p:blipFill>
        <p:spPr>
          <a:xfrm>
            <a:off x="1228148" y="3941335"/>
            <a:ext cx="4659517" cy="2770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8DF87A-8B24-3317-6CEC-8D835AC5C3FD}"/>
              </a:ext>
            </a:extLst>
          </p:cNvPr>
          <p:cNvSpPr txBox="1"/>
          <p:nvPr/>
        </p:nvSpPr>
        <p:spPr>
          <a:xfrm>
            <a:off x="7116174" y="4195716"/>
            <a:ext cx="325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 3 次快速感官测试，新旧线圈之间似乎没有显著差异。Old-working-2 始终最差，而 new-working-1 始终是第二好的。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dirty="0"/>
              <a:t/>
            </a:r>
            <a:r>
              <a:rPr lang="zh-CN" altLang="en-US" dirty="0"/>
              <a:t/>
            </a:r>
            <a:r>
              <a:rPr lang="en-US" dirty="0"/>
              <a:t/>
            </a:r>
            <a:r>
              <a:rPr lang="zh-CN" altLang="en-US" dirty="0"/>
              <a:t/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1FB6F-7748-FF5F-8803-A4C5D9E03F36}"/>
              </a:ext>
            </a:extLst>
          </p:cNvPr>
          <p:cNvSpPr txBox="1"/>
          <p:nvPr/>
        </p:nvSpPr>
        <p:spPr>
          <a:xfrm>
            <a:off x="316871" y="1000291"/>
            <a:ext cx="2064190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600"/>
              <a:t>目标：识别新旧线圈之间的任何差异。如果新线圈更好或相同，则测试通过。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23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644E-91CD-7EDA-D90F-0EB5B2D2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47EA53-808F-AD90-DF16-D935456B0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14222-4B33-57B3-E527-05226AEE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6FB0B7E5-C1A7-4C34-3BFD-F20678BE9823}"/>
              </a:ext>
            </a:extLst>
          </p:cNvPr>
          <p:cNvSpPr/>
          <p:nvPr/>
        </p:nvSpPr>
        <p:spPr>
          <a:xfrm>
            <a:off x="640080" y="146304"/>
            <a:ext cx="5734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+ Gembox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0" name="Picture 9" descr="A black and gold cigarette lighter&#10;&#10;Description automatically generated">
            <a:extLst>
              <a:ext uri="{FF2B5EF4-FFF2-40B4-BE49-F238E27FC236}">
                <a16:creationId xmlns:a16="http://schemas.microsoft.com/office/drawing/2014/main" id="{0F7B322B-94C1-EFBE-DDE3-5AB092778A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427" t="18911" r="37362" b="14558"/>
          <a:stretch/>
        </p:blipFill>
        <p:spPr>
          <a:xfrm>
            <a:off x="401217" y="1091680"/>
            <a:ext cx="1614196" cy="5262278"/>
          </a:xfrm>
          <a:prstGeom prst="rect">
            <a:avLst/>
          </a:prstGeom>
        </p:spPr>
      </p:pic>
      <p:pic>
        <p:nvPicPr>
          <p:cNvPr id="12" name="Picture 11" descr="A close up of a device&#10;&#10;Description automatically generated">
            <a:extLst>
              <a:ext uri="{FF2B5EF4-FFF2-40B4-BE49-F238E27FC236}">
                <a16:creationId xmlns:a16="http://schemas.microsoft.com/office/drawing/2014/main" id="{63F4FC94-A312-E982-7F70-AF295BC63A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39" t="26123" r="15412" b="22313"/>
          <a:stretch/>
        </p:blipFill>
        <p:spPr>
          <a:xfrm>
            <a:off x="2164703" y="1772815"/>
            <a:ext cx="4338734" cy="42163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C30641-A899-FD52-8A7C-2AA4BB10D5E5}"/>
              </a:ext>
            </a:extLst>
          </p:cNvPr>
          <p:cNvSpPr txBox="1"/>
          <p:nvPr/>
        </p:nvSpPr>
        <p:spPr>
          <a:xfrm>
            <a:off x="6746033" y="1938283"/>
            <a:ext cx="5299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Gembar</a:t>
            </a:r>
            <a:r>
              <a:rPr lang="zh-CN" altLang="en-US" b="1"/>
              <a:t>：正在进行一次 </a:t>
            </a:r>
            <a:r>
              <a:rPr lang="en-US" altLang="zh-CN" b="1"/>
              <a:t>2mL </a:t>
            </a:r>
            <a:r>
              <a:rPr lang="zh-CN" altLang="en-US" b="1"/>
              <a:t>松香用户测试，使用率为 </a:t>
            </a:r>
            <a:r>
              <a:rPr lang="en-US" altLang="zh-CN" b="1"/>
              <a:t>50%</a:t>
            </a:r>
            <a:r>
              <a:rPr lang="zh-CN" altLang="en-US" b="1"/>
              <a:t>。观察到变色，但味道没有明显变化。到目前为止没有堵塞或射油。
</a:t>
            </a:r>
            <a:r>
              <a:rPr lang="en-US" altLang="zh-CN" b="1"/>
              <a:t>Gembox</a:t>
            </a:r>
            <a:r>
              <a:rPr lang="zh-CN" altLang="en-US" b="1"/>
              <a:t>：</a:t>
            </a:r>
            <a:r>
              <a:rPr lang="en-US" altLang="zh-CN" b="1"/>
              <a:t>2mL </a:t>
            </a:r>
            <a:r>
              <a:rPr lang="zh-CN" altLang="en-US" b="1"/>
              <a:t>松香用户测试样品堵塞。</a:t>
            </a:r>
            <a:r>
              <a:rPr lang="en-US" altLang="zh-CN" b="1"/>
              <a:t>2024 </a:t>
            </a:r>
            <a:r>
              <a:rPr lang="zh-CN" altLang="en-US" b="1"/>
              <a:t>年 </a:t>
            </a:r>
            <a:r>
              <a:rPr lang="en-US" altLang="zh-CN" b="1"/>
              <a:t>12 </a:t>
            </a:r>
            <a:r>
              <a:rPr lang="zh-CN" altLang="en-US" b="1"/>
              <a:t>月 </a:t>
            </a:r>
            <a:r>
              <a:rPr lang="en-US" altLang="zh-CN" b="1"/>
              <a:t>11 </a:t>
            </a:r>
            <a:r>
              <a:rPr lang="zh-CN" altLang="en-US" b="1"/>
              <a:t>日批次（黑色外壳）第一次堵塞，剩余约 </a:t>
            </a:r>
            <a:r>
              <a:rPr lang="en-US" altLang="zh-CN" b="1"/>
              <a:t>20% </a:t>
            </a:r>
            <a:r>
              <a:rPr lang="zh-CN" altLang="en-US" b="1"/>
              <a:t>的油。</a:t>
            </a:r>
            <a:r>
              <a:rPr lang="en-US" altLang="zh-CN" b="1"/>
              <a:t>1-22-2025 </a:t>
            </a:r>
            <a:r>
              <a:rPr lang="zh-CN" altLang="en-US" b="1"/>
              <a:t>批次（透明外壳）在剩余 </a:t>
            </a:r>
            <a:r>
              <a:rPr lang="en-US" altLang="zh-CN" b="1"/>
              <a:t>50% </a:t>
            </a:r>
            <a:r>
              <a:rPr lang="zh-CN" altLang="en-US" b="1"/>
              <a:t>时开始堵塞，并在剩余 </a:t>
            </a:r>
            <a:r>
              <a:rPr lang="en-US" altLang="zh-CN" b="1"/>
              <a:t>40% </a:t>
            </a:r>
            <a:r>
              <a:rPr lang="zh-CN" altLang="en-US" b="1"/>
              <a:t>时出现严重堵塞。这进一步说明了旧进气口的好处。随着油位的降低，变色表现得很明显。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2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B4969-B18E-0D3F-6B75-9C83EFEAA5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5F279-F6CA-EF0A-7FD1-868F26CB0883}"/>
              </a:ext>
            </a:extLst>
          </p:cNvPr>
          <p:cNvSpPr txBox="1"/>
          <p:nvPr/>
        </p:nvSpPr>
        <p:spPr>
          <a:xfrm>
            <a:off x="5425333" y="2938247"/>
            <a:ext cx="136447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600" b="1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谢谢</a:t>
            </a:r>
            <a:endParaRPr lang="en-GB" sz="44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3B2CC-BCA8-66D3-9539-3530EF5F6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3903" y="5599760"/>
            <a:ext cx="1764192" cy="60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0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10400</TotalTime>
  <Words>2120</Words>
  <Application>Microsoft Office PowerPoint</Application>
  <PresentationFormat>Widescreen</PresentationFormat>
  <Paragraphs>589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微软雅黑</vt:lpstr>
      <vt:lpstr>微软雅黑</vt:lpstr>
      <vt:lpstr>Aptos</vt:lpstr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343621560@qq.com</dc:creator>
  <cp:lastModifiedBy>Alexander Becquet</cp:lastModifiedBy>
  <cp:revision>120</cp:revision>
  <dcterms:created xsi:type="dcterms:W3CDTF">2024-06-12T05:45:47Z</dcterms:created>
  <dcterms:modified xsi:type="dcterms:W3CDTF">2025-02-05T20:57:06Z</dcterms:modified>
</cp:coreProperties>
</file>