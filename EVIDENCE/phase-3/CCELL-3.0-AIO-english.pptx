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300" r:id="rId3"/>
    <p:sldId id="314" r:id="rId4"/>
    <p:sldId id="315" r:id="rId5"/>
    <p:sldId id="316" r:id="rId6"/>
    <p:sldId id="318" r:id="rId7"/>
    <p:sldId id="319" r:id="rId8"/>
    <p:sldId id="320" r:id="rId9"/>
    <p:sldId id="321" r:id="rId10"/>
    <p:sldId id="322" r:id="rId11"/>
    <p:sldId id="323" r:id="rId12"/>
    <p:sldId id="324" r:id="rId13"/>
    <p:sldId id="325" r:id="rId14"/>
    <p:sldId id="326" r:id="rId15"/>
    <p:sldId id="327" r:id="rId16"/>
    <p:sldId id="328" r:id="rId17"/>
    <p:sldId id="275"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orient="horz" pos="346" userDrawn="1">
          <p15:clr>
            <a:srgbClr val="A4A3A4"/>
          </p15:clr>
        </p15:guide>
        <p15:guide id="4" orient="horz" pos="3974" userDrawn="1">
          <p15:clr>
            <a:srgbClr val="A4A3A4"/>
          </p15:clr>
        </p15:guide>
        <p15:guide id="5" pos="325" userDrawn="1">
          <p15:clr>
            <a:srgbClr val="A4A3A4"/>
          </p15:clr>
        </p15:guide>
        <p15:guide id="6" pos="735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504AA"/>
    <a:srgbClr val="4CC9F0"/>
    <a:srgbClr val="4169E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853"/>
    <p:restoredTop sz="96283" autoAdjust="0"/>
  </p:normalViewPr>
  <p:slideViewPr>
    <p:cSldViewPr snapToGrid="0" showGuides="1">
      <p:cViewPr varScale="1">
        <p:scale>
          <a:sx n="103" d="100"/>
          <a:sy n="103" d="100"/>
        </p:scale>
        <p:origin x="120" y="300"/>
      </p:cViewPr>
      <p:guideLst>
        <p:guide orient="horz" pos="2160"/>
        <p:guide pos="3840"/>
        <p:guide orient="horz" pos="346"/>
        <p:guide orient="horz" pos="3974"/>
        <p:guide pos="325"/>
        <p:guide pos="7355"/>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BDC1F37-278B-43F9-96D2-D424393BA5BD}" type="datetimeFigureOut">
              <a:rPr lang="en-US" smtClean="0"/>
              <a:t>2/5/2025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B17F21D-822B-473C-95C3-70ECF142DFAB}" type="slidenum">
              <a:rPr lang="en-US" smtClean="0"/>
              <a:t>‹#›</a:t>
            </a:fld>
            <a:endParaRPr lang="en-US"/>
          </a:p>
        </p:txBody>
      </p:sp>
    </p:spTree>
    <p:extLst>
      <p:ext uri="{BB962C8B-B14F-4D97-AF65-F5344CB8AC3E}">
        <p14:creationId xmlns:p14="http://schemas.microsoft.com/office/powerpoint/2010/main" val="31261010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508BB2-DA28-29FD-8DB7-62DDFD2F01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0E0AF0-EA32-DD01-AE63-3920237E30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5683A4-022F-31EA-8EF7-BE6A5DF250D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5F3B150-FADF-79C0-268C-D31F6BF6FB4C}"/>
              </a:ext>
            </a:extLst>
          </p:cNvPr>
          <p:cNvSpPr>
            <a:spLocks noGrp="1"/>
          </p:cNvSpPr>
          <p:nvPr>
            <p:ph type="sldNum" sz="quarter" idx="5"/>
          </p:nvPr>
        </p:nvSpPr>
        <p:spPr/>
        <p:txBody>
          <a:bodyPr/>
          <a:lstStyle/>
          <a:p>
            <a:fld id="{BB17F21D-822B-473C-95C3-70ECF142DFAB}" type="slidenum">
              <a:rPr lang="en-US" smtClean="0"/>
              <a:t>3</a:t>
            </a:fld>
            <a:endParaRPr lang="en-US"/>
          </a:p>
        </p:txBody>
      </p:sp>
    </p:spTree>
    <p:extLst>
      <p:ext uri="{BB962C8B-B14F-4D97-AF65-F5344CB8AC3E}">
        <p14:creationId xmlns:p14="http://schemas.microsoft.com/office/powerpoint/2010/main" val="14235155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2135AC-E794-E193-3F09-5AAFA2E170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BB5CE0-5C40-FE15-089E-4A514F58D6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F4B9B1-B057-D41F-CF6E-0B701A50931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2DA3B56-37ED-7622-40E5-D75C6A193CD9}"/>
              </a:ext>
            </a:extLst>
          </p:cNvPr>
          <p:cNvSpPr>
            <a:spLocks noGrp="1"/>
          </p:cNvSpPr>
          <p:nvPr>
            <p:ph type="sldNum" sz="quarter" idx="5"/>
          </p:nvPr>
        </p:nvSpPr>
        <p:spPr/>
        <p:txBody>
          <a:bodyPr/>
          <a:lstStyle/>
          <a:p>
            <a:fld id="{BB17F21D-822B-473C-95C3-70ECF142DFAB}" type="slidenum">
              <a:rPr lang="en-US" smtClean="0"/>
              <a:t>4</a:t>
            </a:fld>
            <a:endParaRPr lang="en-US"/>
          </a:p>
        </p:txBody>
      </p:sp>
    </p:spTree>
    <p:extLst>
      <p:ext uri="{BB962C8B-B14F-4D97-AF65-F5344CB8AC3E}">
        <p14:creationId xmlns:p14="http://schemas.microsoft.com/office/powerpoint/2010/main" val="32251249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F8C05E-D94C-66EE-CF2D-C77AE37E1D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E3392A-A41D-8743-145E-2FF9F9BDBF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82D9DD-8894-3702-57F6-43901B62D2D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D14DC29-0530-1BB5-4689-E4C8F04D7676}"/>
              </a:ext>
            </a:extLst>
          </p:cNvPr>
          <p:cNvSpPr>
            <a:spLocks noGrp="1"/>
          </p:cNvSpPr>
          <p:nvPr>
            <p:ph type="sldNum" sz="quarter" idx="5"/>
          </p:nvPr>
        </p:nvSpPr>
        <p:spPr/>
        <p:txBody>
          <a:bodyPr/>
          <a:lstStyle/>
          <a:p>
            <a:fld id="{BB17F21D-822B-473C-95C3-70ECF142DFAB}" type="slidenum">
              <a:rPr lang="en-US" smtClean="0"/>
              <a:t>5</a:t>
            </a:fld>
            <a:endParaRPr lang="en-US"/>
          </a:p>
        </p:txBody>
      </p:sp>
    </p:spTree>
    <p:extLst>
      <p:ext uri="{BB962C8B-B14F-4D97-AF65-F5344CB8AC3E}">
        <p14:creationId xmlns:p14="http://schemas.microsoft.com/office/powerpoint/2010/main" val="24719579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E9763F-19BF-D236-7016-0DF7AF70F4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086730-AC48-B76D-F06A-51AA965910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853597-DE33-2A42-8698-D4D5918E900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E50D359-B508-A456-0E12-CC746B194F36}"/>
              </a:ext>
            </a:extLst>
          </p:cNvPr>
          <p:cNvSpPr>
            <a:spLocks noGrp="1"/>
          </p:cNvSpPr>
          <p:nvPr>
            <p:ph type="sldNum" sz="quarter" idx="5"/>
          </p:nvPr>
        </p:nvSpPr>
        <p:spPr/>
        <p:txBody>
          <a:bodyPr/>
          <a:lstStyle/>
          <a:p>
            <a:fld id="{BB17F21D-822B-473C-95C3-70ECF142DFAB}" type="slidenum">
              <a:rPr lang="en-US" smtClean="0"/>
              <a:t>6</a:t>
            </a:fld>
            <a:endParaRPr lang="en-US"/>
          </a:p>
        </p:txBody>
      </p:sp>
    </p:spTree>
    <p:extLst>
      <p:ext uri="{BB962C8B-B14F-4D97-AF65-F5344CB8AC3E}">
        <p14:creationId xmlns:p14="http://schemas.microsoft.com/office/powerpoint/2010/main" val="24842702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F74103-8626-8F4A-B08E-43FE5CCAF2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283AB3-4B5F-35D3-876F-A9E722F66D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51885E-FF94-3C84-CC71-4F85B7A2492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2576B04-8ADE-FE43-7CDA-7658B5E7533B}"/>
              </a:ext>
            </a:extLst>
          </p:cNvPr>
          <p:cNvSpPr>
            <a:spLocks noGrp="1"/>
          </p:cNvSpPr>
          <p:nvPr>
            <p:ph type="sldNum" sz="quarter" idx="5"/>
          </p:nvPr>
        </p:nvSpPr>
        <p:spPr/>
        <p:txBody>
          <a:bodyPr/>
          <a:lstStyle/>
          <a:p>
            <a:fld id="{BB17F21D-822B-473C-95C3-70ECF142DFAB}" type="slidenum">
              <a:rPr lang="en-US" smtClean="0"/>
              <a:t>7</a:t>
            </a:fld>
            <a:endParaRPr lang="en-US"/>
          </a:p>
        </p:txBody>
      </p:sp>
    </p:spTree>
    <p:extLst>
      <p:ext uri="{BB962C8B-B14F-4D97-AF65-F5344CB8AC3E}">
        <p14:creationId xmlns:p14="http://schemas.microsoft.com/office/powerpoint/2010/main" val="11725543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AFA0DD-291F-3862-4A77-2A1E3500C7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D0CA49-9032-9F64-BF75-39D63DAEC7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C9C458-683F-C2BB-ADE7-870795D2800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BF2092E-E783-243E-A258-D233FC399239}"/>
              </a:ext>
            </a:extLst>
          </p:cNvPr>
          <p:cNvSpPr>
            <a:spLocks noGrp="1"/>
          </p:cNvSpPr>
          <p:nvPr>
            <p:ph type="sldNum" sz="quarter" idx="5"/>
          </p:nvPr>
        </p:nvSpPr>
        <p:spPr/>
        <p:txBody>
          <a:bodyPr/>
          <a:lstStyle/>
          <a:p>
            <a:fld id="{BB17F21D-822B-473C-95C3-70ECF142DFAB}" type="slidenum">
              <a:rPr lang="en-US" smtClean="0"/>
              <a:t>8</a:t>
            </a:fld>
            <a:endParaRPr lang="en-US"/>
          </a:p>
        </p:txBody>
      </p:sp>
    </p:spTree>
    <p:extLst>
      <p:ext uri="{BB962C8B-B14F-4D97-AF65-F5344CB8AC3E}">
        <p14:creationId xmlns:p14="http://schemas.microsoft.com/office/powerpoint/2010/main" val="31577734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9FCC24-E0FD-7231-295E-6B3AE82A43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0752D6-1227-DD3E-BA0E-B0FB3D5AFD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6D6235-2931-D741-D7CA-9819C0BCE78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5AD1C28-5828-388E-BC61-E46D2AB517F7}"/>
              </a:ext>
            </a:extLst>
          </p:cNvPr>
          <p:cNvSpPr>
            <a:spLocks noGrp="1"/>
          </p:cNvSpPr>
          <p:nvPr>
            <p:ph type="sldNum" sz="quarter" idx="5"/>
          </p:nvPr>
        </p:nvSpPr>
        <p:spPr/>
        <p:txBody>
          <a:bodyPr/>
          <a:lstStyle/>
          <a:p>
            <a:fld id="{BB17F21D-822B-473C-95C3-70ECF142DFAB}" type="slidenum">
              <a:rPr lang="en-US" smtClean="0"/>
              <a:t>9</a:t>
            </a:fld>
            <a:endParaRPr lang="en-US"/>
          </a:p>
        </p:txBody>
      </p:sp>
    </p:spTree>
    <p:extLst>
      <p:ext uri="{BB962C8B-B14F-4D97-AF65-F5344CB8AC3E}">
        <p14:creationId xmlns:p14="http://schemas.microsoft.com/office/powerpoint/2010/main" val="27885980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13687D-DC83-1A14-AE7C-BD89148A82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F685D9-45F6-5B53-D310-47D6B5D690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5E4BBB-B6E3-C90C-B87F-967E620DCB5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E26F718-75E8-95FD-D1FD-7A568D3E5174}"/>
              </a:ext>
            </a:extLst>
          </p:cNvPr>
          <p:cNvSpPr>
            <a:spLocks noGrp="1"/>
          </p:cNvSpPr>
          <p:nvPr>
            <p:ph type="sldNum" sz="quarter" idx="5"/>
          </p:nvPr>
        </p:nvSpPr>
        <p:spPr/>
        <p:txBody>
          <a:bodyPr/>
          <a:lstStyle/>
          <a:p>
            <a:fld id="{BB17F21D-822B-473C-95C3-70ECF142DFAB}" type="slidenum">
              <a:rPr lang="en-US" smtClean="0"/>
              <a:t>10</a:t>
            </a:fld>
            <a:endParaRPr lang="en-US"/>
          </a:p>
        </p:txBody>
      </p:sp>
    </p:spTree>
    <p:extLst>
      <p:ext uri="{BB962C8B-B14F-4D97-AF65-F5344CB8AC3E}">
        <p14:creationId xmlns:p14="http://schemas.microsoft.com/office/powerpoint/2010/main" val="9740603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1036C7-5967-0042-693C-1D88F63636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F33F2A-A7BF-1D46-9A7E-CDF06DD11C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9A1344-50B1-6E66-0958-7534B129FB4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DEF4718-6FBB-12D2-415E-E26F453636FF}"/>
              </a:ext>
            </a:extLst>
          </p:cNvPr>
          <p:cNvSpPr>
            <a:spLocks noGrp="1"/>
          </p:cNvSpPr>
          <p:nvPr>
            <p:ph type="sldNum" sz="quarter" idx="5"/>
          </p:nvPr>
        </p:nvSpPr>
        <p:spPr/>
        <p:txBody>
          <a:bodyPr/>
          <a:lstStyle/>
          <a:p>
            <a:fld id="{BB17F21D-822B-473C-95C3-70ECF142DFAB}" type="slidenum">
              <a:rPr lang="en-US" smtClean="0"/>
              <a:t>11</a:t>
            </a:fld>
            <a:endParaRPr lang="en-US"/>
          </a:p>
        </p:txBody>
      </p:sp>
    </p:spTree>
    <p:extLst>
      <p:ext uri="{BB962C8B-B14F-4D97-AF65-F5344CB8AC3E}">
        <p14:creationId xmlns:p14="http://schemas.microsoft.com/office/powerpoint/2010/main" val="38037468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D226DE-5FA7-D484-8BFF-BB205D7F5A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B47158-04EE-0627-0B29-F0AA5B141C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3D7E27-87CA-E5BB-CEC4-DD16DAA1D79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B7246BE-1CE6-EAB1-9D25-6E20CE2808B2}"/>
              </a:ext>
            </a:extLst>
          </p:cNvPr>
          <p:cNvSpPr>
            <a:spLocks noGrp="1"/>
          </p:cNvSpPr>
          <p:nvPr>
            <p:ph type="sldNum" sz="quarter" idx="5"/>
          </p:nvPr>
        </p:nvSpPr>
        <p:spPr/>
        <p:txBody>
          <a:bodyPr/>
          <a:lstStyle/>
          <a:p>
            <a:fld id="{BB17F21D-822B-473C-95C3-70ECF142DFAB}" type="slidenum">
              <a:rPr lang="en-US" smtClean="0"/>
              <a:t>12</a:t>
            </a:fld>
            <a:endParaRPr lang="en-US"/>
          </a:p>
        </p:txBody>
      </p:sp>
    </p:spTree>
    <p:extLst>
      <p:ext uri="{BB962C8B-B14F-4D97-AF65-F5344CB8AC3E}">
        <p14:creationId xmlns:p14="http://schemas.microsoft.com/office/powerpoint/2010/main" val="14186946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094B5D-E3D1-72D0-C9A4-E73336987D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4FC1FD-B4D1-A563-A8FD-187017EDB0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4CB7EE-1E50-165D-CED0-C1C93B1AB74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1B7202A-7B61-66FB-3FD6-B62567AA5356}"/>
              </a:ext>
            </a:extLst>
          </p:cNvPr>
          <p:cNvSpPr>
            <a:spLocks noGrp="1"/>
          </p:cNvSpPr>
          <p:nvPr>
            <p:ph type="sldNum" sz="quarter" idx="5"/>
          </p:nvPr>
        </p:nvSpPr>
        <p:spPr/>
        <p:txBody>
          <a:bodyPr/>
          <a:lstStyle/>
          <a:p>
            <a:fld id="{BB17F21D-822B-473C-95C3-70ECF142DFAB}" type="slidenum">
              <a:rPr lang="en-US" smtClean="0"/>
              <a:t>13</a:t>
            </a:fld>
            <a:endParaRPr lang="en-US"/>
          </a:p>
        </p:txBody>
      </p:sp>
    </p:spTree>
    <p:extLst>
      <p:ext uri="{BB962C8B-B14F-4D97-AF65-F5344CB8AC3E}">
        <p14:creationId xmlns:p14="http://schemas.microsoft.com/office/powerpoint/2010/main" val="9897698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DE85CA-D8B4-558D-E492-EE9AB9AC4D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07A8A9-0BE9-DF7D-7090-823AA8F33F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B56BE3-6CD2-0403-F29D-DEC2B8B4EF1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98E1ED1-B241-D35D-0870-F044A50A1B48}"/>
              </a:ext>
            </a:extLst>
          </p:cNvPr>
          <p:cNvSpPr>
            <a:spLocks noGrp="1"/>
          </p:cNvSpPr>
          <p:nvPr>
            <p:ph type="sldNum" sz="quarter" idx="5"/>
          </p:nvPr>
        </p:nvSpPr>
        <p:spPr/>
        <p:txBody>
          <a:bodyPr/>
          <a:lstStyle/>
          <a:p>
            <a:fld id="{BB17F21D-822B-473C-95C3-70ECF142DFAB}" type="slidenum">
              <a:rPr lang="en-US" smtClean="0"/>
              <a:t>14</a:t>
            </a:fld>
            <a:endParaRPr lang="en-US"/>
          </a:p>
        </p:txBody>
      </p:sp>
    </p:spTree>
    <p:extLst>
      <p:ext uri="{BB962C8B-B14F-4D97-AF65-F5344CB8AC3E}">
        <p14:creationId xmlns:p14="http://schemas.microsoft.com/office/powerpoint/2010/main" val="19211735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73295-34A5-CCE9-388F-7C1C2A33CC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6B2430-B569-5DEC-86A4-774A04F8F9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8EFC11-F542-115C-D71E-9779970D115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92396D3-2FBA-91FC-E6FB-BBE2A566A010}"/>
              </a:ext>
            </a:extLst>
          </p:cNvPr>
          <p:cNvSpPr>
            <a:spLocks noGrp="1"/>
          </p:cNvSpPr>
          <p:nvPr>
            <p:ph type="sldNum" sz="quarter" idx="5"/>
          </p:nvPr>
        </p:nvSpPr>
        <p:spPr/>
        <p:txBody>
          <a:bodyPr/>
          <a:lstStyle/>
          <a:p>
            <a:fld id="{BB17F21D-822B-473C-95C3-70ECF142DFAB}" type="slidenum">
              <a:rPr lang="en-US" smtClean="0"/>
              <a:t>15</a:t>
            </a:fld>
            <a:endParaRPr lang="en-US"/>
          </a:p>
        </p:txBody>
      </p:sp>
    </p:spTree>
    <p:extLst>
      <p:ext uri="{BB962C8B-B14F-4D97-AF65-F5344CB8AC3E}">
        <p14:creationId xmlns:p14="http://schemas.microsoft.com/office/powerpoint/2010/main" val="7933251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E5F0C2-D4C2-61AF-B76E-FD3EB488B0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9E343A-F0B7-A03F-79D6-DC3B5B915B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C9D988-59A3-71A9-5A6B-8798901B86B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9F7CF23-47A7-C619-999C-52B5B1AFDFF5}"/>
              </a:ext>
            </a:extLst>
          </p:cNvPr>
          <p:cNvSpPr>
            <a:spLocks noGrp="1"/>
          </p:cNvSpPr>
          <p:nvPr>
            <p:ph type="sldNum" sz="quarter" idx="5"/>
          </p:nvPr>
        </p:nvSpPr>
        <p:spPr/>
        <p:txBody>
          <a:bodyPr/>
          <a:lstStyle/>
          <a:p>
            <a:fld id="{BB17F21D-822B-473C-95C3-70ECF142DFAB}" type="slidenum">
              <a:rPr lang="en-US" smtClean="0"/>
              <a:t>16</a:t>
            </a:fld>
            <a:endParaRPr lang="en-US"/>
          </a:p>
        </p:txBody>
      </p:sp>
    </p:spTree>
    <p:extLst>
      <p:ext uri="{BB962C8B-B14F-4D97-AF65-F5344CB8AC3E}">
        <p14:creationId xmlns:p14="http://schemas.microsoft.com/office/powerpoint/2010/main" val="22382580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CE1ABE-4C81-E1F8-021E-9461D1EC837A}"/>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8DBD3DD7-9F56-B36A-0F7A-0FF95BB5483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D8BA7E4A-62C0-2718-7CCD-9BFA3CF015D5}"/>
              </a:ext>
            </a:extLst>
          </p:cNvPr>
          <p:cNvSpPr>
            <a:spLocks noGrp="1"/>
          </p:cNvSpPr>
          <p:nvPr>
            <p:ph type="dt" sz="half" idx="10"/>
          </p:nvPr>
        </p:nvSpPr>
        <p:spPr/>
        <p:txBody>
          <a:bodyPr/>
          <a:lstStyle/>
          <a:p>
            <a:fld id="{DE33B9B1-0BC3-924D-9995-028504B1B3A8}" type="datetimeFigureOut">
              <a:rPr lang="en-GB" smtClean="0"/>
              <a:t>05/02/2025</a:t>
            </a:fld>
            <a:endParaRPr lang="en-GB"/>
          </a:p>
        </p:txBody>
      </p:sp>
      <p:sp>
        <p:nvSpPr>
          <p:cNvPr id="5" name="Footer Placeholder 4">
            <a:extLst>
              <a:ext uri="{FF2B5EF4-FFF2-40B4-BE49-F238E27FC236}">
                <a16:creationId xmlns:a16="http://schemas.microsoft.com/office/drawing/2014/main" id="{9343FB33-4C62-B52B-06EC-808C31AC3C4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AC859D3-4867-0798-38A5-636500A3D6B9}"/>
              </a:ext>
            </a:extLst>
          </p:cNvPr>
          <p:cNvSpPr>
            <a:spLocks noGrp="1"/>
          </p:cNvSpPr>
          <p:nvPr>
            <p:ph type="sldNum" sz="quarter" idx="12"/>
          </p:nvPr>
        </p:nvSpPr>
        <p:spPr/>
        <p:txBody>
          <a:bodyPr/>
          <a:lstStyle/>
          <a:p>
            <a:fld id="{E085BF7F-DB39-7044-9563-92F9C7439079}" type="slidenum">
              <a:rPr lang="en-GB" smtClean="0"/>
              <a:t>‹#›</a:t>
            </a:fld>
            <a:endParaRPr lang="en-GB"/>
          </a:p>
        </p:txBody>
      </p:sp>
    </p:spTree>
    <p:extLst>
      <p:ext uri="{BB962C8B-B14F-4D97-AF65-F5344CB8AC3E}">
        <p14:creationId xmlns:p14="http://schemas.microsoft.com/office/powerpoint/2010/main" val="36195748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AFE84B-D3EE-828E-A4A9-7B2FA1DB20A5}"/>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C32530EF-55C2-6713-F895-F1C0820544ED}"/>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6CBEDBA2-74FC-67F8-F29C-1C9B34E56559}"/>
              </a:ext>
            </a:extLst>
          </p:cNvPr>
          <p:cNvSpPr>
            <a:spLocks noGrp="1"/>
          </p:cNvSpPr>
          <p:nvPr>
            <p:ph type="dt" sz="half" idx="10"/>
          </p:nvPr>
        </p:nvSpPr>
        <p:spPr/>
        <p:txBody>
          <a:bodyPr/>
          <a:lstStyle/>
          <a:p>
            <a:fld id="{DE33B9B1-0BC3-924D-9995-028504B1B3A8}" type="datetimeFigureOut">
              <a:rPr lang="en-GB" smtClean="0"/>
              <a:t>05/02/2025</a:t>
            </a:fld>
            <a:endParaRPr lang="en-GB"/>
          </a:p>
        </p:txBody>
      </p:sp>
      <p:sp>
        <p:nvSpPr>
          <p:cNvPr id="5" name="Footer Placeholder 4">
            <a:extLst>
              <a:ext uri="{FF2B5EF4-FFF2-40B4-BE49-F238E27FC236}">
                <a16:creationId xmlns:a16="http://schemas.microsoft.com/office/drawing/2014/main" id="{A75A41AC-574F-0DCC-C097-D2D29568475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C30ECA2-7EF9-E440-3DFB-8D4C566E27D6}"/>
              </a:ext>
            </a:extLst>
          </p:cNvPr>
          <p:cNvSpPr>
            <a:spLocks noGrp="1"/>
          </p:cNvSpPr>
          <p:nvPr>
            <p:ph type="sldNum" sz="quarter" idx="12"/>
          </p:nvPr>
        </p:nvSpPr>
        <p:spPr/>
        <p:txBody>
          <a:bodyPr/>
          <a:lstStyle/>
          <a:p>
            <a:fld id="{E085BF7F-DB39-7044-9563-92F9C7439079}" type="slidenum">
              <a:rPr lang="en-GB" smtClean="0"/>
              <a:t>‹#›</a:t>
            </a:fld>
            <a:endParaRPr lang="en-GB"/>
          </a:p>
        </p:txBody>
      </p:sp>
    </p:spTree>
    <p:extLst>
      <p:ext uri="{BB962C8B-B14F-4D97-AF65-F5344CB8AC3E}">
        <p14:creationId xmlns:p14="http://schemas.microsoft.com/office/powerpoint/2010/main" val="35593185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E9FBAA-333C-ECAA-2040-C542727685FB}"/>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a:extLst>
              <a:ext uri="{FF2B5EF4-FFF2-40B4-BE49-F238E27FC236}">
                <a16:creationId xmlns:a16="http://schemas.microsoft.com/office/drawing/2014/main" id="{05A94134-38F8-B08A-5E65-7F6EEE07DE6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48D8A811-3B2D-CB46-8DAF-56C429E3CD70}"/>
              </a:ext>
            </a:extLst>
          </p:cNvPr>
          <p:cNvSpPr>
            <a:spLocks noGrp="1"/>
          </p:cNvSpPr>
          <p:nvPr>
            <p:ph type="dt" sz="half" idx="10"/>
          </p:nvPr>
        </p:nvSpPr>
        <p:spPr/>
        <p:txBody>
          <a:bodyPr/>
          <a:lstStyle/>
          <a:p>
            <a:fld id="{DE33B9B1-0BC3-924D-9995-028504B1B3A8}" type="datetimeFigureOut">
              <a:rPr lang="en-GB" smtClean="0"/>
              <a:t>05/02/2025</a:t>
            </a:fld>
            <a:endParaRPr lang="en-GB"/>
          </a:p>
        </p:txBody>
      </p:sp>
      <p:sp>
        <p:nvSpPr>
          <p:cNvPr id="5" name="Footer Placeholder 4">
            <a:extLst>
              <a:ext uri="{FF2B5EF4-FFF2-40B4-BE49-F238E27FC236}">
                <a16:creationId xmlns:a16="http://schemas.microsoft.com/office/drawing/2014/main" id="{14664ABD-7BBA-20A4-8948-ACC457A6B60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7FE5A25-608A-29F8-D1DB-A910E47DE863}"/>
              </a:ext>
            </a:extLst>
          </p:cNvPr>
          <p:cNvSpPr>
            <a:spLocks noGrp="1"/>
          </p:cNvSpPr>
          <p:nvPr>
            <p:ph type="sldNum" sz="quarter" idx="12"/>
          </p:nvPr>
        </p:nvSpPr>
        <p:spPr/>
        <p:txBody>
          <a:bodyPr/>
          <a:lstStyle/>
          <a:p>
            <a:fld id="{E085BF7F-DB39-7044-9563-92F9C7439079}" type="slidenum">
              <a:rPr lang="en-GB" smtClean="0"/>
              <a:t>‹#›</a:t>
            </a:fld>
            <a:endParaRPr lang="en-GB"/>
          </a:p>
        </p:txBody>
      </p:sp>
    </p:spTree>
    <p:extLst>
      <p:ext uri="{BB962C8B-B14F-4D97-AF65-F5344CB8AC3E}">
        <p14:creationId xmlns:p14="http://schemas.microsoft.com/office/powerpoint/2010/main" val="29364998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351AE9-91B4-9847-5110-B771A96A29A1}"/>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3F518697-96A0-9EFC-7066-F35408C20403}"/>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06B148DE-F7C3-B2A0-5A0E-6D6744B4F07B}"/>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74D8C1B9-C444-31B9-D8A1-F96BB6F26C82}"/>
              </a:ext>
            </a:extLst>
          </p:cNvPr>
          <p:cNvSpPr>
            <a:spLocks noGrp="1"/>
          </p:cNvSpPr>
          <p:nvPr>
            <p:ph type="dt" sz="half" idx="10"/>
          </p:nvPr>
        </p:nvSpPr>
        <p:spPr/>
        <p:txBody>
          <a:bodyPr/>
          <a:lstStyle/>
          <a:p>
            <a:fld id="{DE33B9B1-0BC3-924D-9995-028504B1B3A8}" type="datetimeFigureOut">
              <a:rPr lang="en-GB" smtClean="0"/>
              <a:t>05/02/2025</a:t>
            </a:fld>
            <a:endParaRPr lang="en-GB"/>
          </a:p>
        </p:txBody>
      </p:sp>
      <p:sp>
        <p:nvSpPr>
          <p:cNvPr id="6" name="Footer Placeholder 5">
            <a:extLst>
              <a:ext uri="{FF2B5EF4-FFF2-40B4-BE49-F238E27FC236}">
                <a16:creationId xmlns:a16="http://schemas.microsoft.com/office/drawing/2014/main" id="{B733FA73-43C0-16A6-6A9C-95C805AAB264}"/>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A26EB21B-9D85-2665-A04A-5F4B2C936CC6}"/>
              </a:ext>
            </a:extLst>
          </p:cNvPr>
          <p:cNvSpPr>
            <a:spLocks noGrp="1"/>
          </p:cNvSpPr>
          <p:nvPr>
            <p:ph type="sldNum" sz="quarter" idx="12"/>
          </p:nvPr>
        </p:nvSpPr>
        <p:spPr/>
        <p:txBody>
          <a:bodyPr/>
          <a:lstStyle/>
          <a:p>
            <a:fld id="{E085BF7F-DB39-7044-9563-92F9C7439079}" type="slidenum">
              <a:rPr lang="en-GB" smtClean="0"/>
              <a:t>‹#›</a:t>
            </a:fld>
            <a:endParaRPr lang="en-GB"/>
          </a:p>
        </p:txBody>
      </p:sp>
    </p:spTree>
    <p:extLst>
      <p:ext uri="{BB962C8B-B14F-4D97-AF65-F5344CB8AC3E}">
        <p14:creationId xmlns:p14="http://schemas.microsoft.com/office/powerpoint/2010/main" val="28647505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CAC098-6F91-309C-3AB7-0C5801018354}"/>
              </a:ext>
            </a:extLst>
          </p:cNvPr>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a:extLst>
              <a:ext uri="{FF2B5EF4-FFF2-40B4-BE49-F238E27FC236}">
                <a16:creationId xmlns:a16="http://schemas.microsoft.com/office/drawing/2014/main" id="{D3C4DC01-18D7-B689-0187-5B2E432FA61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A8EC0C92-ABFF-64FA-6BDB-892CEF2147B4}"/>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D5819A46-830C-F8E8-2CD9-832C23A1856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221AD444-C4D0-84F1-B09E-4D2437208567}"/>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E5723F1E-FEDD-84D4-3F23-CC6FF382C4F6}"/>
              </a:ext>
            </a:extLst>
          </p:cNvPr>
          <p:cNvSpPr>
            <a:spLocks noGrp="1"/>
          </p:cNvSpPr>
          <p:nvPr>
            <p:ph type="dt" sz="half" idx="10"/>
          </p:nvPr>
        </p:nvSpPr>
        <p:spPr/>
        <p:txBody>
          <a:bodyPr/>
          <a:lstStyle/>
          <a:p>
            <a:fld id="{DE33B9B1-0BC3-924D-9995-028504B1B3A8}" type="datetimeFigureOut">
              <a:rPr lang="en-GB" smtClean="0"/>
              <a:t>05/02/2025</a:t>
            </a:fld>
            <a:endParaRPr lang="en-GB"/>
          </a:p>
        </p:txBody>
      </p:sp>
      <p:sp>
        <p:nvSpPr>
          <p:cNvPr id="8" name="Footer Placeholder 7">
            <a:extLst>
              <a:ext uri="{FF2B5EF4-FFF2-40B4-BE49-F238E27FC236}">
                <a16:creationId xmlns:a16="http://schemas.microsoft.com/office/drawing/2014/main" id="{337FB651-9D71-1EE9-8C1F-3E1FD0614470}"/>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7222E04F-8D44-E7B8-059B-197C0D8F448F}"/>
              </a:ext>
            </a:extLst>
          </p:cNvPr>
          <p:cNvSpPr>
            <a:spLocks noGrp="1"/>
          </p:cNvSpPr>
          <p:nvPr>
            <p:ph type="sldNum" sz="quarter" idx="12"/>
          </p:nvPr>
        </p:nvSpPr>
        <p:spPr/>
        <p:txBody>
          <a:bodyPr/>
          <a:lstStyle/>
          <a:p>
            <a:fld id="{E085BF7F-DB39-7044-9563-92F9C7439079}" type="slidenum">
              <a:rPr lang="en-GB" smtClean="0"/>
              <a:t>‹#›</a:t>
            </a:fld>
            <a:endParaRPr lang="en-GB"/>
          </a:p>
        </p:txBody>
      </p:sp>
    </p:spTree>
    <p:extLst>
      <p:ext uri="{BB962C8B-B14F-4D97-AF65-F5344CB8AC3E}">
        <p14:creationId xmlns:p14="http://schemas.microsoft.com/office/powerpoint/2010/main" val="31679539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6C8B65-6756-EA56-7611-FE1A3BE13373}"/>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FD657332-C575-9A9E-9C65-47C98267F5A9}"/>
              </a:ext>
            </a:extLst>
          </p:cNvPr>
          <p:cNvSpPr>
            <a:spLocks noGrp="1"/>
          </p:cNvSpPr>
          <p:nvPr>
            <p:ph type="dt" sz="half" idx="10"/>
          </p:nvPr>
        </p:nvSpPr>
        <p:spPr/>
        <p:txBody>
          <a:bodyPr/>
          <a:lstStyle/>
          <a:p>
            <a:fld id="{DE33B9B1-0BC3-924D-9995-028504B1B3A8}" type="datetimeFigureOut">
              <a:rPr lang="en-GB" smtClean="0"/>
              <a:t>05/02/2025</a:t>
            </a:fld>
            <a:endParaRPr lang="en-GB"/>
          </a:p>
        </p:txBody>
      </p:sp>
      <p:sp>
        <p:nvSpPr>
          <p:cNvPr id="4" name="Footer Placeholder 3">
            <a:extLst>
              <a:ext uri="{FF2B5EF4-FFF2-40B4-BE49-F238E27FC236}">
                <a16:creationId xmlns:a16="http://schemas.microsoft.com/office/drawing/2014/main" id="{36390101-B8BA-9583-2707-97B7DE2178B9}"/>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2F1677C9-F345-3A39-23EA-A852E70A3344}"/>
              </a:ext>
            </a:extLst>
          </p:cNvPr>
          <p:cNvSpPr>
            <a:spLocks noGrp="1"/>
          </p:cNvSpPr>
          <p:nvPr>
            <p:ph type="sldNum" sz="quarter" idx="12"/>
          </p:nvPr>
        </p:nvSpPr>
        <p:spPr/>
        <p:txBody>
          <a:bodyPr/>
          <a:lstStyle/>
          <a:p>
            <a:fld id="{E085BF7F-DB39-7044-9563-92F9C7439079}" type="slidenum">
              <a:rPr lang="en-GB" smtClean="0"/>
              <a:t>‹#›</a:t>
            </a:fld>
            <a:endParaRPr lang="en-GB"/>
          </a:p>
        </p:txBody>
      </p:sp>
    </p:spTree>
    <p:extLst>
      <p:ext uri="{BB962C8B-B14F-4D97-AF65-F5344CB8AC3E}">
        <p14:creationId xmlns:p14="http://schemas.microsoft.com/office/powerpoint/2010/main" val="32920657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664C2E3-A64A-9E7A-10A9-78844271A7CC}"/>
              </a:ext>
            </a:extLst>
          </p:cNvPr>
          <p:cNvSpPr>
            <a:spLocks noGrp="1"/>
          </p:cNvSpPr>
          <p:nvPr>
            <p:ph type="dt" sz="half" idx="10"/>
          </p:nvPr>
        </p:nvSpPr>
        <p:spPr/>
        <p:txBody>
          <a:bodyPr/>
          <a:lstStyle/>
          <a:p>
            <a:fld id="{DE33B9B1-0BC3-924D-9995-028504B1B3A8}" type="datetimeFigureOut">
              <a:rPr lang="en-GB" smtClean="0"/>
              <a:t>05/02/2025</a:t>
            </a:fld>
            <a:endParaRPr lang="en-GB"/>
          </a:p>
        </p:txBody>
      </p:sp>
      <p:sp>
        <p:nvSpPr>
          <p:cNvPr id="3" name="Footer Placeholder 2">
            <a:extLst>
              <a:ext uri="{FF2B5EF4-FFF2-40B4-BE49-F238E27FC236}">
                <a16:creationId xmlns:a16="http://schemas.microsoft.com/office/drawing/2014/main" id="{15ACAC6A-BE07-F45D-F7B7-D04318EDE2B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647C4E15-DAD6-5E1D-A066-91177A28DF72}"/>
              </a:ext>
            </a:extLst>
          </p:cNvPr>
          <p:cNvSpPr>
            <a:spLocks noGrp="1"/>
          </p:cNvSpPr>
          <p:nvPr>
            <p:ph type="sldNum" sz="quarter" idx="12"/>
          </p:nvPr>
        </p:nvSpPr>
        <p:spPr/>
        <p:txBody>
          <a:bodyPr/>
          <a:lstStyle/>
          <a:p>
            <a:fld id="{E085BF7F-DB39-7044-9563-92F9C7439079}" type="slidenum">
              <a:rPr lang="en-GB" smtClean="0"/>
              <a:t>‹#›</a:t>
            </a:fld>
            <a:endParaRPr lang="en-GB"/>
          </a:p>
        </p:txBody>
      </p:sp>
    </p:spTree>
    <p:extLst>
      <p:ext uri="{BB962C8B-B14F-4D97-AF65-F5344CB8AC3E}">
        <p14:creationId xmlns:p14="http://schemas.microsoft.com/office/powerpoint/2010/main" val="38459597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BE2E3-1087-7BAC-3CCF-E05E3DA14ED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a:extLst>
              <a:ext uri="{FF2B5EF4-FFF2-40B4-BE49-F238E27FC236}">
                <a16:creationId xmlns:a16="http://schemas.microsoft.com/office/drawing/2014/main" id="{25BEA562-F85A-721C-B2CC-352549656B8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3848D8EE-69F2-E042-8D1F-572B646DD8C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03EB0B7F-F701-3988-A013-83C5165D967D}"/>
              </a:ext>
            </a:extLst>
          </p:cNvPr>
          <p:cNvSpPr>
            <a:spLocks noGrp="1"/>
          </p:cNvSpPr>
          <p:nvPr>
            <p:ph type="dt" sz="half" idx="10"/>
          </p:nvPr>
        </p:nvSpPr>
        <p:spPr/>
        <p:txBody>
          <a:bodyPr/>
          <a:lstStyle/>
          <a:p>
            <a:fld id="{DE33B9B1-0BC3-924D-9995-028504B1B3A8}" type="datetimeFigureOut">
              <a:rPr lang="en-GB" smtClean="0"/>
              <a:t>05/02/2025</a:t>
            </a:fld>
            <a:endParaRPr lang="en-GB"/>
          </a:p>
        </p:txBody>
      </p:sp>
      <p:sp>
        <p:nvSpPr>
          <p:cNvPr id="6" name="Footer Placeholder 5">
            <a:extLst>
              <a:ext uri="{FF2B5EF4-FFF2-40B4-BE49-F238E27FC236}">
                <a16:creationId xmlns:a16="http://schemas.microsoft.com/office/drawing/2014/main" id="{3D732562-75CB-D09F-EF20-EB8620CD7BEF}"/>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05730B6A-D789-79DA-2C35-66C106BBEB47}"/>
              </a:ext>
            </a:extLst>
          </p:cNvPr>
          <p:cNvSpPr>
            <a:spLocks noGrp="1"/>
          </p:cNvSpPr>
          <p:nvPr>
            <p:ph type="sldNum" sz="quarter" idx="12"/>
          </p:nvPr>
        </p:nvSpPr>
        <p:spPr/>
        <p:txBody>
          <a:bodyPr/>
          <a:lstStyle/>
          <a:p>
            <a:fld id="{E085BF7F-DB39-7044-9563-92F9C7439079}" type="slidenum">
              <a:rPr lang="en-GB" smtClean="0"/>
              <a:t>‹#›</a:t>
            </a:fld>
            <a:endParaRPr lang="en-GB"/>
          </a:p>
        </p:txBody>
      </p:sp>
    </p:spTree>
    <p:extLst>
      <p:ext uri="{BB962C8B-B14F-4D97-AF65-F5344CB8AC3E}">
        <p14:creationId xmlns:p14="http://schemas.microsoft.com/office/powerpoint/2010/main" val="16014811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42080-D4D4-6C57-29E6-324B3CA048CF}"/>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a:extLst>
              <a:ext uri="{FF2B5EF4-FFF2-40B4-BE49-F238E27FC236}">
                <a16:creationId xmlns:a16="http://schemas.microsoft.com/office/drawing/2014/main" id="{ACCC996F-548C-47B1-6900-CB7B46DE944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A0DFE7B9-FEFC-5094-FCFA-0E3548166C6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A22FC9FB-376E-5828-7918-7508191492F6}"/>
              </a:ext>
            </a:extLst>
          </p:cNvPr>
          <p:cNvSpPr>
            <a:spLocks noGrp="1"/>
          </p:cNvSpPr>
          <p:nvPr>
            <p:ph type="dt" sz="half" idx="10"/>
          </p:nvPr>
        </p:nvSpPr>
        <p:spPr/>
        <p:txBody>
          <a:bodyPr/>
          <a:lstStyle/>
          <a:p>
            <a:fld id="{DE33B9B1-0BC3-924D-9995-028504B1B3A8}" type="datetimeFigureOut">
              <a:rPr lang="en-GB" smtClean="0"/>
              <a:t>05/02/2025</a:t>
            </a:fld>
            <a:endParaRPr lang="en-GB"/>
          </a:p>
        </p:txBody>
      </p:sp>
      <p:sp>
        <p:nvSpPr>
          <p:cNvPr id="6" name="Footer Placeholder 5">
            <a:extLst>
              <a:ext uri="{FF2B5EF4-FFF2-40B4-BE49-F238E27FC236}">
                <a16:creationId xmlns:a16="http://schemas.microsoft.com/office/drawing/2014/main" id="{93B4103C-DDF1-8B08-E565-A6507BED7B3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EB71D9F-2755-CF16-D450-647A4E44D55F}"/>
              </a:ext>
            </a:extLst>
          </p:cNvPr>
          <p:cNvSpPr>
            <a:spLocks noGrp="1"/>
          </p:cNvSpPr>
          <p:nvPr>
            <p:ph type="sldNum" sz="quarter" idx="12"/>
          </p:nvPr>
        </p:nvSpPr>
        <p:spPr/>
        <p:txBody>
          <a:bodyPr/>
          <a:lstStyle/>
          <a:p>
            <a:fld id="{E085BF7F-DB39-7044-9563-92F9C7439079}" type="slidenum">
              <a:rPr lang="en-GB" smtClean="0"/>
              <a:t>‹#›</a:t>
            </a:fld>
            <a:endParaRPr lang="en-GB"/>
          </a:p>
        </p:txBody>
      </p:sp>
    </p:spTree>
    <p:extLst>
      <p:ext uri="{BB962C8B-B14F-4D97-AF65-F5344CB8AC3E}">
        <p14:creationId xmlns:p14="http://schemas.microsoft.com/office/powerpoint/2010/main" val="29000657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2236E-9021-784A-386E-9552A0AB53A3}"/>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29A53DBF-2A7A-DCC0-45BB-F22884372C4B}"/>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0A0D11E1-BBEA-F44D-1B90-3FBAD7081A3E}"/>
              </a:ext>
            </a:extLst>
          </p:cNvPr>
          <p:cNvSpPr>
            <a:spLocks noGrp="1"/>
          </p:cNvSpPr>
          <p:nvPr>
            <p:ph type="dt" sz="half" idx="10"/>
          </p:nvPr>
        </p:nvSpPr>
        <p:spPr/>
        <p:txBody>
          <a:bodyPr/>
          <a:lstStyle/>
          <a:p>
            <a:fld id="{DE33B9B1-0BC3-924D-9995-028504B1B3A8}" type="datetimeFigureOut">
              <a:rPr lang="en-GB" smtClean="0"/>
              <a:t>05/02/2025</a:t>
            </a:fld>
            <a:endParaRPr lang="en-GB"/>
          </a:p>
        </p:txBody>
      </p:sp>
      <p:sp>
        <p:nvSpPr>
          <p:cNvPr id="5" name="Footer Placeholder 4">
            <a:extLst>
              <a:ext uri="{FF2B5EF4-FFF2-40B4-BE49-F238E27FC236}">
                <a16:creationId xmlns:a16="http://schemas.microsoft.com/office/drawing/2014/main" id="{47B5DEC9-078B-E9E1-6CB2-B8F6E1BC959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75B6FB8-EE0D-2C97-8076-FBF7FAF0155B}"/>
              </a:ext>
            </a:extLst>
          </p:cNvPr>
          <p:cNvSpPr>
            <a:spLocks noGrp="1"/>
          </p:cNvSpPr>
          <p:nvPr>
            <p:ph type="sldNum" sz="quarter" idx="12"/>
          </p:nvPr>
        </p:nvSpPr>
        <p:spPr/>
        <p:txBody>
          <a:bodyPr/>
          <a:lstStyle/>
          <a:p>
            <a:fld id="{E085BF7F-DB39-7044-9563-92F9C7439079}" type="slidenum">
              <a:rPr lang="en-GB" smtClean="0"/>
              <a:t>‹#›</a:t>
            </a:fld>
            <a:endParaRPr lang="en-GB"/>
          </a:p>
        </p:txBody>
      </p:sp>
    </p:spTree>
    <p:extLst>
      <p:ext uri="{BB962C8B-B14F-4D97-AF65-F5344CB8AC3E}">
        <p14:creationId xmlns:p14="http://schemas.microsoft.com/office/powerpoint/2010/main" val="3564011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24EA974-8FC6-E983-370D-BB8D390C914B}"/>
              </a:ext>
            </a:extLst>
          </p:cNvPr>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6E439696-E6BA-CB19-47B3-E64118BAF449}"/>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CA08CDCD-C0C6-C056-BA17-E51B17DE3462}"/>
              </a:ext>
            </a:extLst>
          </p:cNvPr>
          <p:cNvSpPr>
            <a:spLocks noGrp="1"/>
          </p:cNvSpPr>
          <p:nvPr>
            <p:ph type="dt" sz="half" idx="10"/>
          </p:nvPr>
        </p:nvSpPr>
        <p:spPr/>
        <p:txBody>
          <a:bodyPr/>
          <a:lstStyle/>
          <a:p>
            <a:fld id="{DE33B9B1-0BC3-924D-9995-028504B1B3A8}" type="datetimeFigureOut">
              <a:rPr lang="en-GB" smtClean="0"/>
              <a:t>05/02/2025</a:t>
            </a:fld>
            <a:endParaRPr lang="en-GB"/>
          </a:p>
        </p:txBody>
      </p:sp>
      <p:sp>
        <p:nvSpPr>
          <p:cNvPr id="5" name="Footer Placeholder 4">
            <a:extLst>
              <a:ext uri="{FF2B5EF4-FFF2-40B4-BE49-F238E27FC236}">
                <a16:creationId xmlns:a16="http://schemas.microsoft.com/office/drawing/2014/main" id="{9D92EDCB-DCC3-F187-F2DD-C9B7FAF93A6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43E3100-6A23-9D7E-FDF2-276CE9FB9E01}"/>
              </a:ext>
            </a:extLst>
          </p:cNvPr>
          <p:cNvSpPr>
            <a:spLocks noGrp="1"/>
          </p:cNvSpPr>
          <p:nvPr>
            <p:ph type="sldNum" sz="quarter" idx="12"/>
          </p:nvPr>
        </p:nvSpPr>
        <p:spPr/>
        <p:txBody>
          <a:bodyPr/>
          <a:lstStyle/>
          <a:p>
            <a:fld id="{E085BF7F-DB39-7044-9563-92F9C7439079}" type="slidenum">
              <a:rPr lang="en-GB" smtClean="0"/>
              <a:t>‹#›</a:t>
            </a:fld>
            <a:endParaRPr lang="en-GB"/>
          </a:p>
        </p:txBody>
      </p:sp>
    </p:spTree>
    <p:extLst>
      <p:ext uri="{BB962C8B-B14F-4D97-AF65-F5344CB8AC3E}">
        <p14:creationId xmlns:p14="http://schemas.microsoft.com/office/powerpoint/2010/main" val="3566400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F2CE7E8-6652-9118-EAD7-142D42DDFF1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D75CC584-1377-F35B-907D-3D9F2CE1226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3BC8F766-925F-723A-C1A5-C8DDC322458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33B9B1-0BC3-924D-9995-028504B1B3A8}" type="datetimeFigureOut">
              <a:rPr lang="en-GB" smtClean="0"/>
              <a:t>05/02/2025</a:t>
            </a:fld>
            <a:endParaRPr lang="en-GB"/>
          </a:p>
        </p:txBody>
      </p:sp>
      <p:sp>
        <p:nvSpPr>
          <p:cNvPr id="5" name="Footer Placeholder 4">
            <a:extLst>
              <a:ext uri="{FF2B5EF4-FFF2-40B4-BE49-F238E27FC236}">
                <a16:creationId xmlns:a16="http://schemas.microsoft.com/office/drawing/2014/main" id="{C4FDE9C6-F9F6-B0DD-9987-1E704AA0E59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852D876D-9222-356E-B820-55818853734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085BF7F-DB39-7044-9563-92F9C7439079}" type="slidenum">
              <a:rPr lang="en-GB" smtClean="0"/>
              <a:t>‹#›</a:t>
            </a:fld>
            <a:endParaRPr lang="en-GB"/>
          </a:p>
        </p:txBody>
      </p:sp>
    </p:spTree>
    <p:extLst>
      <p:ext uri="{BB962C8B-B14F-4D97-AF65-F5344CB8AC3E}">
        <p14:creationId xmlns:p14="http://schemas.microsoft.com/office/powerpoint/2010/main" val="9339371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jp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6.jpg"/><Relationship Id="rId5" Type="http://schemas.openxmlformats.org/officeDocument/2006/relationships/image" Target="../media/image5.jpg"/><Relationship Id="rId4" Type="http://schemas.openxmlformats.org/officeDocument/2006/relationships/image" Target="../media/image4.emf"/></Relationships>
</file>

<file path=ppt/slides/_rels/slide4.xml.rels><?xml version="1.0" encoding="UTF-8" standalone="yes"?>
<Relationships xmlns="http://schemas.openxmlformats.org/package/2006/relationships"><Relationship Id="rId8" Type="http://schemas.openxmlformats.org/officeDocument/2006/relationships/image" Target="../media/image11.jpg"/><Relationship Id="rId3" Type="http://schemas.openxmlformats.org/officeDocument/2006/relationships/image" Target="../media/image3.png"/><Relationship Id="rId7" Type="http://schemas.openxmlformats.org/officeDocument/2006/relationships/image" Target="../media/image10.jp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4.emf"/></Relationships>
</file>

<file path=ppt/slides/_rels/slide5.xml.rels><?xml version="1.0" encoding="UTF-8" standalone="yes"?>
<Relationships xmlns="http://schemas.openxmlformats.org/package/2006/relationships"><Relationship Id="rId8" Type="http://schemas.openxmlformats.org/officeDocument/2006/relationships/image" Target="../media/image15.jpg"/><Relationship Id="rId3" Type="http://schemas.openxmlformats.org/officeDocument/2006/relationships/image" Target="../media/image3.png"/><Relationship Id="rId7" Type="http://schemas.openxmlformats.org/officeDocument/2006/relationships/image" Target="../media/image14.jp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4.emf"/></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8.jp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7.jpg"/><Relationship Id="rId5" Type="http://schemas.openxmlformats.org/officeDocument/2006/relationships/image" Target="../media/image16.png"/><Relationship Id="rId4" Type="http://schemas.openxmlformats.org/officeDocument/2006/relationships/image" Target="../media/image4.emf"/></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4.emf"/><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1.jpg"/><Relationship Id="rId5" Type="http://schemas.openxmlformats.org/officeDocument/2006/relationships/image" Target="../media/image20.jpg"/><Relationship Id="rId4" Type="http://schemas.openxmlformats.org/officeDocument/2006/relationships/image" Target="../media/image4.emf"/></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1.jpg"/><Relationship Id="rId5" Type="http://schemas.openxmlformats.org/officeDocument/2006/relationships/image" Target="../media/image20.jpg"/><Relationship Id="rId4" Type="http://schemas.openxmlformats.org/officeDocument/2006/relationships/image" Target="../media/image4.emf"/></Relationships>
</file>

<file path=ppt/slides/_rels/slide10.xml.rels><?xml version="1.0" encoding="UTF-8" standalone="yes"?>
<Relationships xmlns="http://schemas.openxmlformats.org/package/2006/relationships"><Relationship Id="rId8" Type="http://schemas.openxmlformats.org/officeDocument/2006/relationships/image" Target="../media/image25.jpg"/><Relationship Id="rId3" Type="http://schemas.openxmlformats.org/officeDocument/2006/relationships/image" Target="../media/image3.png"/><Relationship Id="rId7" Type="http://schemas.openxmlformats.org/officeDocument/2006/relationships/image" Target="../media/image24.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4.emf"/><Relationship Id="rId9" Type="http://schemas.openxmlformats.org/officeDocument/2006/relationships/image" Target="../media/image26.jp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29.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4.emf"/></Relationships>
</file>

<file path=ppt/slides/_rels/slide12.xml.rels><?xml version="1.0" encoding="UTF-8" standalone="yes"?>
<Relationships xmlns="http://schemas.openxmlformats.org/package/2006/relationships"><Relationship Id="rId8" Type="http://schemas.openxmlformats.org/officeDocument/2006/relationships/image" Target="../media/image33.jpg"/><Relationship Id="rId3" Type="http://schemas.openxmlformats.org/officeDocument/2006/relationships/image" Target="../media/image3.png"/><Relationship Id="rId7" Type="http://schemas.openxmlformats.org/officeDocument/2006/relationships/image" Target="../media/image32.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4.emf"/><Relationship Id="rId9" Type="http://schemas.openxmlformats.org/officeDocument/2006/relationships/image" Target="../media/image34.jp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4.emf"/><Relationship Id="rId4" Type="http://schemas.openxmlformats.org/officeDocument/2006/relationships/image" Target="../media/image35.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38.jp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37.jpg"/><Relationship Id="rId5" Type="http://schemas.openxmlformats.org/officeDocument/2006/relationships/image" Target="../media/image36.png"/><Relationship Id="rId4" Type="http://schemas.openxmlformats.org/officeDocument/2006/relationships/image" Target="../media/image4.emf"/></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39.jpg"/><Relationship Id="rId4" Type="http://schemas.openxmlformats.org/officeDocument/2006/relationships/image" Target="../media/image4.emf"/></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40.jpg"/><Relationship Id="rId5" Type="http://schemas.openxmlformats.org/officeDocument/2006/relationships/image" Target="../media/image7.jpg"/><Relationship Id="rId4" Type="http://schemas.openxmlformats.org/officeDocument/2006/relationships/image" Target="../media/image4.emf"/></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9BB4969-B18E-0D3F-6B75-9C83EFEAA59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6" name="TextBox 5">
            <a:extLst>
              <a:ext uri="{FF2B5EF4-FFF2-40B4-BE49-F238E27FC236}">
                <a16:creationId xmlns:a16="http://schemas.microsoft.com/office/drawing/2014/main" id="{3645F279-F6CA-EF0A-7FD1-868F26CB0883}"/>
              </a:ext>
            </a:extLst>
          </p:cNvPr>
          <p:cNvSpPr txBox="1"/>
          <p:nvPr/>
        </p:nvSpPr>
        <p:spPr>
          <a:xfrm>
            <a:off x="2110013" y="2834072"/>
            <a:ext cx="7972054" cy="800219"/>
          </a:xfrm>
          <a:prstGeom prst="rect">
            <a:avLst/>
          </a:prstGeom>
          <a:noFill/>
        </p:spPr>
        <p:txBody>
          <a:bodyPr wrap="none" rtlCol="0">
            <a:spAutoFit/>
          </a:bodyPr>
          <a:lstStyle/>
          <a:p>
            <a:pPr algn="ctr"/>
            <a:r>
              <a:rPr lang="en-GB" sz="4600" b="1" spc="300" dirty="0">
                <a:solidFill>
                  <a:schemeClr val="bg1"/>
                </a:solidFill>
                <a:latin typeface="Montserrat" pitchFamily="2" charset="77"/>
                <a:ea typeface="Microsoft YaHei" panose="020B0503020204020204" pitchFamily="34" charset="-122"/>
              </a:rPr>
              <a:t>Gembar + Gembox </a:t>
            </a:r>
            <a:r>
              <a:rPr lang="zh-CN" altLang="en-US" sz="4600" b="1" spc="300" dirty="0">
                <a:solidFill>
                  <a:schemeClr val="bg1"/>
                </a:solidFill>
                <a:latin typeface="Montserrat" pitchFamily="2" charset="77"/>
                <a:ea typeface="Microsoft YaHei" panose="020B0503020204020204" pitchFamily="34" charset="-122"/>
              </a:rPr>
              <a:t>更新</a:t>
            </a:r>
            <a:endParaRPr lang="en-GB" sz="4400" b="1" spc="300" dirty="0">
              <a:solidFill>
                <a:schemeClr val="bg1"/>
              </a:solidFill>
              <a:latin typeface="Microsoft YaHei" panose="020B0503020204020204" pitchFamily="34" charset="-122"/>
              <a:ea typeface="Microsoft YaHei" panose="020B0503020204020204" pitchFamily="34" charset="-122"/>
            </a:endParaRPr>
          </a:p>
        </p:txBody>
      </p:sp>
      <p:pic>
        <p:nvPicPr>
          <p:cNvPr id="9" name="Picture 8">
            <a:extLst>
              <a:ext uri="{FF2B5EF4-FFF2-40B4-BE49-F238E27FC236}">
                <a16:creationId xmlns:a16="http://schemas.microsoft.com/office/drawing/2014/main" id="{08F3B2CC-BCA8-66D3-9539-3530EF5F6E0A}"/>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213903" y="5599760"/>
            <a:ext cx="1764192" cy="601279"/>
          </a:xfrm>
          <a:prstGeom prst="rect">
            <a:avLst/>
          </a:prstGeom>
        </p:spPr>
      </p:pic>
      <p:sp>
        <p:nvSpPr>
          <p:cNvPr id="10" name="TextBox 9">
            <a:extLst>
              <a:ext uri="{FF2B5EF4-FFF2-40B4-BE49-F238E27FC236}">
                <a16:creationId xmlns:a16="http://schemas.microsoft.com/office/drawing/2014/main" id="{3E9EF9FD-9AF2-46A5-963B-FE3871A33618}"/>
              </a:ext>
            </a:extLst>
          </p:cNvPr>
          <p:cNvSpPr txBox="1"/>
          <p:nvPr/>
        </p:nvSpPr>
        <p:spPr>
          <a:xfrm>
            <a:off x="5138852" y="3705316"/>
            <a:ext cx="1914306" cy="830997"/>
          </a:xfrm>
          <a:prstGeom prst="rect">
            <a:avLst/>
          </a:prstGeom>
          <a:noFill/>
        </p:spPr>
        <p:txBody>
          <a:bodyPr wrap="none" rtlCol="0">
            <a:spAutoFit/>
          </a:bodyPr>
          <a:lstStyle/>
          <a:p>
            <a:pPr algn="ctr"/>
            <a:r>
              <a:rPr lang="en-US" sz="1600" b="1" dirty="0">
                <a:solidFill>
                  <a:schemeClr val="bg1"/>
                </a:solidFill>
                <a:latin typeface="Montserrat" pitchFamily="2" charset="77"/>
                <a:ea typeface="Microsoft YaHei" panose="020B0503020204020204" pitchFamily="34" charset="-122"/>
              </a:rPr>
              <a:t>Charlie Becquet</a:t>
            </a:r>
          </a:p>
          <a:p>
            <a:pPr algn="ctr"/>
            <a:r>
              <a:rPr lang="en-US" sz="1600" b="1" dirty="0">
                <a:solidFill>
                  <a:schemeClr val="bg1"/>
                </a:solidFill>
                <a:latin typeface="Montserrat" pitchFamily="2" charset="77"/>
                <a:ea typeface="Microsoft YaHei" panose="020B0503020204020204" pitchFamily="34" charset="-122"/>
              </a:rPr>
              <a:t>Device Group</a:t>
            </a:r>
          </a:p>
          <a:p>
            <a:pPr algn="ctr"/>
            <a:r>
              <a:rPr lang="en-US" sz="1600" b="1" dirty="0">
                <a:solidFill>
                  <a:schemeClr val="bg1"/>
                </a:solidFill>
                <a:latin typeface="Montserrat" pitchFamily="2" charset="77"/>
                <a:ea typeface="Microsoft YaHei" panose="020B0503020204020204" pitchFamily="34" charset="-122"/>
              </a:rPr>
              <a:t>3 February 2025</a:t>
            </a:r>
            <a:endParaRPr lang="en-GB" sz="1600" b="1" dirty="0">
              <a:solidFill>
                <a:schemeClr val="bg1"/>
              </a:solidFill>
              <a:latin typeface="Montserrat" pitchFamily="2" charset="77"/>
              <a:ea typeface="Microsoft YaHei" panose="020B0503020204020204" pitchFamily="34" charset="-122"/>
            </a:endParaRPr>
          </a:p>
        </p:txBody>
      </p:sp>
    </p:spTree>
    <p:extLst>
      <p:ext uri="{BB962C8B-B14F-4D97-AF65-F5344CB8AC3E}">
        <p14:creationId xmlns:p14="http://schemas.microsoft.com/office/powerpoint/2010/main" val="28172407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8A7D26-4F96-6467-7AAD-8C877006725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899A5582-7E26-D484-9D6B-E15094E15E9D}"/>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9" name="Picture 8">
            <a:extLst>
              <a:ext uri="{FF2B5EF4-FFF2-40B4-BE49-F238E27FC236}">
                <a16:creationId xmlns:a16="http://schemas.microsoft.com/office/drawing/2014/main" id="{5F9316E5-06FF-91C4-126A-27D666692C4C}"/>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9749690" y="346103"/>
            <a:ext cx="1764192" cy="601279"/>
          </a:xfrm>
          <a:prstGeom prst="rect">
            <a:avLst/>
          </a:prstGeom>
        </p:spPr>
      </p:pic>
      <p:cxnSp>
        <p:nvCxnSpPr>
          <p:cNvPr id="2" name="直接连接符 15">
            <a:extLst>
              <a:ext uri="{FF2B5EF4-FFF2-40B4-BE49-F238E27FC236}">
                <a16:creationId xmlns:a16="http://schemas.microsoft.com/office/drawing/2014/main" id="{A12B1D9B-7EE7-3920-77AA-B070079F5A20}"/>
              </a:ext>
            </a:extLst>
          </p:cNvPr>
          <p:cNvCxnSpPr>
            <a:cxnSpLocks/>
          </p:cNvCxnSpPr>
          <p:nvPr/>
        </p:nvCxnSpPr>
        <p:spPr>
          <a:xfrm>
            <a:off x="1773905" y="1317496"/>
            <a:ext cx="8749806"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3" name="TextBox 19">
            <a:extLst>
              <a:ext uri="{FF2B5EF4-FFF2-40B4-BE49-F238E27FC236}">
                <a16:creationId xmlns:a16="http://schemas.microsoft.com/office/drawing/2014/main" id="{83C2049C-D4EF-E1A0-198A-2F0C711F3851}"/>
              </a:ext>
            </a:extLst>
          </p:cNvPr>
          <p:cNvSpPr txBox="1">
            <a:spLocks noChangeArrowheads="1"/>
          </p:cNvSpPr>
          <p:nvPr/>
        </p:nvSpPr>
        <p:spPr bwMode="auto">
          <a:xfrm>
            <a:off x="23642" y="577669"/>
            <a:ext cx="12147884"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1600">
                <a:solidFill>
                  <a:schemeClr val="tx1"/>
                </a:solidFill>
                <a:latin typeface="Arial" panose="020B0604020202020204" pitchFamily="34" charset="0"/>
                <a:ea typeface="黑体" panose="02010609060101010101" pitchFamily="49" charset="-122"/>
              </a:defRPr>
            </a:lvl1pPr>
            <a:lvl2pPr marL="742950" indent="-285750">
              <a:spcBef>
                <a:spcPct val="20000"/>
              </a:spcBef>
              <a:buChar char="–"/>
              <a:defRPr sz="16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1600">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16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16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黑体" panose="02010609060101010101" pitchFamily="49" charset="-122"/>
              </a:defRPr>
            </a:lvl9pPr>
          </a:lstStyle>
          <a:p>
            <a:pPr algn="ctr">
              <a:spcBef>
                <a:spcPct val="0"/>
              </a:spcBef>
              <a:buNone/>
            </a:pPr>
            <a:r>
              <a:rPr lang="zh-CN" altLang="en-US" sz="3600" b="1" dirty="0">
                <a:solidFill>
                  <a:schemeClr val="bg1"/>
                </a:solidFill>
                <a:latin typeface="微软雅黑" panose="020B0503020204020204" pitchFamily="34" charset="-122"/>
                <a:ea typeface="微软雅黑" panose="020B0503020204020204" pitchFamily="34" charset="-122"/>
                <a:cs typeface="+mn-ea"/>
                <a:sym typeface="+mn-lt"/>
              </a:rPr>
              <a:t>Test Results and Analysis</a:t>
            </a:r>
            <a:endParaRPr lang="en-US" altLang="zh-CN" sz="3600" b="1" dirty="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4" name="文本框 9">
            <a:extLst>
              <a:ext uri="{FF2B5EF4-FFF2-40B4-BE49-F238E27FC236}">
                <a16:creationId xmlns:a16="http://schemas.microsoft.com/office/drawing/2014/main" id="{5E5FE162-F8BB-0CC9-FD28-32D20D183937}"/>
              </a:ext>
            </a:extLst>
          </p:cNvPr>
          <p:cNvSpPr txBox="1"/>
          <p:nvPr/>
        </p:nvSpPr>
        <p:spPr>
          <a:xfrm>
            <a:off x="433058" y="1458614"/>
            <a:ext cx="5398882" cy="3886770"/>
          </a:xfrm>
          <a:prstGeom prst="rect">
            <a:avLst/>
          </a:prstGeom>
          <a:noFill/>
        </p:spPr>
        <p:txBody>
          <a:bodyPr wrap="square" rtlCol="0">
            <a:spAutoFit/>
          </a:bodyPr>
          <a:lstStyle/>
          <a:p>
            <a:pPr marL="457200" indent="-457200">
              <a:lnSpc>
                <a:spcPct val="200000"/>
              </a:lnSpc>
              <a:buAutoNum type="arabicPeriod"/>
            </a:pPr>
            <a:r>
              <a:rPr lang="en-US" altLang="zh-CN">
                <a:solidFill>
                  <a:schemeClr val="bg1"/>
                </a:solidFill>
                <a:latin typeface="微软雅黑" panose="020B0503020204020204" pitchFamily="34" charset="-122"/>
                <a:ea typeface="微软雅黑" panose="020B0503020204020204" pitchFamily="34" charset="-122"/>
                <a:cs typeface="+mn-ea"/>
                <a:sym typeface="+mn-lt"/>
              </a:rPr>
              <a:t>Gembar User Test Update</a:t>
            </a:r>
            <a:r>
              <a:rPr lang="zh-CN" altLang="en-US">
                <a:solidFill>
                  <a:schemeClr val="bg1"/>
                </a:solidFill>
                <a:latin typeface="微软雅黑" panose="020B0503020204020204" pitchFamily="34" charset="-122"/>
                <a:ea typeface="微软雅黑" panose="020B0503020204020204" pitchFamily="34" charset="-122"/>
                <a:cs typeface="+mn-ea"/>
                <a:sym typeface="+mn-lt"/>
              </a:rPr>
              <a:t/>
            </a:r>
            <a:r>
              <a:rPr lang="en-US" altLang="zh-CN">
                <a:solidFill>
                  <a:schemeClr val="bg1"/>
                </a:solidFill>
                <a:latin typeface="微软雅黑" panose="020B0503020204020204" pitchFamily="34" charset="-122"/>
                <a:ea typeface="微软雅黑" panose="020B0503020204020204" pitchFamily="34" charset="-122"/>
                <a:cs typeface="+mn-ea"/>
                <a:sym typeface="+mn-lt"/>
              </a:rPr>
              <a:t/>
            </a:r>
            <a:r>
              <a:rPr lang="zh-CN" altLang="en-US">
                <a:solidFill>
                  <a:schemeClr val="bg1"/>
                </a:solidFill>
                <a:latin typeface="微软雅黑" panose="020B0503020204020204" pitchFamily="34" charset="-122"/>
                <a:ea typeface="微软雅黑" panose="020B0503020204020204" pitchFamily="34" charset="-122"/>
                <a:cs typeface="+mn-ea"/>
                <a:sym typeface="+mn-lt"/>
              </a:rPr>
              <a:t/>
            </a:r>
            <a:r>
              <a:rPr lang="en-US" altLang="zh-CN">
                <a:solidFill>
                  <a:schemeClr val="bg1"/>
                </a:solidFill>
                <a:latin typeface="微软雅黑" panose="020B0503020204020204" pitchFamily="34" charset="-122"/>
                <a:ea typeface="微软雅黑" panose="020B0503020204020204" pitchFamily="34" charset="-122"/>
                <a:cs typeface="+mn-ea"/>
                <a:sym typeface="+mn-lt"/>
              </a:rPr>
              <a:t/>
            </a:r>
            <a:r>
              <a:rPr lang="zh-CN" altLang="en-US">
                <a:solidFill>
                  <a:schemeClr val="bg1"/>
                </a:solidFill>
                <a:latin typeface="微软雅黑" panose="020B0503020204020204" pitchFamily="34" charset="-122"/>
                <a:ea typeface="微软雅黑" panose="020B0503020204020204" pitchFamily="34" charset="-122"/>
                <a:cs typeface="+mn-ea"/>
                <a:sym typeface="+mn-lt"/>
              </a:rPr>
              <a:t/>
            </a:r>
            <a:r>
              <a:rPr lang="en-US" altLang="zh-CN">
                <a:solidFill>
                  <a:schemeClr val="bg1"/>
                </a:solidFill>
                <a:latin typeface="微软雅黑" panose="020B0503020204020204" pitchFamily="34" charset="-122"/>
                <a:ea typeface="微软雅黑" panose="020B0503020204020204" pitchFamily="34" charset="-122"/>
                <a:cs typeface="+mn-ea"/>
                <a:sym typeface="+mn-lt"/>
              </a:rPr>
              <a:t/>
            </a:r>
            <a:r>
              <a:rPr lang="zh-CN" altLang="en-US">
                <a:solidFill>
                  <a:schemeClr val="bg1"/>
                </a:solidFill>
                <a:latin typeface="微软雅黑" panose="020B0503020204020204" pitchFamily="34" charset="-122"/>
                <a:ea typeface="微软雅黑" panose="020B0503020204020204" pitchFamily="34" charset="-122"/>
                <a:cs typeface="+mn-ea"/>
                <a:sym typeface="+mn-lt"/>
              </a:rPr>
              <a:t/>
            </a:r>
            <a:r>
              <a:rPr lang="en-US" altLang="zh-CN">
                <a:solidFill>
                  <a:schemeClr val="bg1"/>
                </a:solidFill>
                <a:latin typeface="微软雅黑" panose="020B0503020204020204" pitchFamily="34" charset="-122"/>
                <a:ea typeface="微软雅黑" panose="020B0503020204020204" pitchFamily="34" charset="-122"/>
                <a:cs typeface="+mn-ea"/>
                <a:sym typeface="+mn-lt"/>
              </a:rPr>
              <a:t/>
            </a:r>
            <a:r>
              <a:rPr lang="zh-CN" altLang="en-US">
                <a:solidFill>
                  <a:schemeClr val="bg1"/>
                </a:solidFill>
                <a:latin typeface="微软雅黑" panose="020B0503020204020204" pitchFamily="34" charset="-122"/>
                <a:ea typeface="微软雅黑" panose="020B0503020204020204" pitchFamily="34" charset="-122"/>
                <a:cs typeface="+mn-ea"/>
                <a:sym typeface="+mn-lt"/>
              </a:rPr>
              <a:t/>
            </a:r>
            <a:r>
              <a:rPr lang="en-US" altLang="zh-CN">
                <a:solidFill>
                  <a:schemeClr val="bg1"/>
                </a:solidFill>
                <a:latin typeface="微软雅黑" panose="020B0503020204020204" pitchFamily="34" charset="-122"/>
                <a:ea typeface="微软雅黑" panose="020B0503020204020204" pitchFamily="34" charset="-122"/>
                <a:cs typeface="+mn-ea"/>
                <a:sym typeface="+mn-lt"/>
              </a:rPr>
              <a:t/>
            </a:r>
            <a:r>
              <a:rPr lang="zh-CN" altLang="en-US">
                <a:solidFill>
                  <a:schemeClr val="bg1"/>
                </a:solidFill>
                <a:latin typeface="微软雅黑" panose="020B0503020204020204" pitchFamily="34" charset="-122"/>
                <a:ea typeface="微软雅黑" panose="020B0503020204020204" pitchFamily="34" charset="-122"/>
                <a:cs typeface="+mn-ea"/>
                <a:sym typeface="+mn-lt"/>
              </a:rPr>
              <a:t/>
            </a:r>
            <a:r>
              <a:rPr lang="en-US" altLang="zh-CN">
                <a:solidFill>
                  <a:schemeClr val="bg1"/>
                </a:solidFill>
                <a:latin typeface="微软雅黑" panose="020B0503020204020204" pitchFamily="34" charset="-122"/>
                <a:ea typeface="微软雅黑" panose="020B0503020204020204" pitchFamily="34" charset="-122"/>
                <a:cs typeface="+mn-ea"/>
                <a:sym typeface="+mn-lt"/>
              </a:rPr>
              <a:t/>
            </a:r>
            <a:r>
              <a:rPr lang="zh-CN" altLang="en-US">
                <a:solidFill>
                  <a:schemeClr val="bg1"/>
                </a:solidFill>
                <a:latin typeface="微软雅黑" panose="020B0503020204020204" pitchFamily="34" charset="-122"/>
                <a:ea typeface="微软雅黑" panose="020B0503020204020204" pitchFamily="34" charset="-122"/>
                <a:cs typeface="+mn-ea"/>
                <a:sym typeface="+mn-lt"/>
              </a:rPr>
              <a:t/>
            </a:r>
            <a:endParaRPr lang="en-US" altLang="zh-CN" dirty="0">
              <a:solidFill>
                <a:schemeClr val="bg1"/>
              </a:solidFill>
              <a:latin typeface="微软雅黑" panose="020B0503020204020204" pitchFamily="34" charset="-122"/>
              <a:ea typeface="微软雅黑" panose="020B0503020204020204" pitchFamily="34" charset="-122"/>
              <a:cs typeface="+mn-ea"/>
              <a:sym typeface="+mn-lt"/>
            </a:endParaRPr>
            <a:br/>
            <a:r>
              <a:rPr lang="en-US" altLang="zh-CN">
                <a:solidFill>
                  <a:schemeClr val="bg1"/>
                </a:solidFill>
                <a:latin typeface="微软雅黑" panose="020B0503020204020204" pitchFamily="34" charset="-122"/>
                <a:ea typeface="微软雅黑" panose="020B0503020204020204" pitchFamily="34" charset="-122"/>
                <a:cs typeface="+mn-ea"/>
                <a:sym typeface="+mn-lt"/>
              </a:rPr>
              <a:t>Gembar Big Vacuum High Temperature Test</a:t>
            </a:r>
            <a:br/>
            <a:r>
              <a:rPr lang="en-US" altLang="zh-CN">
                <a:solidFill>
                  <a:schemeClr val="bg1"/>
                </a:solidFill>
                <a:latin typeface="微软雅黑" panose="020B0503020204020204" pitchFamily="34" charset="-122"/>
                <a:ea typeface="微软雅黑" panose="020B0503020204020204" pitchFamily="34" charset="-122"/>
                <a:cs typeface="+mn-ea"/>
                <a:sym typeface="+mn-lt"/>
              </a:rPr>
              <a:t>Gembar Intense Test</a:t>
            </a:r>
            <a:br/>
            <a:r>
              <a:rPr lang="en-US" altLang="zh-CN">
                <a:solidFill>
                  <a:schemeClr val="bg1"/>
                </a:solidFill>
                <a:latin typeface="微软雅黑" panose="020B0503020204020204" pitchFamily="34" charset="-122"/>
                <a:ea typeface="微软雅黑" panose="020B0503020204020204" pitchFamily="34" charset="-122"/>
                <a:cs typeface="+mn-ea"/>
                <a:sym typeface="+mn-lt"/>
              </a:rPr>
              <a:t>Gembar High Temp High Humidity Test</a:t>
            </a:r>
            <a:br/>
            <a:r>
              <a:rPr lang="en-US" altLang="zh-CN">
                <a:solidFill>
                  <a:schemeClr val="bg1"/>
                </a:solidFill>
                <a:latin typeface="微软雅黑" panose="020B0503020204020204" pitchFamily="34" charset="-122"/>
                <a:ea typeface="微软雅黑" panose="020B0503020204020204" pitchFamily="34" charset="-122"/>
                <a:cs typeface="+mn-ea"/>
                <a:sym typeface="+mn-lt"/>
              </a:rPr>
              <a:t>Gembar Long Puff Test</a:t>
            </a:r>
            <a:br/>
            <a:r>
              <a:rPr lang="en-US" altLang="zh-CN">
                <a:solidFill>
                  <a:schemeClr val="bg1"/>
                </a:solidFill>
                <a:latin typeface="微软雅黑" panose="020B0503020204020204" pitchFamily="34" charset="-122"/>
                <a:ea typeface="微软雅黑" panose="020B0503020204020204" pitchFamily="34" charset="-122"/>
                <a:cs typeface="+mn-ea"/>
                <a:sym typeface="+mn-lt"/>
              </a:rPr>
              <a:t>Gembox User Test Update</a:t>
            </a:r>
            <a:br/>
            <a:r>
              <a:rPr lang="en-US" altLang="zh-CN">
                <a:solidFill>
                  <a:schemeClr val="bg1"/>
                </a:solidFill>
                <a:latin typeface="微软雅黑" panose="020B0503020204020204" pitchFamily="34" charset="-122"/>
                <a:ea typeface="微软雅黑" panose="020B0503020204020204" pitchFamily="34" charset="-122"/>
                <a:cs typeface="+mn-ea"/>
                <a:sym typeface="+mn-lt"/>
              </a:rPr>
              <a:t>Necessary Design Changes for Gembox</a:t>
            </a:r>
          </a:p>
        </p:txBody>
      </p:sp>
      <p:sp>
        <p:nvSpPr>
          <p:cNvPr id="6" name="TextBox 5">
            <a:extLst>
              <a:ext uri="{FF2B5EF4-FFF2-40B4-BE49-F238E27FC236}">
                <a16:creationId xmlns:a16="http://schemas.microsoft.com/office/drawing/2014/main" id="{5D9C5903-46D6-7960-8413-FC24C3AE49A6}"/>
              </a:ext>
            </a:extLst>
          </p:cNvPr>
          <p:cNvSpPr txBox="1"/>
          <p:nvPr/>
        </p:nvSpPr>
        <p:spPr>
          <a:xfrm>
            <a:off x="5957180" y="1455566"/>
            <a:ext cx="5927002" cy="3891450"/>
          </a:xfrm>
          <a:prstGeom prst="rect">
            <a:avLst/>
          </a:prstGeom>
          <a:noFill/>
        </p:spPr>
        <p:txBody>
          <a:bodyPr wrap="square" rtlCol="0">
            <a:normAutofit/>
          </a:bodyPr>
          <a:lstStyle/>
          <a:p>
            <a:pPr marL="457200" indent="-457200">
              <a:lnSpc>
                <a:spcPct val="200000"/>
              </a:lnSpc>
              <a:buFont typeface="+mj-lt"/>
              <a:buAutoNum type="arabicPeriod" startAt="8"/>
            </a:pPr>
            <a:r>
              <a:rPr lang="en-US" altLang="zh-CN" sz="1500">
                <a:solidFill>
                  <a:schemeClr val="bg1"/>
                </a:solidFill>
                <a:latin typeface="微软雅黑" panose="020B0503020204020204" pitchFamily="34" charset="-122"/>
                <a:ea typeface="微软雅黑" panose="020B0503020204020204" pitchFamily="34" charset="-122"/>
                <a:cs typeface="+mn-ea"/>
                <a:sym typeface="+mn-lt"/>
              </a:rPr>
              <a:t>Gembox Big Vacuum High Temperature Test</a:t>
            </a:r>
            <a:r>
              <a:rPr lang="zh-CN" altLang="en-US">
                <a:solidFill>
                  <a:schemeClr val="bg1"/>
                </a:solidFill>
                <a:latin typeface="微软雅黑" panose="020B0503020204020204" pitchFamily="34" charset="-122"/>
                <a:ea typeface="微软雅黑" panose="020B0503020204020204" pitchFamily="34" charset="-122"/>
                <a:cs typeface="+mn-ea"/>
                <a:sym typeface="+mn-lt"/>
              </a:rPr>
              <a:t/>
            </a:r>
            <a:r>
              <a:rPr lang="en-US" altLang="zh-CN">
                <a:solidFill>
                  <a:schemeClr val="bg1"/>
                </a:solidFill>
                <a:latin typeface="微软雅黑" panose="020B0503020204020204" pitchFamily="34" charset="-122"/>
                <a:ea typeface="微软雅黑" panose="020B0503020204020204" pitchFamily="34" charset="-122"/>
                <a:cs typeface="+mn-ea"/>
                <a:sym typeface="+mn-lt"/>
              </a:rPr>
              <a:t/>
            </a:r>
            <a:r>
              <a:rPr lang="zh-CN" altLang="en-US">
                <a:solidFill>
                  <a:schemeClr val="bg1"/>
                </a:solidFill>
                <a:latin typeface="微软雅黑" panose="020B0503020204020204" pitchFamily="34" charset="-122"/>
                <a:ea typeface="微软雅黑" panose="020B0503020204020204" pitchFamily="34" charset="-122"/>
                <a:cs typeface="+mn-ea"/>
                <a:sym typeface="+mn-lt"/>
              </a:rPr>
              <a:t/>
            </a:r>
            <a:r>
              <a:rPr lang="en-US" altLang="zh-CN">
                <a:solidFill>
                  <a:schemeClr val="bg1"/>
                </a:solidFill>
                <a:latin typeface="微软雅黑" panose="020B0503020204020204" pitchFamily="34" charset="-122"/>
                <a:ea typeface="微软雅黑" panose="020B0503020204020204" pitchFamily="34" charset="-122"/>
                <a:cs typeface="+mn-ea"/>
                <a:sym typeface="+mn-lt"/>
              </a:rPr>
              <a:t/>
            </a:r>
            <a:r>
              <a:rPr lang="zh-CN" altLang="en-US">
                <a:solidFill>
                  <a:schemeClr val="bg1"/>
                </a:solidFill>
                <a:latin typeface="微软雅黑" panose="020B0503020204020204" pitchFamily="34" charset="-122"/>
                <a:ea typeface="微软雅黑" panose="020B0503020204020204" pitchFamily="34" charset="-122"/>
                <a:cs typeface="+mn-ea"/>
                <a:sym typeface="+mn-lt"/>
              </a:rPr>
              <a:t/>
            </a:r>
            <a:r>
              <a:rPr lang="en-US" altLang="zh-CN">
                <a:solidFill>
                  <a:schemeClr val="bg1"/>
                </a:solidFill>
                <a:latin typeface="微软雅黑" panose="020B0503020204020204" pitchFamily="34" charset="-122"/>
                <a:ea typeface="微软雅黑" panose="020B0503020204020204" pitchFamily="34" charset="-122"/>
                <a:cs typeface="+mn-ea"/>
                <a:sym typeface="+mn-lt"/>
              </a:rPr>
              <a:t/>
            </a:r>
            <a:r>
              <a:rPr lang="zh-CN" altLang="en-US">
                <a:solidFill>
                  <a:schemeClr val="bg1"/>
                </a:solidFill>
                <a:latin typeface="微软雅黑" panose="020B0503020204020204" pitchFamily="34" charset="-122"/>
                <a:ea typeface="微软雅黑" panose="020B0503020204020204" pitchFamily="34" charset="-122"/>
                <a:cs typeface="+mn-ea"/>
                <a:sym typeface="+mn-lt"/>
              </a:rPr>
              <a:t/>
            </a:r>
            <a:r>
              <a:rPr lang="en-US" altLang="zh-CN">
                <a:solidFill>
                  <a:schemeClr val="bg1"/>
                </a:solidFill>
                <a:latin typeface="微软雅黑" panose="020B0503020204020204" pitchFamily="34" charset="-122"/>
                <a:ea typeface="微软雅黑" panose="020B0503020204020204" pitchFamily="34" charset="-122"/>
                <a:cs typeface="+mn-ea"/>
                <a:sym typeface="+mn-lt"/>
              </a:rPr>
              <a:t/>
            </a:r>
            <a:r>
              <a:rPr lang="zh-CN" altLang="en-US">
                <a:solidFill>
                  <a:schemeClr val="bg1"/>
                </a:solidFill>
                <a:latin typeface="微软雅黑" panose="020B0503020204020204" pitchFamily="34" charset="-122"/>
                <a:ea typeface="微软雅黑" panose="020B0503020204020204" pitchFamily="34" charset="-122"/>
                <a:cs typeface="+mn-ea"/>
                <a:sym typeface="+mn-lt"/>
              </a:rPr>
              <a:t/>
            </a:r>
            <a:r>
              <a:rPr lang="en-US" altLang="zh-CN">
                <a:solidFill>
                  <a:schemeClr val="bg1"/>
                </a:solidFill>
                <a:latin typeface="微软雅黑" panose="020B0503020204020204" pitchFamily="34" charset="-122"/>
                <a:ea typeface="微软雅黑" panose="020B0503020204020204" pitchFamily="34" charset="-122"/>
                <a:cs typeface="+mn-ea"/>
                <a:sym typeface="+mn-lt"/>
              </a:rPr>
              <a:t/>
            </a:r>
            <a:r>
              <a:rPr lang="zh-CN" altLang="en-US">
                <a:solidFill>
                  <a:schemeClr val="bg1"/>
                </a:solidFill>
                <a:latin typeface="微软雅黑" panose="020B0503020204020204" pitchFamily="34" charset="-122"/>
                <a:ea typeface="微软雅黑" panose="020B0503020204020204" pitchFamily="34" charset="-122"/>
                <a:cs typeface="+mn-ea"/>
                <a:sym typeface="+mn-lt"/>
              </a:rPr>
              <a:t/>
            </a:r>
            <a:r>
              <a:rPr lang="en-US" altLang="zh-CN">
                <a:solidFill>
                  <a:schemeClr val="bg1"/>
                </a:solidFill>
                <a:latin typeface="微软雅黑" panose="020B0503020204020204" pitchFamily="34" charset="-122"/>
                <a:ea typeface="微软雅黑" panose="020B0503020204020204" pitchFamily="34" charset="-122"/>
                <a:cs typeface="+mn-ea"/>
                <a:sym typeface="+mn-lt"/>
              </a:rPr>
              <a:t/>
            </a:r>
            <a:r>
              <a:rPr lang="zh-CN" altLang="en-US">
                <a:solidFill>
                  <a:schemeClr val="bg1"/>
                </a:solidFill>
                <a:latin typeface="微软雅黑" panose="020B0503020204020204" pitchFamily="34" charset="-122"/>
                <a:ea typeface="微软雅黑" panose="020B0503020204020204" pitchFamily="34" charset="-122"/>
                <a:cs typeface="+mn-ea"/>
                <a:sym typeface="+mn-lt"/>
              </a:rPr>
              <a:t/>
            </a:r>
            <a:endParaRPr lang="en-US" dirty="0"/>
            <a:br/>
            <a:r>
              <a:rPr lang="en-US" altLang="zh-CN" sz="1500">
                <a:solidFill>
                  <a:schemeClr val="bg1"/>
                </a:solidFill>
                <a:latin typeface="微软雅黑" panose="020B0503020204020204" pitchFamily="34" charset="-122"/>
                <a:ea typeface="微软雅黑" panose="020B0503020204020204" pitchFamily="34" charset="-122"/>
                <a:cs typeface="+mn-ea"/>
                <a:sym typeface="+mn-lt"/>
              </a:rPr>
              <a:t>Gembox Intense Test</a:t>
            </a:r>
            <a:br/>
            <a:r>
              <a:rPr lang="en-US" altLang="zh-CN" sz="1500">
                <a:solidFill>
                  <a:schemeClr val="bg1"/>
                </a:solidFill>
                <a:latin typeface="微软雅黑" panose="020B0503020204020204" pitchFamily="34" charset="-122"/>
                <a:ea typeface="微软雅黑" panose="020B0503020204020204" pitchFamily="34" charset="-122"/>
                <a:cs typeface="+mn-ea"/>
                <a:sym typeface="+mn-lt"/>
              </a:rPr>
              <a:t>Gembox Viscosity Compatibility Test</a:t>
            </a:r>
            <a:br/>
            <a:r>
              <a:rPr lang="en-US" altLang="zh-CN" sz="1500">
                <a:solidFill>
                  <a:schemeClr val="bg1"/>
                </a:solidFill>
                <a:latin typeface="微软雅黑" panose="020B0503020204020204" pitchFamily="34" charset="-122"/>
                <a:ea typeface="微软雅黑" panose="020B0503020204020204" pitchFamily="34" charset="-122"/>
                <a:cs typeface="+mn-ea"/>
                <a:sym typeface="+mn-lt"/>
              </a:rPr>
              <a:t>Gembox High Temp High Humidity Test</a:t>
            </a:r>
            <a:br/>
            <a:r>
              <a:rPr lang="en-US" altLang="zh-CN" sz="1500">
                <a:solidFill>
                  <a:schemeClr val="bg1"/>
                </a:solidFill>
                <a:latin typeface="微软雅黑" panose="020B0503020204020204" pitchFamily="34" charset="-122"/>
                <a:ea typeface="微软雅黑" panose="020B0503020204020204" pitchFamily="34" charset="-122"/>
                <a:cs typeface="+mn-ea"/>
                <a:sym typeface="+mn-lt"/>
              </a:rPr>
              <a:t>Gembox Long Puff Test</a:t>
            </a:r>
            <a:br/>
            <a:r>
              <a:rPr lang="en-US" altLang="zh-CN" sz="1500">
                <a:solidFill>
                  <a:schemeClr val="bg1"/>
                </a:solidFill>
                <a:latin typeface="微软雅黑" panose="020B0503020204020204" pitchFamily="34" charset="-122"/>
                <a:ea typeface="微软雅黑" panose="020B0503020204020204" pitchFamily="34" charset="-122"/>
                <a:cs typeface="+mn-ea"/>
                <a:sym typeface="+mn-lt"/>
              </a:rPr>
              <a:t>Sensory Comparison of Pine Stick New Product and Oil Coil</a:t>
            </a:r>
            <a:br/>
            <a:r>
              <a:rPr lang="en-US" altLang="zh-CN" sz="1500">
                <a:solidFill>
                  <a:schemeClr val="bg1"/>
                </a:solidFill>
                <a:latin typeface="微软雅黑" panose="020B0503020204020204" pitchFamily="34" charset="-122"/>
                <a:ea typeface="微软雅黑" panose="020B0503020204020204" pitchFamily="34" charset="-122"/>
                <a:cs typeface="+mn-ea"/>
                <a:sym typeface="+mn-lt"/>
              </a:rPr>
              <a:t>Gembar + Gembox Pine Stick Test Update</a:t>
            </a:r>
          </a:p>
        </p:txBody>
      </p:sp>
    </p:spTree>
    <p:extLst>
      <p:ext uri="{BB962C8B-B14F-4D97-AF65-F5344CB8AC3E}">
        <p14:creationId xmlns:p14="http://schemas.microsoft.com/office/powerpoint/2010/main" val="15647889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6489AC-5B2F-B615-4578-B991B3988DE4}"/>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332E3492-92B3-BA55-1F15-18208B1965DE}"/>
              </a:ext>
            </a:extLst>
          </p:cNvPr>
          <p:cNvPicPr>
            <a:picLocks noChangeAspect="1"/>
          </p:cNvPicPr>
          <p:nvPr/>
        </p:nvPicPr>
        <p:blipFill>
          <a:blip r:embed="rId3" cstate="screen">
            <a:alphaModFix amt="60000"/>
            <a:extLst>
              <a:ext uri="{28A0092B-C50C-407E-A947-70E740481C1C}">
                <a14:useLocalDpi xmlns:a14="http://schemas.microsoft.com/office/drawing/2010/main"/>
              </a:ext>
            </a:extLst>
          </a:blip>
          <a:stretch>
            <a:fillRect/>
          </a:stretch>
        </p:blipFill>
        <p:spPr>
          <a:xfrm>
            <a:off x="-361" y="13947"/>
            <a:ext cx="12192361" cy="6857797"/>
          </a:xfrm>
          <a:prstGeom prst="rect">
            <a:avLst/>
          </a:prstGeom>
        </p:spPr>
      </p:pic>
      <p:pic>
        <p:nvPicPr>
          <p:cNvPr id="4" name="Picture 3">
            <a:extLst>
              <a:ext uri="{FF2B5EF4-FFF2-40B4-BE49-F238E27FC236}">
                <a16:creationId xmlns:a16="http://schemas.microsoft.com/office/drawing/2014/main" id="{9D6AC956-1663-F691-D62E-306E5FA05ACC}"/>
              </a:ext>
            </a:extLst>
          </p:cNvPr>
          <p:cNvPicPr>
            <a:picLocks noChangeAspect="1"/>
          </p:cNvPicPr>
          <p:nvPr/>
        </p:nvPicPr>
        <p:blipFill>
          <a:blip r:embed="rId4"/>
          <a:stretch>
            <a:fillRect/>
          </a:stretch>
        </p:blipFill>
        <p:spPr>
          <a:xfrm>
            <a:off x="10201998" y="91033"/>
            <a:ext cx="1436172" cy="485446"/>
          </a:xfrm>
          <a:prstGeom prst="rect">
            <a:avLst/>
          </a:prstGeom>
        </p:spPr>
      </p:pic>
      <p:sp>
        <p:nvSpPr>
          <p:cNvPr id="14" name="矩形 4">
            <a:extLst>
              <a:ext uri="{FF2B5EF4-FFF2-40B4-BE49-F238E27FC236}">
                <a16:creationId xmlns:a16="http://schemas.microsoft.com/office/drawing/2014/main" id="{A4908568-A1F5-44BE-1080-9DB5E9101AE8}"/>
              </a:ext>
            </a:extLst>
          </p:cNvPr>
          <p:cNvSpPr/>
          <p:nvPr/>
        </p:nvSpPr>
        <p:spPr>
          <a:xfrm>
            <a:off x="640080" y="146304"/>
            <a:ext cx="3813608" cy="523220"/>
          </a:xfrm>
          <a:prstGeom prst="rect">
            <a:avLst/>
          </a:prstGeom>
        </p:spPr>
        <p:txBody>
          <a:bodyPr wrap="none">
            <a:normAutofit/>
          </a:bodyPr>
          <a:lstStyle/>
          <a:p>
            <a:pPr lvl="0">
              <a:defRPr/>
            </a:pPr>
            <a:r>
              <a:rPr lang="en-US" altLang="zh-CN" sz="2200" dirty="0">
                <a:latin typeface="微软雅黑" panose="020B0503020204020204" pitchFamily="34" charset="-122"/>
                <a:ea typeface="微软雅黑" panose="020B0503020204020204" pitchFamily="34" charset="-122"/>
                <a:cs typeface="+mn-ea"/>
                <a:sym typeface="+mn-lt"/>
              </a:rPr>
              <a:t>Gembar User Test Update</a:t>
            </a:r>
            <a:r>
              <a:rPr lang="zh-CN" altLang="en-US" sz="2800" dirty="0">
                <a:latin typeface="微软雅黑" panose="020B0503020204020204" pitchFamily="34" charset="-122"/>
                <a:ea typeface="微软雅黑" panose="020B0503020204020204" pitchFamily="34" charset="-122"/>
                <a:cs typeface="+mn-ea"/>
                <a:sym typeface="+mn-lt"/>
              </a:rPr>
              <a:t/>
            </a:r>
            <a:endParaRPr kumimoji="0" lang="zh-CN" altLang="en-US" sz="2800" i="0" u="none" strike="noStrike" kern="1200" cap="none" spc="0" normalizeH="0" baseline="0" noProof="0" dirty="0">
              <a:ln>
                <a:noFill/>
              </a:ln>
              <a:effectLst/>
              <a:uLnTx/>
              <a:uFillTx/>
              <a:latin typeface="Calibri" panose="020F0502020204030204"/>
              <a:ea typeface="宋体" panose="02010600030101010101" pitchFamily="2" charset="-122"/>
              <a:cs typeface="+mn-ea"/>
              <a:sym typeface="+mn-lt"/>
            </a:endParaRPr>
          </a:p>
        </p:txBody>
      </p:sp>
      <p:graphicFrame>
        <p:nvGraphicFramePr>
          <p:cNvPr id="2" name="Table 1">
            <a:extLst>
              <a:ext uri="{FF2B5EF4-FFF2-40B4-BE49-F238E27FC236}">
                <a16:creationId xmlns:a16="http://schemas.microsoft.com/office/drawing/2014/main" id="{5F614E28-F157-40EC-CD5D-094091FDD578}"/>
              </a:ext>
            </a:extLst>
          </p:cNvPr>
          <p:cNvGraphicFramePr>
            <a:graphicFrameLocks noGrp="1"/>
          </p:cNvGraphicFramePr>
          <p:nvPr>
            <p:extLst>
              <p:ext uri="{D42A27DB-BD31-4B8C-83A1-F6EECF244321}">
                <p14:modId xmlns:p14="http://schemas.microsoft.com/office/powerpoint/2010/main" val="2825279302"/>
              </p:ext>
            </p:extLst>
          </p:nvPr>
        </p:nvGraphicFramePr>
        <p:xfrm>
          <a:off x="199176" y="666419"/>
          <a:ext cx="10002821" cy="4079466"/>
        </p:xfrm>
        <a:graphic>
          <a:graphicData uri="http://schemas.openxmlformats.org/drawingml/2006/table">
            <a:tbl>
              <a:tblPr>
                <a:tableStyleId>{5C22544A-7EE6-4342-B048-85BDC9FD1C3A}</a:tableStyleId>
              </a:tblPr>
              <a:tblGrid>
                <a:gridCol w="706296">
                  <a:extLst>
                    <a:ext uri="{9D8B030D-6E8A-4147-A177-3AD203B41FA5}">
                      <a16:colId xmlns:a16="http://schemas.microsoft.com/office/drawing/2014/main" val="2890845588"/>
                    </a:ext>
                  </a:extLst>
                </a:gridCol>
                <a:gridCol w="642088">
                  <a:extLst>
                    <a:ext uri="{9D8B030D-6E8A-4147-A177-3AD203B41FA5}">
                      <a16:colId xmlns:a16="http://schemas.microsoft.com/office/drawing/2014/main" val="3348788074"/>
                    </a:ext>
                  </a:extLst>
                </a:gridCol>
                <a:gridCol w="871406">
                  <a:extLst>
                    <a:ext uri="{9D8B030D-6E8A-4147-A177-3AD203B41FA5}">
                      <a16:colId xmlns:a16="http://schemas.microsoft.com/office/drawing/2014/main" val="1469769082"/>
                    </a:ext>
                  </a:extLst>
                </a:gridCol>
                <a:gridCol w="541189">
                  <a:extLst>
                    <a:ext uri="{9D8B030D-6E8A-4147-A177-3AD203B41FA5}">
                      <a16:colId xmlns:a16="http://schemas.microsoft.com/office/drawing/2014/main" val="11223182"/>
                    </a:ext>
                  </a:extLst>
                </a:gridCol>
                <a:gridCol w="504498">
                  <a:extLst>
                    <a:ext uri="{9D8B030D-6E8A-4147-A177-3AD203B41FA5}">
                      <a16:colId xmlns:a16="http://schemas.microsoft.com/office/drawing/2014/main" val="3731957305"/>
                    </a:ext>
                  </a:extLst>
                </a:gridCol>
                <a:gridCol w="807197">
                  <a:extLst>
                    <a:ext uri="{9D8B030D-6E8A-4147-A177-3AD203B41FA5}">
                      <a16:colId xmlns:a16="http://schemas.microsoft.com/office/drawing/2014/main" val="2783648992"/>
                    </a:ext>
                  </a:extLst>
                </a:gridCol>
                <a:gridCol w="605398">
                  <a:extLst>
                    <a:ext uri="{9D8B030D-6E8A-4147-A177-3AD203B41FA5}">
                      <a16:colId xmlns:a16="http://schemas.microsoft.com/office/drawing/2014/main" val="3888882504"/>
                    </a:ext>
                  </a:extLst>
                </a:gridCol>
                <a:gridCol w="653555">
                  <a:extLst>
                    <a:ext uri="{9D8B030D-6E8A-4147-A177-3AD203B41FA5}">
                      <a16:colId xmlns:a16="http://schemas.microsoft.com/office/drawing/2014/main" val="3395299223"/>
                    </a:ext>
                  </a:extLst>
                </a:gridCol>
                <a:gridCol w="513670">
                  <a:extLst>
                    <a:ext uri="{9D8B030D-6E8A-4147-A177-3AD203B41FA5}">
                      <a16:colId xmlns:a16="http://schemas.microsoft.com/office/drawing/2014/main" val="1002046894"/>
                    </a:ext>
                  </a:extLst>
                </a:gridCol>
                <a:gridCol w="715471">
                  <a:extLst>
                    <a:ext uri="{9D8B030D-6E8A-4147-A177-3AD203B41FA5}">
                      <a16:colId xmlns:a16="http://schemas.microsoft.com/office/drawing/2014/main" val="3424379495"/>
                    </a:ext>
                  </a:extLst>
                </a:gridCol>
                <a:gridCol w="539400">
                  <a:extLst>
                    <a:ext uri="{9D8B030D-6E8A-4147-A177-3AD203B41FA5}">
                      <a16:colId xmlns:a16="http://schemas.microsoft.com/office/drawing/2014/main" val="695889759"/>
                    </a:ext>
                  </a:extLst>
                </a:gridCol>
                <a:gridCol w="387043">
                  <a:extLst>
                    <a:ext uri="{9D8B030D-6E8A-4147-A177-3AD203B41FA5}">
                      <a16:colId xmlns:a16="http://schemas.microsoft.com/office/drawing/2014/main" val="1385683789"/>
                    </a:ext>
                  </a:extLst>
                </a:gridCol>
                <a:gridCol w="1176398">
                  <a:extLst>
                    <a:ext uri="{9D8B030D-6E8A-4147-A177-3AD203B41FA5}">
                      <a16:colId xmlns:a16="http://schemas.microsoft.com/office/drawing/2014/main" val="578868932"/>
                    </a:ext>
                  </a:extLst>
                </a:gridCol>
                <a:gridCol w="1339212">
                  <a:extLst>
                    <a:ext uri="{9D8B030D-6E8A-4147-A177-3AD203B41FA5}">
                      <a16:colId xmlns:a16="http://schemas.microsoft.com/office/drawing/2014/main" val="3305438557"/>
                    </a:ext>
                  </a:extLst>
                </a:gridCol>
              </a:tblGrid>
              <a:tr h="463370">
                <a:tc>
                  <a:txBody>
                    <a:bodyPr/>
                    <a:lstStyle/>
                    <a:p>
                      <a:pPr algn="ctr" fontAlgn="ctr"/>
                      <a:r>
                        <a:rPr lang="zh-CN" altLang="en-US" sz="900" b="1" u="none" strike="noStrike" dirty="0">
                          <a:effectLst/>
                        </a:rPr>
                        <a:t>Sample</a:t>
                      </a:r>
                      <a:endParaRPr lang="en-US" sz="900" b="1"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ctr"/>
                      <a:r>
                        <a:rPr lang="zh-CN" altLang="en-US" sz="900" b="1" u="none" strike="noStrike" dirty="0">
                          <a:effectLst/>
                        </a:rPr>
                        <a:t>Username</a:t>
                      </a:r>
                      <a:endParaRPr lang="en-US" sz="900" b="1"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ctr"/>
                      <a:r>
                        <a:rPr lang="zh-CN" altLang="en-US" sz="900" b="1" u="none" strike="noStrike" dirty="0">
                          <a:effectLst/>
                        </a:rPr>
                        <a:t>Transaction Date</a:t>
                      </a:r>
                      <a:endParaRPr lang="en-US" sz="900" b="1"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ctr"/>
                      <a:r>
                        <a:rPr lang="zh-CN" altLang="en-US" sz="900" b="1" u="none" strike="noStrike" dirty="0">
                          <a:effectLst/>
                        </a:rPr>
                        <a:t>Media Filled?</a:t>
                      </a:r>
                      <a:endParaRPr lang="en-US" sz="900" b="1"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ctr"/>
                      <a:r>
                        <a:rPr lang="zh-CN" altLang="en-US" sz="900" b="1" u="none" strike="noStrike" dirty="0">
                          <a:effectLst/>
                        </a:rPr>
                        <a:t>Filling Volume</a:t>
                      </a:r>
                      <a:endParaRPr lang="en-US" sz="900" b="1"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ctr"/>
                      <a:r>
                        <a:rPr lang="zh-CN" altLang="en-US" sz="900" b="1" u="none" strike="noStrike" dirty="0">
                          <a:effectLst/>
                        </a:rPr>
                        <a:t>Resistance Before Use</a:t>
                      </a:r>
                      <a:endParaRPr lang="en-US" sz="900" b="1"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ctr"/>
                      <a:r>
                        <a:rPr lang="zh-CN" altLang="en-US" sz="900" b="1" u="none" strike="noStrike" dirty="0">
                          <a:effectLst/>
                        </a:rPr>
                        <a:t>Distribution Date</a:t>
                      </a:r>
                      <a:endParaRPr lang="en-US" sz="900" b="1"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ctr"/>
                      <a:r>
                        <a:rPr lang="zh-CN" altLang="en-US" sz="900" b="1" u="none" strike="noStrike" dirty="0">
                          <a:effectLst/>
                        </a:rPr>
                        <a:t>Progress</a:t>
                      </a:r>
                      <a:endParaRPr lang="en-US" sz="900" b="1"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ctr"/>
                      <a:r>
                        <a:rPr lang="zh-CN" altLang="en-US" sz="900" b="1" u="none" strike="noStrike" dirty="0">
                          <a:effectLst/>
                        </a:rPr>
                        <a:t>Return Date</a:t>
                      </a:r>
                      <a:endParaRPr lang="en-US" sz="900" b="1"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ctr"/>
                      <a:r>
                        <a:rPr lang="zh-CN" altLang="en-US" sz="900" b="1" u="none" strike="noStrike" dirty="0">
                          <a:effectLst/>
                        </a:rPr>
                        <a:t>Resistance After Collection</a:t>
                      </a:r>
                      <a:endParaRPr lang="en-US" sz="900" b="1"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b"/>
                      <a:r>
                        <a:rPr lang="zh-CN" altLang="en-US" sz="900" b="1" u="none" strike="noStrike" dirty="0">
                          <a:effectLst/>
                        </a:rPr>
                        <a:t>Voltage</a:t>
                      </a:r>
                      <a:endParaRPr lang="en-US" sz="900" b="1"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ctr"/>
                      <a:r>
                        <a:rPr lang="zh-CN" altLang="en-US" sz="900" b="1" u="none" strike="noStrike" dirty="0">
                          <a:effectLst/>
                        </a:rPr>
                        <a:t>Power</a:t>
                      </a:r>
                      <a:endParaRPr lang="en-US" sz="900" b="1"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ctr"/>
                      <a:r>
                        <a:rPr lang="zh-CN" altLang="en-US" sz="900" b="1" u="none" strike="noStrike" dirty="0">
                          <a:effectLst/>
                        </a:rPr>
                        <a:t>Issue?</a:t>
                      </a:r>
                      <a:endParaRPr lang="en-US" sz="900" b="1"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ctr"/>
                      <a:r>
                        <a:rPr lang="zh-CN" altLang="en-US" sz="900" b="1" u="none" strike="noStrike" dirty="0">
                          <a:effectLst/>
                        </a:rPr>
                        <a:t>Comments?</a:t>
                      </a:r>
                      <a:endParaRPr lang="en-US" sz="900" b="1" i="0" u="none" strike="noStrike" dirty="0">
                        <a:solidFill>
                          <a:srgbClr val="000000"/>
                        </a:solidFill>
                        <a:effectLst/>
                        <a:latin typeface="Aptos Narrow" panose="020B0004020202020204" pitchFamily="34" charset="0"/>
                      </a:endParaRPr>
                    </a:p>
                  </a:txBody>
                  <a:tcPr marL="7236" marR="7236" marT="7236" marB="0" anchor="ctr"/>
                </a:tc>
                <a:extLst>
                  <a:ext uri="{0D108BD9-81ED-4DB2-BD59-A6C34878D82A}">
                    <a16:rowId xmlns:a16="http://schemas.microsoft.com/office/drawing/2014/main" val="1319650702"/>
                  </a:ext>
                </a:extLst>
              </a:tr>
              <a:tr h="644294">
                <a:tc>
                  <a:txBody>
                    <a:bodyPr/>
                    <a:lstStyle/>
                    <a:p>
                      <a:pPr algn="ctr" fontAlgn="ctr"/>
                      <a:r>
                        <a:rPr lang="en-US" sz="900" u="none" strike="noStrike">
                          <a:effectLst/>
                        </a:rPr>
                        <a:t>1-13 Batch User-1</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Charlie</a:t>
                      </a:r>
                      <a:endParaRPr lang="en-US" sz="900" b="0"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1/2/2025</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1.1 mcp D9</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2mL</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2.3</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1/13/2025</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75%</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1/24/2025</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2.3</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3.2</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4.45217391</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zh-CN" altLang="en-US" sz="900" u="none" strike="noStrike" dirty="0">
                          <a:effectLst/>
                        </a:rPr>
                        <a:t>Lost equipment yesterday under the lab workbench. No issues before that.</a:t>
                      </a:r>
                      <a:r>
                        <a:rPr lang="en-US" sz="900" u="none" strike="noStrike" dirty="0">
                          <a:effectLst/>
                        </a:rPr>
                        <a:t/>
                      </a:r>
                      <a:endParaRPr lang="en-US" sz="900" b="0"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ctr"/>
                      <a:r>
                        <a:rPr lang="zh-CN" altLang="en-US" sz="900" u="none" strike="noStrike" dirty="0">
                          <a:effectLst/>
                        </a:rPr>
                        <a:t>Good performance</a:t>
                      </a:r>
                      <a:endParaRPr lang="en-US" sz="900" b="0" i="0" u="none" strike="noStrike" dirty="0">
                        <a:solidFill>
                          <a:srgbClr val="000000"/>
                        </a:solidFill>
                        <a:effectLst/>
                        <a:latin typeface="Aptos Narrow" panose="020B0004020202020204" pitchFamily="34" charset="0"/>
                      </a:endParaRPr>
                    </a:p>
                  </a:txBody>
                  <a:tcPr marL="7236" marR="7236" marT="7236" marB="0" anchor="ctr"/>
                </a:tc>
                <a:extLst>
                  <a:ext uri="{0D108BD9-81ED-4DB2-BD59-A6C34878D82A}">
                    <a16:rowId xmlns:a16="http://schemas.microsoft.com/office/drawing/2014/main" val="571817148"/>
                  </a:ext>
                </a:extLst>
              </a:tr>
              <a:tr h="322146">
                <a:tc>
                  <a:txBody>
                    <a:bodyPr/>
                    <a:lstStyle/>
                    <a:p>
                      <a:pPr algn="ctr" fontAlgn="ctr"/>
                      <a:r>
                        <a:rPr lang="en-US" sz="900" u="none" strike="noStrike">
                          <a:effectLst/>
                        </a:rPr>
                        <a:t>1-13 Batch User-2</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Leon</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1/2/2025</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1.1 mcp D9</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2mL</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2.3</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1/13/2025</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90%</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1/23/2025</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2.3</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3.2</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4.45217391</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zh-CN" altLang="en-US" sz="900" u="none" strike="noStrike" dirty="0">
                          <a:effectLst/>
                        </a:rPr>
                        <a:t>No issue</a:t>
                      </a:r>
                      <a:endParaRPr lang="en-US" sz="900" b="0"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ctr"/>
                      <a:r>
                        <a:rPr lang="zh-CN" altLang="en-US" sz="900" u="none" strike="noStrike" dirty="0">
                          <a:effectLst/>
                        </a:rPr>
                        <a:t>Good performance</a:t>
                      </a:r>
                      <a:endParaRPr lang="en-US" sz="900" b="0" i="0" u="none" strike="noStrike" dirty="0">
                        <a:solidFill>
                          <a:srgbClr val="000000"/>
                        </a:solidFill>
                        <a:effectLst/>
                        <a:latin typeface="Aptos Narrow" panose="020B0004020202020204" pitchFamily="34" charset="0"/>
                      </a:endParaRPr>
                    </a:p>
                  </a:txBody>
                  <a:tcPr marL="7236" marR="7236" marT="7236" marB="0" anchor="ctr"/>
                </a:tc>
                <a:extLst>
                  <a:ext uri="{0D108BD9-81ED-4DB2-BD59-A6C34878D82A}">
                    <a16:rowId xmlns:a16="http://schemas.microsoft.com/office/drawing/2014/main" val="1396405035"/>
                  </a:ext>
                </a:extLst>
              </a:tr>
              <a:tr h="877851">
                <a:tc>
                  <a:txBody>
                    <a:bodyPr/>
                    <a:lstStyle/>
                    <a:p>
                      <a:pPr algn="ctr" fontAlgn="ctr"/>
                      <a:r>
                        <a:rPr lang="en-US" sz="900" u="none" strike="noStrike">
                          <a:effectLst/>
                        </a:rPr>
                        <a:t>1-13 Batch User-3</a:t>
                      </a:r>
                      <a:endParaRPr lang="en-US" sz="900" b="0"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Nellie</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dirty="0">
                          <a:effectLst/>
                        </a:rPr>
                        <a:t>1/2/2025</a:t>
                      </a:r>
                      <a:endParaRPr lang="en-US" sz="900" b="0"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1.1 mcp D9</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2mL</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2.3</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1/13/2025</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60%</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1/22/2025</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2.3</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3.2</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4.45217391</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zh-CN" altLang="en-US" sz="900" u="none" strike="noStrike" dirty="0">
                          <a:effectLst/>
                        </a:rPr>
                        <a:t>Stopped activating at 60% remaining</a:t>
                      </a:r>
                      <a:r>
                        <a:rPr lang="en-US" altLang="zh-CN" sz="900" u="none" strike="noStrike" dirty="0">
                          <a:effectLst/>
                        </a:rPr>
                        <a:t/>
                      </a:r>
                      <a:r>
                        <a:rPr lang="zh-CN" altLang="en-US" sz="900" u="none" strike="noStrike" dirty="0">
                          <a:effectLst/>
                        </a:rPr>
                        <a:t/>
                      </a:r>
                      <a:endParaRPr lang="en-US" sz="900" b="0"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ctr"/>
                      <a:r>
                        <a:rPr lang="zh-CN" altLang="en-US" sz="900" u="none" strike="noStrike" dirty="0">
                          <a:effectLst/>
                        </a:rPr>
                        <a:t>Failure seems to be due to poor pin connection. Heater is undamaged, resistance is nominal.</a:t>
                      </a:r>
                      <a:r>
                        <a:rPr lang="en-US" sz="900" u="none" strike="noStrike" dirty="0">
                          <a:effectLst/>
                        </a:rPr>
                        <a:t/>
                      </a:r>
                      <a:endParaRPr lang="en-US" sz="900" b="0" i="0" u="none" strike="noStrike" dirty="0">
                        <a:solidFill>
                          <a:srgbClr val="000000"/>
                        </a:solidFill>
                        <a:effectLst/>
                        <a:latin typeface="Aptos Narrow" panose="020B0004020202020204" pitchFamily="34" charset="0"/>
                      </a:endParaRPr>
                    </a:p>
                  </a:txBody>
                  <a:tcPr marL="7236" marR="7236" marT="7236" marB="0" anchor="ctr"/>
                </a:tc>
                <a:extLst>
                  <a:ext uri="{0D108BD9-81ED-4DB2-BD59-A6C34878D82A}">
                    <a16:rowId xmlns:a16="http://schemas.microsoft.com/office/drawing/2014/main" val="2344352417"/>
                  </a:ext>
                </a:extLst>
              </a:tr>
              <a:tr h="322146">
                <a:tc>
                  <a:txBody>
                    <a:bodyPr/>
                    <a:lstStyle/>
                    <a:p>
                      <a:pPr algn="ctr" fontAlgn="ctr"/>
                      <a:r>
                        <a:rPr lang="en-US" sz="900" u="none" strike="noStrike">
                          <a:effectLst/>
                        </a:rPr>
                        <a:t>1-13 Batch User-4</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Jordan</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1/2/2025</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1.1 mcp D9</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2mL</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2.3</a:t>
                      </a:r>
                      <a:endParaRPr lang="en-US" sz="900" b="0"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1/13/2025</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50%</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 </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 </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3.2</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4.45217391</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zh-CN" altLang="en-US" sz="900" u="none" strike="noStrike" dirty="0">
                          <a:effectLst/>
                        </a:rPr>
                        <a:t>No issues so far</a:t>
                      </a:r>
                      <a:endParaRPr lang="en-US" sz="900" b="0"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 </a:t>
                      </a:r>
                      <a:endParaRPr lang="en-US" sz="900" b="0" i="0" u="none" strike="noStrike" dirty="0">
                        <a:solidFill>
                          <a:srgbClr val="000000"/>
                        </a:solidFill>
                        <a:effectLst/>
                        <a:latin typeface="Aptos Narrow" panose="020B0004020202020204" pitchFamily="34" charset="0"/>
                      </a:endParaRPr>
                    </a:p>
                  </a:txBody>
                  <a:tcPr marL="7236" marR="7236" marT="7236" marB="0" anchor="ctr"/>
                </a:tc>
                <a:extLst>
                  <a:ext uri="{0D108BD9-81ED-4DB2-BD59-A6C34878D82A}">
                    <a16:rowId xmlns:a16="http://schemas.microsoft.com/office/drawing/2014/main" val="2787352302"/>
                  </a:ext>
                </a:extLst>
              </a:tr>
              <a:tr h="483221">
                <a:tc>
                  <a:txBody>
                    <a:bodyPr/>
                    <a:lstStyle/>
                    <a:p>
                      <a:pPr algn="ctr" fontAlgn="ctr"/>
                      <a:r>
                        <a:rPr lang="en-US" sz="900" u="none" strike="noStrike">
                          <a:effectLst/>
                        </a:rPr>
                        <a:t>1-22 Batch User-5 ROSIN</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Charlie</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1/29/2025</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MPX Rosin</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2mL</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2.3</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1/29/2025</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60%</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 </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 </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3.2</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4.45217391</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zh-CN" altLang="en-US" sz="900" u="none" strike="noStrike" dirty="0">
                          <a:effectLst/>
                        </a:rPr>
                        <a:t>Slight discoloration</a:t>
                      </a:r>
                      <a:endParaRPr lang="en-US" sz="900" b="0"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 </a:t>
                      </a:r>
                      <a:endParaRPr lang="en-US" sz="900" b="0" i="0" u="none" strike="noStrike" dirty="0">
                        <a:solidFill>
                          <a:srgbClr val="000000"/>
                        </a:solidFill>
                        <a:effectLst/>
                        <a:latin typeface="Aptos Narrow" panose="020B0004020202020204" pitchFamily="34" charset="0"/>
                      </a:endParaRPr>
                    </a:p>
                  </a:txBody>
                  <a:tcPr marL="7236" marR="7236" marT="7236" marB="0" anchor="ctr"/>
                </a:tc>
                <a:extLst>
                  <a:ext uri="{0D108BD9-81ED-4DB2-BD59-A6C34878D82A}">
                    <a16:rowId xmlns:a16="http://schemas.microsoft.com/office/drawing/2014/main" val="1966896493"/>
                  </a:ext>
                </a:extLst>
              </a:tr>
              <a:tr h="322146">
                <a:tc>
                  <a:txBody>
                    <a:bodyPr/>
                    <a:lstStyle/>
                    <a:p>
                      <a:pPr algn="ctr" fontAlgn="ctr"/>
                      <a:r>
                        <a:rPr lang="en-US" sz="900" u="none" strike="noStrike" dirty="0">
                          <a:effectLst/>
                        </a:rPr>
                        <a:t>2-3 Batch User-1</a:t>
                      </a:r>
                      <a:endParaRPr lang="en-US" sz="900" b="0"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Charlie</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dirty="0">
                          <a:effectLst/>
                        </a:rPr>
                        <a:t>2/4/2025</a:t>
                      </a:r>
                      <a:endParaRPr lang="en-US" sz="900" b="0"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663kcp D9</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2mL</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2.3</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dirty="0">
                          <a:effectLst/>
                        </a:rPr>
                        <a:t>2/5/2025 </a:t>
                      </a:r>
                      <a:endParaRPr lang="en-US" sz="900" b="0"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0%</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dirty="0">
                          <a:effectLst/>
                        </a:rPr>
                        <a:t> </a:t>
                      </a:r>
                      <a:endParaRPr lang="en-US" sz="900" b="0"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dirty="0">
                          <a:effectLst/>
                        </a:rPr>
                        <a:t> </a:t>
                      </a:r>
                      <a:endParaRPr lang="en-US" sz="900" b="0"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dirty="0">
                          <a:effectLst/>
                        </a:rPr>
                        <a:t> 3.2</a:t>
                      </a:r>
                      <a:endParaRPr lang="en-US" sz="900" b="0"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b="0" i="0" u="none" strike="noStrike" dirty="0">
                          <a:solidFill>
                            <a:srgbClr val="000000"/>
                          </a:solidFill>
                          <a:effectLst/>
                          <a:latin typeface="Aptos Narrow" panose="020B0004020202020204" pitchFamily="34" charset="0"/>
                        </a:rPr>
                        <a:t>4.45</a:t>
                      </a:r>
                    </a:p>
                  </a:txBody>
                  <a:tcPr marL="7236" marR="7236" marT="7236" marB="0" anchor="ctr"/>
                </a:tc>
                <a:tc>
                  <a:txBody>
                    <a:bodyPr/>
                    <a:lstStyle/>
                    <a:p>
                      <a:pPr algn="ctr" fontAlgn="ctr"/>
                      <a:r>
                        <a:rPr lang="en-US" sz="900" u="none" strike="noStrike" dirty="0">
                          <a:effectLst/>
                        </a:rPr>
                        <a:t> </a:t>
                      </a:r>
                      <a:endParaRPr lang="en-US" sz="900" b="0"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 </a:t>
                      </a:r>
                      <a:endParaRPr lang="en-US" sz="900" b="0" i="0" u="none" strike="noStrike">
                        <a:solidFill>
                          <a:srgbClr val="000000"/>
                        </a:solidFill>
                        <a:effectLst/>
                        <a:latin typeface="Aptos Narrow" panose="020B0004020202020204" pitchFamily="34" charset="0"/>
                      </a:endParaRPr>
                    </a:p>
                  </a:txBody>
                  <a:tcPr marL="7236" marR="7236" marT="7236" marB="0" anchor="ctr"/>
                </a:tc>
                <a:extLst>
                  <a:ext uri="{0D108BD9-81ED-4DB2-BD59-A6C34878D82A}">
                    <a16:rowId xmlns:a16="http://schemas.microsoft.com/office/drawing/2014/main" val="2690890727"/>
                  </a:ext>
                </a:extLst>
              </a:tr>
              <a:tr h="322146">
                <a:tc>
                  <a:txBody>
                    <a:bodyPr/>
                    <a:lstStyle/>
                    <a:p>
                      <a:pPr algn="ctr" fontAlgn="ctr"/>
                      <a:r>
                        <a:rPr lang="en-US" sz="900" u="none" strike="noStrike">
                          <a:effectLst/>
                        </a:rPr>
                        <a:t>2-3 Batch User-2</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dirty="0">
                          <a:effectLst/>
                        </a:rPr>
                        <a:t>Isabel</a:t>
                      </a:r>
                      <a:endParaRPr lang="en-US" sz="900" b="0"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dirty="0">
                          <a:effectLst/>
                        </a:rPr>
                        <a:t>2/4/2025</a:t>
                      </a:r>
                      <a:endParaRPr lang="en-US" sz="900" b="0"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663kcp D9</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2mL</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2.3</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dirty="0">
                          <a:effectLst/>
                        </a:rPr>
                        <a:t> 2/5/2025</a:t>
                      </a:r>
                      <a:endParaRPr lang="en-US" sz="900" b="0"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0%</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 </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 </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dirty="0">
                          <a:effectLst/>
                        </a:rPr>
                        <a:t> 3.2</a:t>
                      </a:r>
                      <a:endParaRPr lang="en-US" sz="900" b="0"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b="0" i="0" u="none" strike="noStrike" dirty="0">
                          <a:solidFill>
                            <a:srgbClr val="000000"/>
                          </a:solidFill>
                          <a:effectLst/>
                          <a:latin typeface="Aptos Narrow" panose="020B0004020202020204" pitchFamily="34" charset="0"/>
                        </a:rPr>
                        <a:t>4.45</a:t>
                      </a:r>
                    </a:p>
                  </a:txBody>
                  <a:tcPr marL="7236" marR="7236" marT="7236" marB="0" anchor="ctr"/>
                </a:tc>
                <a:tc>
                  <a:txBody>
                    <a:bodyPr/>
                    <a:lstStyle/>
                    <a:p>
                      <a:pPr algn="ctr" fontAlgn="ctr"/>
                      <a:r>
                        <a:rPr lang="en-US" sz="900" u="none" strike="noStrike" dirty="0">
                          <a:effectLst/>
                        </a:rPr>
                        <a:t> </a:t>
                      </a:r>
                      <a:endParaRPr lang="en-US" sz="900" b="0"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dirty="0">
                          <a:effectLst/>
                        </a:rPr>
                        <a:t> </a:t>
                      </a:r>
                      <a:endParaRPr lang="en-US" sz="900" b="0" i="0" u="none" strike="noStrike" dirty="0">
                        <a:solidFill>
                          <a:srgbClr val="000000"/>
                        </a:solidFill>
                        <a:effectLst/>
                        <a:latin typeface="Aptos Narrow" panose="020B0004020202020204" pitchFamily="34" charset="0"/>
                      </a:endParaRPr>
                    </a:p>
                  </a:txBody>
                  <a:tcPr marL="7236" marR="7236" marT="7236" marB="0" anchor="ctr"/>
                </a:tc>
                <a:extLst>
                  <a:ext uri="{0D108BD9-81ED-4DB2-BD59-A6C34878D82A}">
                    <a16:rowId xmlns:a16="http://schemas.microsoft.com/office/drawing/2014/main" val="3694572331"/>
                  </a:ext>
                </a:extLst>
              </a:tr>
              <a:tr h="322146">
                <a:tc>
                  <a:txBody>
                    <a:bodyPr/>
                    <a:lstStyle/>
                    <a:p>
                      <a:pPr algn="ctr" fontAlgn="ctr"/>
                      <a:r>
                        <a:rPr lang="en-US" sz="900" u="none" strike="noStrike">
                          <a:effectLst/>
                        </a:rPr>
                        <a:t>2-3 Batch User-3</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b="0" i="0" u="none" strike="noStrike" dirty="0">
                          <a:solidFill>
                            <a:srgbClr val="000000"/>
                          </a:solidFill>
                          <a:effectLst/>
                          <a:latin typeface="Aptos Narrow" panose="020B0004020202020204" pitchFamily="34" charset="0"/>
                        </a:rPr>
                        <a:t>Leland</a:t>
                      </a:r>
                    </a:p>
                  </a:txBody>
                  <a:tcPr marL="7236" marR="7236" marT="7236" marB="0" anchor="ctr"/>
                </a:tc>
                <a:tc>
                  <a:txBody>
                    <a:bodyPr/>
                    <a:lstStyle/>
                    <a:p>
                      <a:pPr algn="ctr" fontAlgn="ctr"/>
                      <a:r>
                        <a:rPr lang="en-US" sz="900" u="none" strike="noStrike">
                          <a:effectLst/>
                        </a:rPr>
                        <a:t>2/4/2025</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663kcp D9</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2mL</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2.3</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dirty="0">
                          <a:effectLst/>
                        </a:rPr>
                        <a:t>2/5/2025 </a:t>
                      </a:r>
                      <a:endParaRPr lang="en-US" sz="900" b="0"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0%</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 </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dirty="0">
                          <a:effectLst/>
                        </a:rPr>
                        <a:t> </a:t>
                      </a:r>
                      <a:endParaRPr lang="en-US" sz="900" b="0"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dirty="0">
                          <a:effectLst/>
                        </a:rPr>
                        <a:t> 3.2</a:t>
                      </a:r>
                      <a:endParaRPr lang="en-US" sz="900" b="0"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b="0" i="0" u="none" strike="noStrike" dirty="0">
                          <a:solidFill>
                            <a:srgbClr val="000000"/>
                          </a:solidFill>
                          <a:effectLst/>
                          <a:latin typeface="Aptos Narrow" panose="020B0004020202020204" pitchFamily="34" charset="0"/>
                        </a:rPr>
                        <a:t>4.45</a:t>
                      </a:r>
                    </a:p>
                  </a:txBody>
                  <a:tcPr marL="7236" marR="7236" marT="7236" marB="0" anchor="ctr"/>
                </a:tc>
                <a:tc>
                  <a:txBody>
                    <a:bodyPr/>
                    <a:lstStyle/>
                    <a:p>
                      <a:pPr algn="ctr" fontAlgn="ctr"/>
                      <a:r>
                        <a:rPr lang="en-US" sz="900" u="none" strike="noStrike">
                          <a:effectLst/>
                        </a:rPr>
                        <a:t> </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dirty="0">
                          <a:effectLst/>
                        </a:rPr>
                        <a:t> </a:t>
                      </a:r>
                      <a:endParaRPr lang="en-US" sz="900" b="0" i="0" u="none" strike="noStrike" dirty="0">
                        <a:solidFill>
                          <a:srgbClr val="000000"/>
                        </a:solidFill>
                        <a:effectLst/>
                        <a:latin typeface="Aptos Narrow" panose="020B0004020202020204" pitchFamily="34" charset="0"/>
                      </a:endParaRPr>
                    </a:p>
                  </a:txBody>
                  <a:tcPr marL="7236" marR="7236" marT="7236" marB="0" anchor="ctr"/>
                </a:tc>
                <a:extLst>
                  <a:ext uri="{0D108BD9-81ED-4DB2-BD59-A6C34878D82A}">
                    <a16:rowId xmlns:a16="http://schemas.microsoft.com/office/drawing/2014/main" val="3265811429"/>
                  </a:ext>
                </a:extLst>
              </a:tr>
            </a:tbl>
          </a:graphicData>
        </a:graphic>
      </p:graphicFrame>
      <p:pic>
        <p:nvPicPr>
          <p:cNvPr id="3" name="Picture 2" descr="A hand holding a small ring&#10;&#10;Description automatically generated">
            <a:extLst>
              <a:ext uri="{FF2B5EF4-FFF2-40B4-BE49-F238E27FC236}">
                <a16:creationId xmlns:a16="http://schemas.microsoft.com/office/drawing/2014/main" id="{4A9094B6-9C3E-AD59-75D4-99CCE3772990}"/>
              </a:ext>
            </a:extLst>
          </p:cNvPr>
          <p:cNvPicPr>
            <a:picLocks noChangeAspect="1"/>
          </p:cNvPicPr>
          <p:nvPr/>
        </p:nvPicPr>
        <p:blipFill>
          <a:blip r:embed="rId5"/>
          <a:srcRect l="38676" t="39562" r="37562" b="46034"/>
          <a:stretch/>
        </p:blipFill>
        <p:spPr>
          <a:xfrm>
            <a:off x="7649093" y="4771326"/>
            <a:ext cx="2467922" cy="1994646"/>
          </a:xfrm>
          <a:prstGeom prst="rect">
            <a:avLst/>
          </a:prstGeom>
        </p:spPr>
      </p:pic>
      <p:sp>
        <p:nvSpPr>
          <p:cNvPr id="5" name="TextBox 4">
            <a:extLst>
              <a:ext uri="{FF2B5EF4-FFF2-40B4-BE49-F238E27FC236}">
                <a16:creationId xmlns:a16="http://schemas.microsoft.com/office/drawing/2014/main" id="{98905FF1-8BED-E337-069D-16F1DC300F90}"/>
              </a:ext>
            </a:extLst>
          </p:cNvPr>
          <p:cNvSpPr txBox="1"/>
          <p:nvPr/>
        </p:nvSpPr>
        <p:spPr>
          <a:xfrm>
            <a:off x="7611138" y="4690995"/>
            <a:ext cx="1333686" cy="276999"/>
          </a:xfrm>
          <a:prstGeom prst="rect">
            <a:avLst/>
          </a:prstGeom>
          <a:solidFill>
            <a:schemeClr val="bg2"/>
          </a:solidFill>
        </p:spPr>
        <p:txBody>
          <a:bodyPr wrap="square" rtlCol="0">
            <a:spAutoFit/>
          </a:bodyPr>
          <a:lstStyle/>
          <a:p>
            <a:r>
              <a:rPr lang="en-US" sz="1200" dirty="0"/>
              <a:t>1-13 Batch User-2</a:t>
            </a:r>
          </a:p>
        </p:txBody>
      </p:sp>
      <p:pic>
        <p:nvPicPr>
          <p:cNvPr id="6" name="Picture 5" descr="A hand holding a couple of plugs&#10;&#10;Description automatically generated">
            <a:extLst>
              <a:ext uri="{FF2B5EF4-FFF2-40B4-BE49-F238E27FC236}">
                <a16:creationId xmlns:a16="http://schemas.microsoft.com/office/drawing/2014/main" id="{427234A3-6F63-FB5E-7922-A3BB77C08E87}"/>
              </a:ext>
            </a:extLst>
          </p:cNvPr>
          <p:cNvPicPr>
            <a:picLocks noChangeAspect="1"/>
          </p:cNvPicPr>
          <p:nvPr/>
        </p:nvPicPr>
        <p:blipFill>
          <a:blip r:embed="rId6"/>
          <a:srcRect l="35614" t="44952" r="38687" b="39660"/>
          <a:stretch/>
        </p:blipFill>
        <p:spPr>
          <a:xfrm>
            <a:off x="5105261" y="4783455"/>
            <a:ext cx="2467922" cy="1970387"/>
          </a:xfrm>
          <a:prstGeom prst="rect">
            <a:avLst/>
          </a:prstGeom>
        </p:spPr>
      </p:pic>
      <p:sp>
        <p:nvSpPr>
          <p:cNvPr id="10" name="TextBox 9">
            <a:extLst>
              <a:ext uri="{FF2B5EF4-FFF2-40B4-BE49-F238E27FC236}">
                <a16:creationId xmlns:a16="http://schemas.microsoft.com/office/drawing/2014/main" id="{3B631263-F12B-A3C4-BFA1-54B0D78748F9}"/>
              </a:ext>
            </a:extLst>
          </p:cNvPr>
          <p:cNvSpPr txBox="1"/>
          <p:nvPr/>
        </p:nvSpPr>
        <p:spPr>
          <a:xfrm>
            <a:off x="5105261" y="4752411"/>
            <a:ext cx="1340806" cy="276999"/>
          </a:xfrm>
          <a:prstGeom prst="rect">
            <a:avLst/>
          </a:prstGeom>
          <a:solidFill>
            <a:schemeClr val="bg2"/>
          </a:solidFill>
        </p:spPr>
        <p:txBody>
          <a:bodyPr wrap="square" rtlCol="0">
            <a:spAutoFit/>
          </a:bodyPr>
          <a:lstStyle/>
          <a:p>
            <a:r>
              <a:rPr lang="en-US" sz="1200" dirty="0"/>
              <a:t>1-13 Batch User-3</a:t>
            </a:r>
          </a:p>
        </p:txBody>
      </p:sp>
      <p:pic>
        <p:nvPicPr>
          <p:cNvPr id="12" name="Picture 11" descr="A black and gold cigarette lighter&#10;&#10;Description automatically generated">
            <a:extLst>
              <a:ext uri="{FF2B5EF4-FFF2-40B4-BE49-F238E27FC236}">
                <a16:creationId xmlns:a16="http://schemas.microsoft.com/office/drawing/2014/main" id="{AEFDCA5E-D4F8-EB3F-4756-2B38BE7ECBEA}"/>
              </a:ext>
            </a:extLst>
          </p:cNvPr>
          <p:cNvPicPr>
            <a:picLocks noChangeAspect="1"/>
          </p:cNvPicPr>
          <p:nvPr/>
        </p:nvPicPr>
        <p:blipFill>
          <a:blip r:embed="rId7"/>
          <a:srcRect l="35427" t="18911" r="37362" b="14558"/>
          <a:stretch/>
        </p:blipFill>
        <p:spPr>
          <a:xfrm>
            <a:off x="10277907" y="924566"/>
            <a:ext cx="1788122" cy="5829276"/>
          </a:xfrm>
          <a:prstGeom prst="rect">
            <a:avLst/>
          </a:prstGeom>
        </p:spPr>
      </p:pic>
      <p:sp>
        <p:nvSpPr>
          <p:cNvPr id="16" name="TextBox 15">
            <a:extLst>
              <a:ext uri="{FF2B5EF4-FFF2-40B4-BE49-F238E27FC236}">
                <a16:creationId xmlns:a16="http://schemas.microsoft.com/office/drawing/2014/main" id="{A46219B3-744C-1379-B333-8F4AD34435BE}"/>
              </a:ext>
            </a:extLst>
          </p:cNvPr>
          <p:cNvSpPr txBox="1"/>
          <p:nvPr/>
        </p:nvSpPr>
        <p:spPr>
          <a:xfrm>
            <a:off x="10277907" y="924566"/>
            <a:ext cx="1665838" cy="276999"/>
          </a:xfrm>
          <a:prstGeom prst="rect">
            <a:avLst/>
          </a:prstGeom>
          <a:solidFill>
            <a:schemeClr val="bg2"/>
          </a:solidFill>
        </p:spPr>
        <p:txBody>
          <a:bodyPr wrap="square" rtlCol="0">
            <a:spAutoFit/>
          </a:bodyPr>
          <a:lstStyle/>
          <a:p>
            <a:r>
              <a:rPr lang="en-US" sz="1200" dirty="0"/>
              <a:t>1-22 Batch User-5 Rosin</a:t>
            </a:r>
          </a:p>
        </p:txBody>
      </p:sp>
      <p:sp>
        <p:nvSpPr>
          <p:cNvPr id="7" name="TextBox 6">
            <a:extLst>
              <a:ext uri="{FF2B5EF4-FFF2-40B4-BE49-F238E27FC236}">
                <a16:creationId xmlns:a16="http://schemas.microsoft.com/office/drawing/2014/main" id="{378AC831-83ED-F4D5-10EF-10E339CF69C8}"/>
              </a:ext>
            </a:extLst>
          </p:cNvPr>
          <p:cNvSpPr txBox="1"/>
          <p:nvPr/>
        </p:nvSpPr>
        <p:spPr>
          <a:xfrm>
            <a:off x="307818" y="4890910"/>
            <a:ext cx="4797443" cy="1323439"/>
          </a:xfrm>
          <a:prstGeom prst="rect">
            <a:avLst/>
          </a:prstGeom>
          <a:noFill/>
        </p:spPr>
        <p:txBody>
          <a:bodyPr wrap="square" rtlCol="0">
            <a:normAutofit/>
          </a:bodyPr>
          <a:lstStyle/>
          <a:p>
            <a:r>
              <a:rPr lang="en-US" altLang="zh-CN" sz="1200"/>
              <a:t>Gembar user testing is promising. Only one failure to date, and it seems to be a pin connection issue. Compared to Gembox, the discoloration of shellac seems less obvious. Leakage was very small in user testing.</a:t>
            </a:r>
            <a:r>
              <a:rPr lang="zh-CN" altLang="en-US" sz="1600"/>
              <a:t/>
            </a:r>
            <a:r>
              <a:rPr lang="en-US" altLang="zh-CN" sz="1600"/>
              <a:t/>
            </a:r>
            <a:r>
              <a:rPr lang="zh-CN" altLang="en-US" sz="1600"/>
              <a:t/>
            </a:r>
            <a:r>
              <a:rPr lang="en-US" altLang="zh-CN" sz="1600"/>
              <a:t/>
            </a:r>
            <a:r>
              <a:rPr lang="zh-CN" altLang="en-US" sz="1600"/>
              <a:t/>
            </a:r>
            <a:r>
              <a:rPr lang="en-US" altLang="zh-CN" sz="1600"/>
              <a:t/>
            </a:r>
            <a:r>
              <a:rPr lang="zh-CN" altLang="en-US" sz="1600"/>
              <a:t/>
            </a:r>
            <a:endParaRPr lang="en-US" sz="1600" dirty="0"/>
            <a:br/>
            <a:r>
              <a:rPr lang="en-US" altLang="zh-CN" sz="1200"/>
              <a:t>Today we filled and distributed 3 extra new batches of samples.</a:t>
            </a:r>
          </a:p>
        </p:txBody>
      </p:sp>
    </p:spTree>
    <p:extLst>
      <p:ext uri="{BB962C8B-B14F-4D97-AF65-F5344CB8AC3E}">
        <p14:creationId xmlns:p14="http://schemas.microsoft.com/office/powerpoint/2010/main" val="6155520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9BF0C-F1CB-5062-16C1-509A86122559}"/>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E647C845-1B05-A51A-312A-344DCAD43C3E}"/>
              </a:ext>
            </a:extLst>
          </p:cNvPr>
          <p:cNvPicPr>
            <a:picLocks noChangeAspect="1"/>
          </p:cNvPicPr>
          <p:nvPr/>
        </p:nvPicPr>
        <p:blipFill>
          <a:blip r:embed="rId3" cstate="screen">
            <a:alphaModFix amt="60000"/>
            <a:extLst>
              <a:ext uri="{28A0092B-C50C-407E-A947-70E740481C1C}">
                <a14:useLocalDpi xmlns:a14="http://schemas.microsoft.com/office/drawing/2010/main"/>
              </a:ext>
            </a:extLst>
          </a:blip>
          <a:stretch>
            <a:fillRect/>
          </a:stretch>
        </p:blipFill>
        <p:spPr>
          <a:xfrm>
            <a:off x="-361" y="13947"/>
            <a:ext cx="12192361" cy="6857797"/>
          </a:xfrm>
          <a:prstGeom prst="rect">
            <a:avLst/>
          </a:prstGeom>
        </p:spPr>
      </p:pic>
      <p:pic>
        <p:nvPicPr>
          <p:cNvPr id="4" name="Picture 3">
            <a:extLst>
              <a:ext uri="{FF2B5EF4-FFF2-40B4-BE49-F238E27FC236}">
                <a16:creationId xmlns:a16="http://schemas.microsoft.com/office/drawing/2014/main" id="{8B029346-17E1-AF6E-0DB5-FD893FC3666D}"/>
              </a:ext>
            </a:extLst>
          </p:cNvPr>
          <p:cNvPicPr>
            <a:picLocks noChangeAspect="1"/>
          </p:cNvPicPr>
          <p:nvPr/>
        </p:nvPicPr>
        <p:blipFill>
          <a:blip r:embed="rId4"/>
          <a:stretch>
            <a:fillRect/>
          </a:stretch>
        </p:blipFill>
        <p:spPr>
          <a:xfrm>
            <a:off x="10201998" y="91033"/>
            <a:ext cx="1436172" cy="485446"/>
          </a:xfrm>
          <a:prstGeom prst="rect">
            <a:avLst/>
          </a:prstGeom>
        </p:spPr>
      </p:pic>
      <p:sp>
        <p:nvSpPr>
          <p:cNvPr id="14" name="矩形 4">
            <a:extLst>
              <a:ext uri="{FF2B5EF4-FFF2-40B4-BE49-F238E27FC236}">
                <a16:creationId xmlns:a16="http://schemas.microsoft.com/office/drawing/2014/main" id="{68AED0F7-3E97-E82B-B861-C8DDFBB6036F}"/>
              </a:ext>
            </a:extLst>
          </p:cNvPr>
          <p:cNvSpPr/>
          <p:nvPr/>
        </p:nvSpPr>
        <p:spPr>
          <a:xfrm>
            <a:off x="640080" y="146304"/>
            <a:ext cx="5839804" cy="523220"/>
          </a:xfrm>
          <a:prstGeom prst="rect">
            <a:avLst/>
          </a:prstGeom>
        </p:spPr>
        <p:txBody>
          <a:bodyPr wrap="none">
            <a:normAutofit/>
          </a:bodyPr>
          <a:lstStyle/>
          <a:p>
            <a:pPr lvl="0">
              <a:defRPr/>
            </a:pPr>
            <a:r>
              <a:rPr lang="en-US" altLang="zh-CN" sz="1600" dirty="0">
                <a:latin typeface="微软雅黑" panose="020B0503020204020204" pitchFamily="34" charset="-122"/>
                <a:ea typeface="微软雅黑" panose="020B0503020204020204" pitchFamily="34" charset="-122"/>
                <a:cs typeface="+mn-ea"/>
                <a:sym typeface="+mn-lt"/>
              </a:rPr>
              <a:t>Gembar 1-22 Large Peak Empty Height T Test Results</a:t>
            </a:r>
            <a:r>
              <a:rPr lang="zh-CN" altLang="en-US" sz="2800" dirty="0">
                <a:latin typeface="微软雅黑" panose="020B0503020204020204" pitchFamily="34" charset="-122"/>
                <a:ea typeface="微软雅黑" panose="020B0503020204020204" pitchFamily="34" charset="-122"/>
                <a:cs typeface="+mn-ea"/>
                <a:sym typeface="+mn-lt"/>
              </a:rPr>
              <a:t/>
            </a:r>
            <a:r>
              <a:rPr lang="en-US" altLang="zh-CN" sz="2800" dirty="0">
                <a:latin typeface="微软雅黑" panose="020B0503020204020204" pitchFamily="34" charset="-122"/>
                <a:ea typeface="微软雅黑" panose="020B0503020204020204" pitchFamily="34" charset="-122"/>
                <a:cs typeface="+mn-ea"/>
                <a:sym typeface="+mn-lt"/>
              </a:rPr>
              <a:t/>
            </a:r>
            <a:r>
              <a:rPr lang="zh-CN" altLang="en-US" sz="2800" dirty="0">
                <a:latin typeface="微软雅黑" panose="020B0503020204020204" pitchFamily="34" charset="-122"/>
                <a:ea typeface="微软雅黑" panose="020B0503020204020204" pitchFamily="34" charset="-122"/>
                <a:cs typeface="+mn-ea"/>
                <a:sym typeface="+mn-lt"/>
              </a:rPr>
              <a:t/>
            </a:r>
            <a:endParaRPr kumimoji="0" lang="zh-CN" altLang="en-US" sz="2800" i="0" u="none" strike="noStrike" kern="1200" cap="none" spc="0" normalizeH="0" baseline="0" noProof="0" dirty="0">
              <a:ln>
                <a:noFill/>
              </a:ln>
              <a:effectLst/>
              <a:uLnTx/>
              <a:uFillTx/>
              <a:latin typeface="Calibri" panose="020F0502020204030204"/>
              <a:ea typeface="宋体" panose="02010600030101010101" pitchFamily="2" charset="-122"/>
              <a:cs typeface="+mn-ea"/>
              <a:sym typeface="+mn-lt"/>
            </a:endParaRPr>
          </a:p>
        </p:txBody>
      </p:sp>
      <p:graphicFrame>
        <p:nvGraphicFramePr>
          <p:cNvPr id="17" name="Table 16">
            <a:extLst>
              <a:ext uri="{FF2B5EF4-FFF2-40B4-BE49-F238E27FC236}">
                <a16:creationId xmlns:a16="http://schemas.microsoft.com/office/drawing/2014/main" id="{F1EF7F3F-F086-E5B0-F5CB-74646EFB90BA}"/>
              </a:ext>
            </a:extLst>
          </p:cNvPr>
          <p:cNvGraphicFramePr>
            <a:graphicFrameLocks noGrp="1"/>
          </p:cNvGraphicFramePr>
          <p:nvPr/>
        </p:nvGraphicFramePr>
        <p:xfrm>
          <a:off x="347472" y="813816"/>
          <a:ext cx="5989320" cy="5897880"/>
        </p:xfrm>
        <a:graphic>
          <a:graphicData uri="http://schemas.openxmlformats.org/drawingml/2006/table">
            <a:tbl>
              <a:tblPr firstRow="1" bandRow="1">
                <a:tableStyleId>{5C22544A-7EE6-4342-B048-85BDC9FD1C3A}</a:tableStyleId>
              </a:tblPr>
              <a:tblGrid>
                <a:gridCol w="748665">
                  <a:extLst>
                    <a:ext uri="{9D8B030D-6E8A-4147-A177-3AD203B41FA5}">
                      <a16:colId xmlns:a16="http://schemas.microsoft.com/office/drawing/2014/main" val="20000"/>
                    </a:ext>
                  </a:extLst>
                </a:gridCol>
                <a:gridCol w="748665">
                  <a:extLst>
                    <a:ext uri="{9D8B030D-6E8A-4147-A177-3AD203B41FA5}">
                      <a16:colId xmlns:a16="http://schemas.microsoft.com/office/drawing/2014/main" val="20001"/>
                    </a:ext>
                  </a:extLst>
                </a:gridCol>
                <a:gridCol w="748665">
                  <a:extLst>
                    <a:ext uri="{9D8B030D-6E8A-4147-A177-3AD203B41FA5}">
                      <a16:colId xmlns:a16="http://schemas.microsoft.com/office/drawing/2014/main" val="20002"/>
                    </a:ext>
                  </a:extLst>
                </a:gridCol>
                <a:gridCol w="748665">
                  <a:extLst>
                    <a:ext uri="{9D8B030D-6E8A-4147-A177-3AD203B41FA5}">
                      <a16:colId xmlns:a16="http://schemas.microsoft.com/office/drawing/2014/main" val="20003"/>
                    </a:ext>
                  </a:extLst>
                </a:gridCol>
                <a:gridCol w="748665">
                  <a:extLst>
                    <a:ext uri="{9D8B030D-6E8A-4147-A177-3AD203B41FA5}">
                      <a16:colId xmlns:a16="http://schemas.microsoft.com/office/drawing/2014/main" val="20004"/>
                    </a:ext>
                  </a:extLst>
                </a:gridCol>
                <a:gridCol w="748665">
                  <a:extLst>
                    <a:ext uri="{9D8B030D-6E8A-4147-A177-3AD203B41FA5}">
                      <a16:colId xmlns:a16="http://schemas.microsoft.com/office/drawing/2014/main" val="20005"/>
                    </a:ext>
                  </a:extLst>
                </a:gridCol>
                <a:gridCol w="748665">
                  <a:extLst>
                    <a:ext uri="{9D8B030D-6E8A-4147-A177-3AD203B41FA5}">
                      <a16:colId xmlns:a16="http://schemas.microsoft.com/office/drawing/2014/main" val="20006"/>
                    </a:ext>
                  </a:extLst>
                </a:gridCol>
                <a:gridCol w="748665">
                  <a:extLst>
                    <a:ext uri="{9D8B030D-6E8A-4147-A177-3AD203B41FA5}">
                      <a16:colId xmlns:a16="http://schemas.microsoft.com/office/drawing/2014/main" val="20007"/>
                    </a:ext>
                  </a:extLst>
                </a:gridCol>
              </a:tblGrid>
              <a:tr h="982980">
                <a:tc>
                  <a:txBody>
                    <a:bodyPr/>
                    <a:lstStyle/>
                    <a:p>
                      <a:pPr algn="ctr"/>
                      <a:r>
                        <a:rPr lang="zh-CN" altLang="en-US" sz="1000" dirty="0"/>
                        <a:t>Design and Oil</a:t>
                      </a:r>
                      <a:endParaRPr sz="1000" dirty="0"/>
                    </a:p>
                  </a:txBody>
                  <a:tcPr anchor="ctr"/>
                </a:tc>
                <a:tc>
                  <a:txBody>
                    <a:bodyPr/>
                    <a:lstStyle/>
                    <a:p>
                      <a:pPr algn="ctr"/>
                      <a:r>
                        <a:rPr lang="zh-CN" altLang="en-US" sz="1000" dirty="0"/>
                        <a:t>Power</a:t>
                      </a:r>
                      <a:endParaRPr sz="1000" dirty="0"/>
                    </a:p>
                  </a:txBody>
                  <a:tcPr anchor="ctr"/>
                </a:tc>
                <a:tc>
                  <a:txBody>
                    <a:bodyPr/>
                    <a:lstStyle/>
                    <a:p>
                      <a:pPr algn="ctr"/>
                      <a:r>
                        <a:rPr lang="zh-CN" altLang="en-US" sz="1000" dirty="0"/>
                        <a:t>Resistance</a:t>
                      </a:r>
                      <a:endParaRPr sz="1000" dirty="0"/>
                    </a:p>
                  </a:txBody>
                  <a:tcPr anchor="ctr"/>
                </a:tc>
                <a:tc>
                  <a:txBody>
                    <a:bodyPr/>
                    <a:lstStyle/>
                    <a:p>
                      <a:pPr algn="ctr"/>
                      <a:r>
                        <a:rPr lang="zh-CN" altLang="en-US" sz="1000" dirty="0"/>
                        <a:t>Power</a:t>
                      </a:r>
                      <a:endParaRPr sz="1000" dirty="0"/>
                    </a:p>
                  </a:txBody>
                  <a:tcPr anchor="ctr"/>
                </a:tc>
                <a:tc>
                  <a:txBody>
                    <a:bodyPr/>
                    <a:lstStyle/>
                    <a:p>
                      <a:pPr algn="ctr"/>
                      <a:r>
                        <a:rPr lang="en-US" sz="1000" dirty="0"/>
                        <a:t>TPM (mg/puff) and Standard Deviation</a:t>
                      </a:r>
                      <a:r>
                        <a:rPr lang="zh-CN" altLang="en-US" sz="1000" dirty="0"/>
                        <a:t/>
                      </a:r>
                      <a:endParaRPr sz="1000" dirty="0"/>
                    </a:p>
                  </a:txBody>
                  <a:tcPr anchor="ctr"/>
                </a:tc>
                <a:tc>
                  <a:txBody>
                    <a:bodyPr/>
                    <a:lstStyle/>
                    <a:p>
                      <a:pPr algn="ctr"/>
                      <a:r>
                        <a:rPr lang="zh-CN" altLang="en-US" sz="1000" dirty="0"/>
                        <a:t>Suction Pressure (kPa)</a:t>
                      </a:r>
                      <a:r>
                        <a:rPr lang="en-US" altLang="zh-CN" sz="1000" dirty="0"/>
                        <a:t/>
                      </a:r>
                      <a:r>
                        <a:rPr lang="zh-CN" altLang="en-US" sz="1000" dirty="0"/>
                        <a:t/>
                      </a:r>
                      <a:endParaRPr sz="1000" dirty="0"/>
                    </a:p>
                  </a:txBody>
                  <a:tcPr anchor="ctr"/>
                </a:tc>
                <a:tc>
                  <a:txBody>
                    <a:bodyPr/>
                    <a:lstStyle/>
                    <a:p>
                      <a:pPr algn="ctr"/>
                      <a:r>
                        <a:rPr lang="en-US" sz="1000" dirty="0"/>
                        <a:t>SDR Results</a:t>
                      </a:r>
                      <a:r>
                        <a:rPr lang="zh-CN" altLang="en-US" sz="1000" dirty="0"/>
                        <a:t/>
                      </a:r>
                      <a:endParaRPr sz="1000" dirty="0"/>
                    </a:p>
                  </a:txBody>
                  <a:tcPr anchor="ctr"/>
                </a:tc>
                <a:tc>
                  <a:txBody>
                    <a:bodyPr/>
                    <a:lstStyle/>
                    <a:p>
                      <a:pPr algn="ctr"/>
                      <a:r>
                        <a:rPr lang="zh-CN" altLang="en-US" sz="1000" dirty="0"/>
                        <a:t>Notes</a:t>
                      </a:r>
                      <a:endParaRPr sz="1000" dirty="0"/>
                    </a:p>
                  </a:txBody>
                  <a:tcPr anchor="ctr"/>
                </a:tc>
                <a:extLst>
                  <a:ext uri="{0D108BD9-81ED-4DB2-BD59-A6C34878D82A}">
                    <a16:rowId xmlns:a16="http://schemas.microsoft.com/office/drawing/2014/main" val="10000"/>
                  </a:ext>
                </a:extLst>
              </a:tr>
              <a:tr h="982980">
                <a:tc>
                  <a:txBody>
                    <a:bodyPr/>
                    <a:lstStyle/>
                    <a:p>
                      <a:pPr algn="ctr"/>
                      <a:r>
                        <a:rPr sz="1000"/>
                        <a:t>Gembar BHHT-1 800kcp D8</a:t>
                      </a:r>
                    </a:p>
                  </a:txBody>
                  <a:tcPr anchor="ctr"/>
                </a:tc>
                <a:tc>
                  <a:txBody>
                    <a:bodyPr/>
                    <a:lstStyle/>
                    <a:p>
                      <a:pPr algn="ctr"/>
                      <a:r>
                        <a:rPr sz="1000" dirty="0"/>
                        <a:t>4.45W</a:t>
                      </a:r>
                    </a:p>
                  </a:txBody>
                  <a:tcPr anchor="ctr"/>
                </a:tc>
                <a:tc>
                  <a:txBody>
                    <a:bodyPr/>
                    <a:lstStyle/>
                    <a:p>
                      <a:pPr algn="ctr"/>
                      <a:r>
                        <a:rPr sz="1000"/>
                        <a:t>2.3</a:t>
                      </a:r>
                    </a:p>
                  </a:txBody>
                  <a:tcPr anchor="ctr"/>
                </a:tc>
                <a:tc>
                  <a:txBody>
                    <a:bodyPr/>
                    <a:lstStyle/>
                    <a:p>
                      <a:pPr algn="ctr"/>
                      <a:r>
                        <a:rPr sz="1000"/>
                        <a:t>60mL/3s/30s</a:t>
                      </a:r>
                    </a:p>
                  </a:txBody>
                  <a:tcPr anchor="ctr"/>
                </a:tc>
                <a:tc>
                  <a:txBody>
                    <a:bodyPr/>
                    <a:lstStyle/>
                    <a:p>
                      <a:pPr algn="ctr"/>
                      <a:r>
                        <a:rPr sz="1000"/>
                        <a:t>2.63, 0.49</a:t>
                      </a:r>
                    </a:p>
                  </a:txBody>
                  <a:tcPr anchor="ctr"/>
                </a:tc>
                <a:tc>
                  <a:txBody>
                    <a:bodyPr/>
                    <a:lstStyle/>
                    <a:p>
                      <a:pPr algn="ctr"/>
                      <a:r>
                        <a:rPr lang="en-US" sz="1000" dirty="0"/>
                        <a:t>0.464</a:t>
                      </a:r>
                      <a:endParaRPr sz="1000" dirty="0"/>
                    </a:p>
                  </a:txBody>
                  <a:tcPr anchor="ctr"/>
                </a:tc>
                <a:tc>
                  <a:txBody>
                    <a:bodyPr/>
                    <a:lstStyle/>
                    <a:p>
                      <a:pPr algn="ctr"/>
                      <a:r>
                        <a:rPr lang="en-US" sz="1000" dirty="0"/>
                        <a:t>Pass</a:t>
                      </a:r>
                      <a:endParaRPr sz="1000" dirty="0"/>
                    </a:p>
                  </a:txBody>
                  <a:tcPr anchor="ctr"/>
                </a:tc>
                <a:tc>
                  <a:txBody>
                    <a:bodyPr/>
                    <a:lstStyle/>
                    <a:p>
                      <a:pPr algn="ctr"/>
                      <a:r>
                        <a:rPr lang="zh-CN" altLang="en-US" sz="1000" dirty="0"/>
                        <a:t>No clogging</a:t>
                      </a:r>
                      <a:endParaRPr sz="1000" dirty="0"/>
                    </a:p>
                  </a:txBody>
                  <a:tcPr anchor="ctr"/>
                </a:tc>
                <a:extLst>
                  <a:ext uri="{0D108BD9-81ED-4DB2-BD59-A6C34878D82A}">
                    <a16:rowId xmlns:a16="http://schemas.microsoft.com/office/drawing/2014/main" val="10001"/>
                  </a:ext>
                </a:extLst>
              </a:tr>
              <a:tr h="982980">
                <a:tc>
                  <a:txBody>
                    <a:bodyPr/>
                    <a:lstStyle/>
                    <a:p>
                      <a:pPr algn="ctr"/>
                      <a:r>
                        <a:rPr sz="1000" dirty="0"/>
                        <a:t>Gembar BHHT-</a:t>
                      </a:r>
                      <a:r>
                        <a:rPr lang="en-US" sz="1000" dirty="0"/>
                        <a:t>2</a:t>
                      </a:r>
                      <a:r>
                        <a:rPr sz="1000" dirty="0"/>
                        <a:t> 800kcp D8</a:t>
                      </a:r>
                    </a:p>
                  </a:txBody>
                  <a:tcPr anchor="ctr"/>
                </a:tc>
                <a:tc>
                  <a:txBody>
                    <a:bodyPr/>
                    <a:lstStyle/>
                    <a:p>
                      <a:pPr algn="ctr"/>
                      <a:r>
                        <a:rPr sz="1000" dirty="0"/>
                        <a:t>4.45W</a:t>
                      </a:r>
                    </a:p>
                  </a:txBody>
                  <a:tcPr anchor="ctr"/>
                </a:tc>
                <a:tc>
                  <a:txBody>
                    <a:bodyPr/>
                    <a:lstStyle/>
                    <a:p>
                      <a:pPr algn="ctr"/>
                      <a:r>
                        <a:rPr sz="1000"/>
                        <a:t>2.3</a:t>
                      </a:r>
                    </a:p>
                  </a:txBody>
                  <a:tcPr anchor="ctr"/>
                </a:tc>
                <a:tc>
                  <a:txBody>
                    <a:bodyPr/>
                    <a:lstStyle/>
                    <a:p>
                      <a:pPr algn="ctr"/>
                      <a:r>
                        <a:rPr sz="1000"/>
                        <a:t>60mL/3s/30s</a:t>
                      </a:r>
                    </a:p>
                  </a:txBody>
                  <a:tcPr anchor="ctr"/>
                </a:tc>
                <a:tc>
                  <a:txBody>
                    <a:bodyPr/>
                    <a:lstStyle/>
                    <a:p>
                      <a:pPr algn="ctr"/>
                      <a:r>
                        <a:rPr sz="1000"/>
                        <a:t>3.07, 0.27</a:t>
                      </a:r>
                    </a:p>
                  </a:txBody>
                  <a:tcPr anchor="ctr"/>
                </a:tc>
                <a:tc>
                  <a:txBody>
                    <a:bodyPr/>
                    <a:lstStyle/>
                    <a:p>
                      <a:pPr algn="ctr"/>
                      <a:r>
                        <a:rPr lang="en-US" sz="1000" dirty="0"/>
                        <a:t>0.379</a:t>
                      </a:r>
                      <a:endParaRPr sz="1000" dirty="0"/>
                    </a:p>
                  </a:txBody>
                  <a:tcPr anchor="ctr"/>
                </a:tc>
                <a:tc>
                  <a:txBody>
                    <a:bodyPr/>
                    <a:lstStyle/>
                    <a:p>
                      <a:pPr algn="ctr"/>
                      <a:r>
                        <a:rPr lang="en-US" sz="1000" dirty="0"/>
                        <a:t>Tentative Pass</a:t>
                      </a:r>
                      <a:endParaRPr sz="1000" dirty="0"/>
                    </a:p>
                  </a:txBody>
                  <a:tcPr anchor="ctr"/>
                </a:tc>
                <a:tc>
                  <a:txBody>
                    <a:bodyPr/>
                    <a:lstStyle/>
                    <a:p>
                      <a:pPr algn="ctr"/>
                      <a:r>
                        <a:rPr lang="zh-CN" altLang="en-US" sz="1000" dirty="0"/>
                        <a:t>No clogging, low draw force</a:t>
                      </a:r>
                      <a:endParaRPr sz="1000" dirty="0"/>
                    </a:p>
                  </a:txBody>
                  <a:tcPr anchor="ctr"/>
                </a:tc>
                <a:extLst>
                  <a:ext uri="{0D108BD9-81ED-4DB2-BD59-A6C34878D82A}">
                    <a16:rowId xmlns:a16="http://schemas.microsoft.com/office/drawing/2014/main" val="10002"/>
                  </a:ext>
                </a:extLst>
              </a:tr>
              <a:tr h="982980">
                <a:tc>
                  <a:txBody>
                    <a:bodyPr/>
                    <a:lstStyle/>
                    <a:p>
                      <a:pPr algn="ctr"/>
                      <a:r>
                        <a:rPr sz="1000" dirty="0"/>
                        <a:t>Gembar BHHT-</a:t>
                      </a:r>
                      <a:r>
                        <a:rPr lang="en-US" sz="1000" dirty="0"/>
                        <a:t>3</a:t>
                      </a:r>
                      <a:r>
                        <a:rPr sz="1000" dirty="0"/>
                        <a:t> 800kcp D8</a:t>
                      </a:r>
                    </a:p>
                  </a:txBody>
                  <a:tcPr anchor="ctr"/>
                </a:tc>
                <a:tc>
                  <a:txBody>
                    <a:bodyPr/>
                    <a:lstStyle/>
                    <a:p>
                      <a:pPr algn="ctr"/>
                      <a:r>
                        <a:rPr sz="1000" dirty="0"/>
                        <a:t>4.45W</a:t>
                      </a:r>
                    </a:p>
                  </a:txBody>
                  <a:tcPr anchor="ctr"/>
                </a:tc>
                <a:tc>
                  <a:txBody>
                    <a:bodyPr/>
                    <a:lstStyle/>
                    <a:p>
                      <a:pPr algn="ctr"/>
                      <a:r>
                        <a:rPr sz="1000"/>
                        <a:t>2.3</a:t>
                      </a:r>
                    </a:p>
                  </a:txBody>
                  <a:tcPr anchor="ctr"/>
                </a:tc>
                <a:tc>
                  <a:txBody>
                    <a:bodyPr/>
                    <a:lstStyle/>
                    <a:p>
                      <a:pPr algn="ctr"/>
                      <a:r>
                        <a:rPr sz="1000"/>
                        <a:t>60mL/3s/30s</a:t>
                      </a:r>
                    </a:p>
                  </a:txBody>
                  <a:tcPr anchor="ctr"/>
                </a:tc>
                <a:tc>
                  <a:txBody>
                    <a:bodyPr/>
                    <a:lstStyle/>
                    <a:p>
                      <a:pPr algn="ctr"/>
                      <a:r>
                        <a:rPr sz="1000"/>
                        <a:t>2.2, 0.83</a:t>
                      </a:r>
                    </a:p>
                  </a:txBody>
                  <a:tcPr anchor="ctr"/>
                </a:tc>
                <a:tc>
                  <a:txBody>
                    <a:bodyPr/>
                    <a:lstStyle/>
                    <a:p>
                      <a:pPr algn="ctr"/>
                      <a:r>
                        <a:rPr lang="en-US" sz="1000" dirty="0"/>
                        <a:t>0.296</a:t>
                      </a:r>
                      <a:endParaRPr sz="1000" dirty="0"/>
                    </a:p>
                  </a:txBody>
                  <a:tcPr anchor="ctr"/>
                </a:tc>
                <a:tc>
                  <a:txBody>
                    <a:bodyPr/>
                    <a:lstStyle/>
                    <a:p>
                      <a:pPr algn="ctr"/>
                      <a:r>
                        <a:rPr lang="en-US" sz="1000" dirty="0"/>
                        <a:t>Tentative Pass</a:t>
                      </a:r>
                      <a:endParaRPr sz="1000" dirty="0"/>
                    </a:p>
                  </a:txBody>
                  <a:tcPr anchor="ctr"/>
                </a:tc>
                <a:tc>
                  <a:txBody>
                    <a:bodyPr/>
                    <a:lstStyle/>
                    <a:p>
                      <a:pPr algn="ctr"/>
                      <a:r>
                        <a:rPr lang="zh-CN" altLang="en-US" sz="1000" dirty="0"/>
                        <a:t>No clogging, low draw force</a:t>
                      </a:r>
                      <a:endParaRPr sz="1000" dirty="0"/>
                    </a:p>
                  </a:txBody>
                  <a:tcPr anchor="ctr"/>
                </a:tc>
                <a:extLst>
                  <a:ext uri="{0D108BD9-81ED-4DB2-BD59-A6C34878D82A}">
                    <a16:rowId xmlns:a16="http://schemas.microsoft.com/office/drawing/2014/main" val="10003"/>
                  </a:ext>
                </a:extLst>
              </a:tr>
              <a:tr h="982980">
                <a:tc>
                  <a:txBody>
                    <a:bodyPr/>
                    <a:lstStyle/>
                    <a:p>
                      <a:pPr algn="ctr"/>
                      <a:r>
                        <a:rPr sz="1000" dirty="0"/>
                        <a:t>Gembar BHHT-</a:t>
                      </a:r>
                      <a:r>
                        <a:rPr lang="en-US" sz="1000" dirty="0"/>
                        <a:t>4</a:t>
                      </a:r>
                      <a:r>
                        <a:rPr sz="1000" dirty="0"/>
                        <a:t> 800kcp D8</a:t>
                      </a:r>
                    </a:p>
                  </a:txBody>
                  <a:tcPr anchor="ctr"/>
                </a:tc>
                <a:tc>
                  <a:txBody>
                    <a:bodyPr/>
                    <a:lstStyle/>
                    <a:p>
                      <a:pPr algn="ctr"/>
                      <a:r>
                        <a:rPr sz="1000" dirty="0"/>
                        <a:t>4.45W</a:t>
                      </a:r>
                    </a:p>
                  </a:txBody>
                  <a:tcPr anchor="ctr"/>
                </a:tc>
                <a:tc>
                  <a:txBody>
                    <a:bodyPr/>
                    <a:lstStyle/>
                    <a:p>
                      <a:pPr algn="ctr"/>
                      <a:r>
                        <a:rPr sz="1000"/>
                        <a:t>2.3</a:t>
                      </a:r>
                    </a:p>
                  </a:txBody>
                  <a:tcPr anchor="ctr"/>
                </a:tc>
                <a:tc>
                  <a:txBody>
                    <a:bodyPr/>
                    <a:lstStyle/>
                    <a:p>
                      <a:pPr algn="ctr"/>
                      <a:r>
                        <a:rPr sz="1000"/>
                        <a:t>60mL/3s/30s</a:t>
                      </a:r>
                    </a:p>
                  </a:txBody>
                  <a:tcPr anchor="ctr"/>
                </a:tc>
                <a:tc>
                  <a:txBody>
                    <a:bodyPr/>
                    <a:lstStyle/>
                    <a:p>
                      <a:pPr algn="ctr"/>
                      <a:r>
                        <a:rPr sz="1000"/>
                        <a:t>2.36, 0.1</a:t>
                      </a:r>
                    </a:p>
                  </a:txBody>
                  <a:tcPr anchor="ctr"/>
                </a:tc>
                <a:tc>
                  <a:txBody>
                    <a:bodyPr/>
                    <a:lstStyle/>
                    <a:p>
                      <a:pPr algn="ctr"/>
                      <a:r>
                        <a:rPr lang="en-US" sz="1000" dirty="0"/>
                        <a:t>0.692</a:t>
                      </a:r>
                      <a:endParaRPr sz="1000" dirty="0"/>
                    </a:p>
                  </a:txBody>
                  <a:tcPr anchor="ctr"/>
                </a:tc>
                <a:tc>
                  <a:txBody>
                    <a:bodyPr/>
                    <a:lstStyle/>
                    <a:p>
                      <a:pPr algn="ctr"/>
                      <a:r>
                        <a:rPr lang="en-US" sz="1000" dirty="0"/>
                        <a:t>Pass</a:t>
                      </a:r>
                      <a:endParaRPr sz="1000" dirty="0"/>
                    </a:p>
                  </a:txBody>
                  <a:tcPr anchor="ctr"/>
                </a:tc>
                <a:tc>
                  <a:txBody>
                    <a:bodyPr/>
                    <a:lstStyle/>
                    <a:p>
                      <a:pPr algn="ctr"/>
                      <a:r>
                        <a:rPr lang="zh-CN" altLang="en-US" sz="1000" dirty="0"/>
                        <a:t>No clogging</a:t>
                      </a:r>
                      <a:endParaRPr sz="1000" dirty="0"/>
                    </a:p>
                  </a:txBody>
                  <a:tcPr anchor="ctr"/>
                </a:tc>
                <a:extLst>
                  <a:ext uri="{0D108BD9-81ED-4DB2-BD59-A6C34878D82A}">
                    <a16:rowId xmlns:a16="http://schemas.microsoft.com/office/drawing/2014/main" val="10004"/>
                  </a:ext>
                </a:extLst>
              </a:tr>
              <a:tr h="982980">
                <a:tc>
                  <a:txBody>
                    <a:bodyPr/>
                    <a:lstStyle/>
                    <a:p>
                      <a:pPr algn="ctr"/>
                      <a:r>
                        <a:rPr sz="1000"/>
                        <a:t>Gembar BHHT-</a:t>
                      </a:r>
                      <a:r>
                        <a:rPr lang="en-US" sz="1000"/>
                        <a:t>5</a:t>
                      </a:r>
                      <a:r>
                        <a:rPr sz="1000"/>
                        <a:t> </a:t>
                      </a:r>
                      <a:r>
                        <a:rPr sz="1000" dirty="0"/>
                        <a:t>800kcp D8</a:t>
                      </a:r>
                    </a:p>
                  </a:txBody>
                  <a:tcPr anchor="ctr"/>
                </a:tc>
                <a:tc>
                  <a:txBody>
                    <a:bodyPr/>
                    <a:lstStyle/>
                    <a:p>
                      <a:pPr algn="ctr"/>
                      <a:r>
                        <a:rPr lang="en-US" sz="1000" dirty="0"/>
                        <a:t>4.45</a:t>
                      </a:r>
                      <a:r>
                        <a:rPr sz="1000" dirty="0"/>
                        <a:t>W</a:t>
                      </a:r>
                    </a:p>
                  </a:txBody>
                  <a:tcPr anchor="ctr"/>
                </a:tc>
                <a:tc>
                  <a:txBody>
                    <a:bodyPr/>
                    <a:lstStyle/>
                    <a:p>
                      <a:pPr algn="ctr"/>
                      <a:r>
                        <a:rPr sz="1000"/>
                        <a:t>2.3</a:t>
                      </a:r>
                    </a:p>
                  </a:txBody>
                  <a:tcPr anchor="ctr"/>
                </a:tc>
                <a:tc>
                  <a:txBody>
                    <a:bodyPr/>
                    <a:lstStyle/>
                    <a:p>
                      <a:pPr algn="ctr"/>
                      <a:r>
                        <a:rPr sz="1000"/>
                        <a:t>60mL/3s/30s</a:t>
                      </a:r>
                    </a:p>
                  </a:txBody>
                  <a:tcPr anchor="ctr"/>
                </a:tc>
                <a:tc>
                  <a:txBody>
                    <a:bodyPr/>
                    <a:lstStyle/>
                    <a:p>
                      <a:pPr algn="ctr"/>
                      <a:r>
                        <a:rPr lang="en-US" sz="1000" dirty="0"/>
                        <a:t>0,0</a:t>
                      </a:r>
                      <a:endParaRPr sz="1000" dirty="0"/>
                    </a:p>
                  </a:txBody>
                  <a:tcPr anchor="ctr"/>
                </a:tc>
                <a:tc>
                  <a:txBody>
                    <a:bodyPr/>
                    <a:lstStyle/>
                    <a:p>
                      <a:pPr algn="ctr"/>
                      <a:r>
                        <a:rPr lang="en-US" sz="1000" dirty="0"/>
                        <a:t>0.382</a:t>
                      </a:r>
                      <a:endParaRPr sz="1000" dirty="0"/>
                    </a:p>
                  </a:txBody>
                  <a:tcPr anchor="ctr"/>
                </a:tc>
                <a:tc>
                  <a:txBody>
                    <a:bodyPr/>
                    <a:lstStyle/>
                    <a:p>
                      <a:pPr algn="ctr"/>
                      <a:r>
                        <a:rPr lang="en-US" sz="1000" dirty="0">
                          <a:solidFill>
                            <a:srgbClr val="FF0000"/>
                          </a:solidFill>
                        </a:rPr>
                        <a:t>Fail</a:t>
                      </a:r>
                      <a:endParaRPr sz="1000" dirty="0">
                        <a:solidFill>
                          <a:srgbClr val="FF0000"/>
                        </a:solidFill>
                      </a:endParaRPr>
                    </a:p>
                  </a:txBody>
                  <a:tcPr anchor="ctr"/>
                </a:tc>
                <a:tc>
                  <a:txBody>
                    <a:bodyPr/>
                    <a:lstStyle/>
                    <a:p>
                      <a:pPr algn="ctr"/>
                      <a:r>
                        <a:rPr lang="zh-CN" altLang="en-US" sz="1000" dirty="0"/>
                        <a:t>No clogging, no activation</a:t>
                      </a:r>
                      <a:endParaRPr sz="1000" dirty="0"/>
                    </a:p>
                  </a:txBody>
                  <a:tcPr anchor="ctr"/>
                </a:tc>
                <a:extLst>
                  <a:ext uri="{0D108BD9-81ED-4DB2-BD59-A6C34878D82A}">
                    <a16:rowId xmlns:a16="http://schemas.microsoft.com/office/drawing/2014/main" val="10005"/>
                  </a:ext>
                </a:extLst>
              </a:tr>
            </a:tbl>
          </a:graphicData>
        </a:graphic>
      </p:graphicFrame>
      <p:pic>
        <p:nvPicPr>
          <p:cNvPr id="18" name="Picture 17" descr="TPM_overlay.png">
            <a:extLst>
              <a:ext uri="{FF2B5EF4-FFF2-40B4-BE49-F238E27FC236}">
                <a16:creationId xmlns:a16="http://schemas.microsoft.com/office/drawing/2014/main" id="{370470C9-63F0-CAA4-2E77-B3125E174309}"/>
              </a:ext>
            </a:extLst>
          </p:cNvPr>
          <p:cNvPicPr>
            <a:picLocks noChangeAspect="1"/>
          </p:cNvPicPr>
          <p:nvPr/>
        </p:nvPicPr>
        <p:blipFill>
          <a:blip r:embed="rId5"/>
          <a:stretch>
            <a:fillRect/>
          </a:stretch>
        </p:blipFill>
        <p:spPr>
          <a:xfrm>
            <a:off x="6336792" y="685800"/>
            <a:ext cx="2980944" cy="2980944"/>
          </a:xfrm>
          <a:prstGeom prst="rect">
            <a:avLst/>
          </a:prstGeom>
        </p:spPr>
      </p:pic>
      <p:pic>
        <p:nvPicPr>
          <p:cNvPr id="19" name="Picture 18" descr="TPM_bar.png">
            <a:extLst>
              <a:ext uri="{FF2B5EF4-FFF2-40B4-BE49-F238E27FC236}">
                <a16:creationId xmlns:a16="http://schemas.microsoft.com/office/drawing/2014/main" id="{5B2D5962-A705-2420-CE28-D56C95B8CF48}"/>
              </a:ext>
            </a:extLst>
          </p:cNvPr>
          <p:cNvPicPr>
            <a:picLocks noChangeAspect="1"/>
          </p:cNvPicPr>
          <p:nvPr/>
        </p:nvPicPr>
        <p:blipFill>
          <a:blip r:embed="rId6"/>
          <a:stretch>
            <a:fillRect/>
          </a:stretch>
        </p:blipFill>
        <p:spPr>
          <a:xfrm>
            <a:off x="9125712" y="667512"/>
            <a:ext cx="2980944" cy="2980944"/>
          </a:xfrm>
          <a:prstGeom prst="rect">
            <a:avLst/>
          </a:prstGeom>
        </p:spPr>
      </p:pic>
      <p:pic>
        <p:nvPicPr>
          <p:cNvPr id="8" name="Picture 7" descr="A close-up of a device&#10;&#10;Description automatically generated">
            <a:extLst>
              <a:ext uri="{FF2B5EF4-FFF2-40B4-BE49-F238E27FC236}">
                <a16:creationId xmlns:a16="http://schemas.microsoft.com/office/drawing/2014/main" id="{1164A70A-F806-6EBE-9FDD-64EC62C0C63E}"/>
              </a:ext>
            </a:extLst>
          </p:cNvPr>
          <p:cNvPicPr>
            <a:picLocks noChangeAspect="1"/>
          </p:cNvPicPr>
          <p:nvPr/>
        </p:nvPicPr>
        <p:blipFill>
          <a:blip r:embed="rId7"/>
          <a:stretch>
            <a:fillRect/>
          </a:stretch>
        </p:blipFill>
        <p:spPr>
          <a:xfrm rot="16200000">
            <a:off x="6284063" y="4047898"/>
            <a:ext cx="3195548" cy="2396661"/>
          </a:xfrm>
          <a:prstGeom prst="rect">
            <a:avLst/>
          </a:prstGeom>
        </p:spPr>
      </p:pic>
      <p:pic>
        <p:nvPicPr>
          <p:cNvPr id="11" name="Picture 10" descr="Close-up of a black plastic box with a gold and silver connector&#10;&#10;Description automatically generated">
            <a:extLst>
              <a:ext uri="{FF2B5EF4-FFF2-40B4-BE49-F238E27FC236}">
                <a16:creationId xmlns:a16="http://schemas.microsoft.com/office/drawing/2014/main" id="{03E03099-6EDA-F986-D181-A583C46D2BFD}"/>
              </a:ext>
            </a:extLst>
          </p:cNvPr>
          <p:cNvPicPr>
            <a:picLocks noChangeAspect="1"/>
          </p:cNvPicPr>
          <p:nvPr/>
        </p:nvPicPr>
        <p:blipFill>
          <a:blip r:embed="rId8"/>
          <a:stretch>
            <a:fillRect/>
          </a:stretch>
        </p:blipFill>
        <p:spPr>
          <a:xfrm rot="16200000">
            <a:off x="9048423" y="4047897"/>
            <a:ext cx="3195549" cy="2396662"/>
          </a:xfrm>
          <a:prstGeom prst="rect">
            <a:avLst/>
          </a:prstGeom>
        </p:spPr>
      </p:pic>
      <p:cxnSp>
        <p:nvCxnSpPr>
          <p:cNvPr id="13" name="Straight Arrow Connector 12">
            <a:extLst>
              <a:ext uri="{FF2B5EF4-FFF2-40B4-BE49-F238E27FC236}">
                <a16:creationId xmlns:a16="http://schemas.microsoft.com/office/drawing/2014/main" id="{EC058FC3-C885-50B4-C61E-AAAB8A543183}"/>
              </a:ext>
            </a:extLst>
          </p:cNvPr>
          <p:cNvCxnSpPr/>
          <p:nvPr/>
        </p:nvCxnSpPr>
        <p:spPr>
          <a:xfrm>
            <a:off x="6251448" y="3429000"/>
            <a:ext cx="281473" cy="55517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0CCC221C-E33E-FBC9-C239-22C62DC4BA44}"/>
              </a:ext>
            </a:extLst>
          </p:cNvPr>
          <p:cNvCxnSpPr>
            <a:cxnSpLocks/>
          </p:cNvCxnSpPr>
          <p:nvPr/>
        </p:nvCxnSpPr>
        <p:spPr>
          <a:xfrm>
            <a:off x="6336792" y="3375425"/>
            <a:ext cx="3327658" cy="110604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42088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0455C7-E52A-B555-5D12-0C803CB0D095}"/>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1B9D74E9-FEC7-9C17-889A-A887488210D1}"/>
              </a:ext>
            </a:extLst>
          </p:cNvPr>
          <p:cNvPicPr>
            <a:picLocks noChangeAspect="1"/>
          </p:cNvPicPr>
          <p:nvPr/>
        </p:nvPicPr>
        <p:blipFill>
          <a:blip r:embed="rId3" cstate="screen">
            <a:alphaModFix amt="60000"/>
            <a:extLst>
              <a:ext uri="{28A0092B-C50C-407E-A947-70E740481C1C}">
                <a14:useLocalDpi xmlns:a14="http://schemas.microsoft.com/office/drawing/2010/main"/>
              </a:ext>
            </a:extLst>
          </a:blip>
          <a:stretch>
            <a:fillRect/>
          </a:stretch>
        </p:blipFill>
        <p:spPr>
          <a:xfrm>
            <a:off x="-361" y="13947"/>
            <a:ext cx="12192361" cy="6857797"/>
          </a:xfrm>
          <a:prstGeom prst="rect">
            <a:avLst/>
          </a:prstGeom>
        </p:spPr>
      </p:pic>
      <p:pic>
        <p:nvPicPr>
          <p:cNvPr id="4" name="Picture 3">
            <a:extLst>
              <a:ext uri="{FF2B5EF4-FFF2-40B4-BE49-F238E27FC236}">
                <a16:creationId xmlns:a16="http://schemas.microsoft.com/office/drawing/2014/main" id="{4F1C77AD-824D-7731-ECDA-8BE108DD241B}"/>
              </a:ext>
            </a:extLst>
          </p:cNvPr>
          <p:cNvPicPr>
            <a:picLocks noChangeAspect="1"/>
          </p:cNvPicPr>
          <p:nvPr/>
        </p:nvPicPr>
        <p:blipFill>
          <a:blip r:embed="rId4"/>
          <a:stretch>
            <a:fillRect/>
          </a:stretch>
        </p:blipFill>
        <p:spPr>
          <a:xfrm>
            <a:off x="10201998" y="91033"/>
            <a:ext cx="1436172" cy="485446"/>
          </a:xfrm>
          <a:prstGeom prst="rect">
            <a:avLst/>
          </a:prstGeom>
        </p:spPr>
      </p:pic>
      <p:sp>
        <p:nvSpPr>
          <p:cNvPr id="2" name="矩形 4">
            <a:extLst>
              <a:ext uri="{FF2B5EF4-FFF2-40B4-BE49-F238E27FC236}">
                <a16:creationId xmlns:a16="http://schemas.microsoft.com/office/drawing/2014/main" id="{FC488F8C-00AC-CCF6-A1FC-947FB75F96D2}"/>
              </a:ext>
            </a:extLst>
          </p:cNvPr>
          <p:cNvSpPr/>
          <p:nvPr/>
        </p:nvSpPr>
        <p:spPr>
          <a:xfrm>
            <a:off x="640080" y="146304"/>
            <a:ext cx="5344733" cy="523220"/>
          </a:xfrm>
          <a:prstGeom prst="rect">
            <a:avLst/>
          </a:prstGeom>
        </p:spPr>
        <p:txBody>
          <a:bodyPr wrap="none">
            <a:spAutoFit/>
          </a:bodyPr>
          <a:lstStyle/>
          <a:p>
            <a:pPr lvl="0">
              <a:defRPr/>
            </a:pPr>
            <a:r>
              <a:rPr lang="en-US" altLang="zh-CN" sz="2800" dirty="0">
                <a:latin typeface="微软雅黑" panose="020B0503020204020204" pitchFamily="34" charset="-122"/>
                <a:ea typeface="微软雅黑" panose="020B0503020204020204" pitchFamily="34" charset="-122"/>
                <a:cs typeface="+mn-ea"/>
                <a:sym typeface="+mn-lt"/>
              </a:rPr>
              <a:t>Gembar 1-22 Intense </a:t>
            </a:r>
            <a:r>
              <a:rPr lang="zh-CN" altLang="en-US" sz="2800" dirty="0">
                <a:latin typeface="微软雅黑" panose="020B0503020204020204" pitchFamily="34" charset="-122"/>
                <a:ea typeface="微软雅黑" panose="020B0503020204020204" pitchFamily="34" charset="-122"/>
                <a:cs typeface="+mn-ea"/>
                <a:sym typeface="+mn-lt"/>
              </a:rPr>
              <a:t>测试结果</a:t>
            </a:r>
            <a:endParaRPr kumimoji="0" lang="zh-CN" altLang="en-US" sz="2800" i="0" u="none" strike="noStrike" kern="1200" cap="none" spc="0" normalizeH="0" baseline="0" noProof="0" dirty="0">
              <a:ln>
                <a:noFill/>
              </a:ln>
              <a:effectLst/>
              <a:uLnTx/>
              <a:uFillTx/>
              <a:latin typeface="Calibri" panose="020F0502020204030204"/>
              <a:ea typeface="宋体" panose="02010600030101010101" pitchFamily="2" charset="-122"/>
              <a:cs typeface="+mn-ea"/>
              <a:sym typeface="+mn-lt"/>
            </a:endParaRPr>
          </a:p>
        </p:txBody>
      </p:sp>
      <p:graphicFrame>
        <p:nvGraphicFramePr>
          <p:cNvPr id="3" name="Table 2">
            <a:extLst>
              <a:ext uri="{FF2B5EF4-FFF2-40B4-BE49-F238E27FC236}">
                <a16:creationId xmlns:a16="http://schemas.microsoft.com/office/drawing/2014/main" id="{AAC10EF7-1926-14F8-AC22-91C6F81A56CD}"/>
              </a:ext>
            </a:extLst>
          </p:cNvPr>
          <p:cNvGraphicFramePr>
            <a:graphicFrameLocks noGrp="1"/>
          </p:cNvGraphicFramePr>
          <p:nvPr/>
        </p:nvGraphicFramePr>
        <p:xfrm>
          <a:off x="347472" y="813816"/>
          <a:ext cx="5989320" cy="5897880"/>
        </p:xfrm>
        <a:graphic>
          <a:graphicData uri="http://schemas.openxmlformats.org/drawingml/2006/table">
            <a:tbl>
              <a:tblPr firstRow="1" bandRow="1">
                <a:tableStyleId>{5C22544A-7EE6-4342-B048-85BDC9FD1C3A}</a:tableStyleId>
              </a:tblPr>
              <a:tblGrid>
                <a:gridCol w="748665">
                  <a:extLst>
                    <a:ext uri="{9D8B030D-6E8A-4147-A177-3AD203B41FA5}">
                      <a16:colId xmlns:a16="http://schemas.microsoft.com/office/drawing/2014/main" val="20000"/>
                    </a:ext>
                  </a:extLst>
                </a:gridCol>
                <a:gridCol w="748665">
                  <a:extLst>
                    <a:ext uri="{9D8B030D-6E8A-4147-A177-3AD203B41FA5}">
                      <a16:colId xmlns:a16="http://schemas.microsoft.com/office/drawing/2014/main" val="20001"/>
                    </a:ext>
                  </a:extLst>
                </a:gridCol>
                <a:gridCol w="748665">
                  <a:extLst>
                    <a:ext uri="{9D8B030D-6E8A-4147-A177-3AD203B41FA5}">
                      <a16:colId xmlns:a16="http://schemas.microsoft.com/office/drawing/2014/main" val="20002"/>
                    </a:ext>
                  </a:extLst>
                </a:gridCol>
                <a:gridCol w="748665">
                  <a:extLst>
                    <a:ext uri="{9D8B030D-6E8A-4147-A177-3AD203B41FA5}">
                      <a16:colId xmlns:a16="http://schemas.microsoft.com/office/drawing/2014/main" val="20003"/>
                    </a:ext>
                  </a:extLst>
                </a:gridCol>
                <a:gridCol w="748665">
                  <a:extLst>
                    <a:ext uri="{9D8B030D-6E8A-4147-A177-3AD203B41FA5}">
                      <a16:colId xmlns:a16="http://schemas.microsoft.com/office/drawing/2014/main" val="20004"/>
                    </a:ext>
                  </a:extLst>
                </a:gridCol>
                <a:gridCol w="748665">
                  <a:extLst>
                    <a:ext uri="{9D8B030D-6E8A-4147-A177-3AD203B41FA5}">
                      <a16:colId xmlns:a16="http://schemas.microsoft.com/office/drawing/2014/main" val="20005"/>
                    </a:ext>
                  </a:extLst>
                </a:gridCol>
                <a:gridCol w="684260">
                  <a:extLst>
                    <a:ext uri="{9D8B030D-6E8A-4147-A177-3AD203B41FA5}">
                      <a16:colId xmlns:a16="http://schemas.microsoft.com/office/drawing/2014/main" val="20006"/>
                    </a:ext>
                  </a:extLst>
                </a:gridCol>
                <a:gridCol w="813070">
                  <a:extLst>
                    <a:ext uri="{9D8B030D-6E8A-4147-A177-3AD203B41FA5}">
                      <a16:colId xmlns:a16="http://schemas.microsoft.com/office/drawing/2014/main" val="20007"/>
                    </a:ext>
                  </a:extLst>
                </a:gridCol>
              </a:tblGrid>
              <a:tr h="982980">
                <a:tc>
                  <a:txBody>
                    <a:bodyPr/>
                    <a:lstStyle/>
                    <a:p>
                      <a:pPr algn="ctr"/>
                      <a:r>
                        <a:rPr sz="1000"/>
                        <a:t>Design and Oil</a:t>
                      </a:r>
                    </a:p>
                  </a:txBody>
                  <a:tcPr anchor="ctr"/>
                </a:tc>
                <a:tc>
                  <a:txBody>
                    <a:bodyPr/>
                    <a:lstStyle/>
                    <a:p>
                      <a:pPr algn="ctr"/>
                      <a:r>
                        <a:rPr sz="1000"/>
                        <a:t>Power</a:t>
                      </a:r>
                    </a:p>
                  </a:txBody>
                  <a:tcPr anchor="ctr"/>
                </a:tc>
                <a:tc>
                  <a:txBody>
                    <a:bodyPr/>
                    <a:lstStyle/>
                    <a:p>
                      <a:pPr algn="ctr"/>
                      <a:r>
                        <a:rPr sz="1000"/>
                        <a:t>Resistance</a:t>
                      </a:r>
                    </a:p>
                  </a:txBody>
                  <a:tcPr anchor="ctr"/>
                </a:tc>
                <a:tc>
                  <a:txBody>
                    <a:bodyPr/>
                    <a:lstStyle/>
                    <a:p>
                      <a:pPr algn="ctr"/>
                      <a:r>
                        <a:rPr sz="1000"/>
                        <a:t>Regime</a:t>
                      </a:r>
                    </a:p>
                  </a:txBody>
                  <a:tcPr anchor="ctr"/>
                </a:tc>
                <a:tc>
                  <a:txBody>
                    <a:bodyPr/>
                    <a:lstStyle/>
                    <a:p>
                      <a:pPr algn="ctr"/>
                      <a:r>
                        <a:rPr sz="1000"/>
                        <a:t>TPM (mg/puff) and Standard Deviation</a:t>
                      </a:r>
                    </a:p>
                  </a:txBody>
                  <a:tcPr anchor="ctr"/>
                </a:tc>
                <a:tc>
                  <a:txBody>
                    <a:bodyPr/>
                    <a:lstStyle/>
                    <a:p>
                      <a:pPr algn="ctr"/>
                      <a:r>
                        <a:rPr sz="1000" dirty="0"/>
                        <a:t>Usage Efficiency (%)</a:t>
                      </a:r>
                    </a:p>
                  </a:txBody>
                  <a:tcPr anchor="ctr"/>
                </a:tc>
                <a:tc>
                  <a:txBody>
                    <a:bodyPr/>
                    <a:lstStyle/>
                    <a:p>
                      <a:pPr algn="ctr"/>
                      <a:r>
                        <a:rPr sz="1000"/>
                        <a:t>SDR Result</a:t>
                      </a:r>
                    </a:p>
                  </a:txBody>
                  <a:tcPr anchor="ctr"/>
                </a:tc>
                <a:tc>
                  <a:txBody>
                    <a:bodyPr/>
                    <a:lstStyle/>
                    <a:p>
                      <a:pPr algn="ctr"/>
                      <a:r>
                        <a:rPr sz="1000" dirty="0"/>
                        <a:t>Notes</a:t>
                      </a:r>
                    </a:p>
                  </a:txBody>
                  <a:tcPr anchor="ctr"/>
                </a:tc>
                <a:extLst>
                  <a:ext uri="{0D108BD9-81ED-4DB2-BD59-A6C34878D82A}">
                    <a16:rowId xmlns:a16="http://schemas.microsoft.com/office/drawing/2014/main" val="10000"/>
                  </a:ext>
                </a:extLst>
              </a:tr>
              <a:tr h="982980">
                <a:tc>
                  <a:txBody>
                    <a:bodyPr/>
                    <a:lstStyle/>
                    <a:p>
                      <a:pPr algn="ctr"/>
                      <a:r>
                        <a:rPr sz="1000"/>
                        <a:t>Gembar Intense-1 800kcp D8</a:t>
                      </a:r>
                    </a:p>
                  </a:txBody>
                  <a:tcPr anchor="ctr"/>
                </a:tc>
                <a:tc>
                  <a:txBody>
                    <a:bodyPr/>
                    <a:lstStyle/>
                    <a:p>
                      <a:pPr algn="ctr"/>
                      <a:r>
                        <a:rPr sz="1000" dirty="0"/>
                        <a:t>4.45W</a:t>
                      </a:r>
                    </a:p>
                  </a:txBody>
                  <a:tcPr anchor="ctr"/>
                </a:tc>
                <a:tc>
                  <a:txBody>
                    <a:bodyPr/>
                    <a:lstStyle/>
                    <a:p>
                      <a:pPr algn="ctr"/>
                      <a:r>
                        <a:rPr sz="1000" dirty="0"/>
                        <a:t>2.3</a:t>
                      </a:r>
                    </a:p>
                  </a:txBody>
                  <a:tcPr anchor="ctr"/>
                </a:tc>
                <a:tc>
                  <a:txBody>
                    <a:bodyPr/>
                    <a:lstStyle/>
                    <a:p>
                      <a:pPr algn="ctr"/>
                      <a:r>
                        <a:rPr sz="1000" dirty="0"/>
                        <a:t>200mL/3s/30s</a:t>
                      </a:r>
                    </a:p>
                  </a:txBody>
                  <a:tcPr anchor="ctr"/>
                </a:tc>
                <a:tc>
                  <a:txBody>
                    <a:bodyPr/>
                    <a:lstStyle/>
                    <a:p>
                      <a:pPr algn="ctr"/>
                      <a:r>
                        <a:rPr sz="1000"/>
                        <a:t>3.38, 0.91</a:t>
                      </a:r>
                    </a:p>
                  </a:txBody>
                  <a:tcPr anchor="ctr"/>
                </a:tc>
                <a:tc>
                  <a:txBody>
                    <a:bodyPr/>
                    <a:lstStyle/>
                    <a:p>
                      <a:pPr algn="ctr"/>
                      <a:r>
                        <a:rPr sz="1000" dirty="0"/>
                        <a:t>79.0%</a:t>
                      </a:r>
                    </a:p>
                  </a:txBody>
                  <a:tcPr anchor="ctr"/>
                </a:tc>
                <a:tc>
                  <a:txBody>
                    <a:bodyPr/>
                    <a:lstStyle/>
                    <a:p>
                      <a:pPr algn="ctr"/>
                      <a:r>
                        <a:rPr lang="en-US" sz="1000" dirty="0"/>
                        <a:t>Pass</a:t>
                      </a:r>
                      <a:endParaRPr sz="1000" dirty="0"/>
                    </a:p>
                  </a:txBody>
                  <a:tcPr anchor="ctr"/>
                </a:tc>
                <a:tc>
                  <a:txBody>
                    <a:bodyPr>
                      <a:normAutofit/>
                    </a:bodyPr>
                    <a:lstStyle/>
                    <a:p>
                      <a:pPr algn="ctr"/>
                      <a:r>
                        <a:rPr lang="zh-CN" altLang="en-US" sz="900" dirty="0"/>
                        <a:t>Sample is completely empty – 79% efficiency usage</a:t>
                      </a:r>
                      <a:r>
                        <a:rPr lang="en-US" altLang="zh-CN" sz="1000" dirty="0"/>
                        <a:t/>
                      </a:r>
                      <a:r>
                        <a:rPr lang="zh-CN" altLang="en-US" sz="1000" dirty="0"/>
                        <a:t/>
                      </a:r>
                      <a:endParaRPr sz="1000" dirty="0"/>
                    </a:p>
                  </a:txBody>
                  <a:tcPr anchor="ctr"/>
                </a:tc>
                <a:extLst>
                  <a:ext uri="{0D108BD9-81ED-4DB2-BD59-A6C34878D82A}">
                    <a16:rowId xmlns:a16="http://schemas.microsoft.com/office/drawing/2014/main" val="10001"/>
                  </a:ext>
                </a:extLst>
              </a:tr>
              <a:tr h="982980">
                <a:tc>
                  <a:txBody>
                    <a:bodyPr/>
                    <a:lstStyle/>
                    <a:p>
                      <a:pPr algn="ctr"/>
                      <a:r>
                        <a:rPr sz="1000" dirty="0"/>
                        <a:t>Gembar Intense-2 800kcp D8</a:t>
                      </a:r>
                    </a:p>
                  </a:txBody>
                  <a:tcPr anchor="ctr"/>
                </a:tc>
                <a:tc>
                  <a:txBody>
                    <a:bodyPr/>
                    <a:lstStyle/>
                    <a:p>
                      <a:pPr algn="ctr"/>
                      <a:r>
                        <a:rPr sz="1000" dirty="0"/>
                        <a:t>4.45W</a:t>
                      </a:r>
                    </a:p>
                  </a:txBody>
                  <a:tcPr anchor="ctr"/>
                </a:tc>
                <a:tc>
                  <a:txBody>
                    <a:bodyPr/>
                    <a:lstStyle/>
                    <a:p>
                      <a:pPr algn="ctr"/>
                      <a:r>
                        <a:rPr sz="1000"/>
                        <a:t>2.3</a:t>
                      </a:r>
                    </a:p>
                  </a:txBody>
                  <a:tcPr anchor="ctr"/>
                </a:tc>
                <a:tc>
                  <a:txBody>
                    <a:bodyPr/>
                    <a:lstStyle/>
                    <a:p>
                      <a:pPr algn="ctr"/>
                      <a:r>
                        <a:rPr sz="1000"/>
                        <a:t>200mL/3s/30s</a:t>
                      </a:r>
                    </a:p>
                  </a:txBody>
                  <a:tcPr anchor="ctr"/>
                </a:tc>
                <a:tc>
                  <a:txBody>
                    <a:bodyPr/>
                    <a:lstStyle/>
                    <a:p>
                      <a:pPr algn="ctr"/>
                      <a:r>
                        <a:rPr sz="1000"/>
                        <a:t>3.79, 0.49</a:t>
                      </a:r>
                    </a:p>
                  </a:txBody>
                  <a:tcPr anchor="ctr"/>
                </a:tc>
                <a:tc>
                  <a:txBody>
                    <a:bodyPr/>
                    <a:lstStyle/>
                    <a:p>
                      <a:pPr algn="ctr"/>
                      <a:r>
                        <a:rPr sz="1000"/>
                        <a:t>N/A</a:t>
                      </a:r>
                    </a:p>
                  </a:txBody>
                  <a:tcPr anchor="ctr"/>
                </a:tc>
                <a:tc>
                  <a:txBody>
                    <a:bodyPr/>
                    <a:lstStyle/>
                    <a:p>
                      <a:pPr algn="ctr"/>
                      <a:r>
                        <a:rPr lang="en-US" sz="1000" dirty="0"/>
                        <a:t>Ongoing</a:t>
                      </a:r>
                      <a:endParaRPr sz="1000" dirty="0"/>
                    </a:p>
                  </a:txBody>
                  <a:tcPr anchor="ctr"/>
                </a:tc>
                <a:tc>
                  <a:txBody>
                    <a:bodyPr/>
                    <a:lstStyle/>
                    <a:p>
                      <a:pPr algn="ctr"/>
                      <a:endParaRPr sz="1000" dirty="0"/>
                    </a:p>
                  </a:txBody>
                  <a:tcPr anchor="ctr"/>
                </a:tc>
                <a:extLst>
                  <a:ext uri="{0D108BD9-81ED-4DB2-BD59-A6C34878D82A}">
                    <a16:rowId xmlns:a16="http://schemas.microsoft.com/office/drawing/2014/main" val="10002"/>
                  </a:ext>
                </a:extLst>
              </a:tr>
              <a:tr h="982980">
                <a:tc>
                  <a:txBody>
                    <a:bodyPr/>
                    <a:lstStyle/>
                    <a:p>
                      <a:pPr algn="ctr"/>
                      <a:r>
                        <a:rPr sz="1000" dirty="0"/>
                        <a:t>Gembar Intense-3 800kcp D8</a:t>
                      </a:r>
                    </a:p>
                  </a:txBody>
                  <a:tcPr anchor="ctr"/>
                </a:tc>
                <a:tc>
                  <a:txBody>
                    <a:bodyPr/>
                    <a:lstStyle/>
                    <a:p>
                      <a:pPr algn="ctr"/>
                      <a:r>
                        <a:rPr sz="1000" dirty="0"/>
                        <a:t>4.45W</a:t>
                      </a:r>
                    </a:p>
                  </a:txBody>
                  <a:tcPr anchor="ctr"/>
                </a:tc>
                <a:tc>
                  <a:txBody>
                    <a:bodyPr/>
                    <a:lstStyle/>
                    <a:p>
                      <a:pPr algn="ctr"/>
                      <a:r>
                        <a:rPr sz="1000"/>
                        <a:t>2.3</a:t>
                      </a:r>
                    </a:p>
                  </a:txBody>
                  <a:tcPr anchor="ctr"/>
                </a:tc>
                <a:tc>
                  <a:txBody>
                    <a:bodyPr/>
                    <a:lstStyle/>
                    <a:p>
                      <a:pPr algn="ctr"/>
                      <a:r>
                        <a:rPr sz="1000"/>
                        <a:t>200mL/3s/30s</a:t>
                      </a:r>
                    </a:p>
                  </a:txBody>
                  <a:tcPr anchor="ctr"/>
                </a:tc>
                <a:tc>
                  <a:txBody>
                    <a:bodyPr/>
                    <a:lstStyle/>
                    <a:p>
                      <a:pPr algn="ctr"/>
                      <a:r>
                        <a:rPr sz="1000"/>
                        <a:t>3.76, 0.98</a:t>
                      </a:r>
                    </a:p>
                  </a:txBody>
                  <a:tcPr anchor="ctr"/>
                </a:tc>
                <a:tc>
                  <a:txBody>
                    <a:bodyPr/>
                    <a:lstStyle/>
                    <a:p>
                      <a:pPr algn="ctr"/>
                      <a:r>
                        <a:rPr sz="1000"/>
                        <a:t>N/A</a:t>
                      </a:r>
                    </a:p>
                  </a:txBody>
                  <a:tcPr anchor="ctr"/>
                </a:tc>
                <a:tc>
                  <a:txBody>
                    <a:bodyPr/>
                    <a:lstStyle/>
                    <a:p>
                      <a:pPr algn="ctr"/>
                      <a:r>
                        <a:rPr lang="en-US" sz="1000" dirty="0"/>
                        <a:t>Ongoing</a:t>
                      </a:r>
                      <a:endParaRPr sz="1000" dirty="0"/>
                    </a:p>
                  </a:txBody>
                  <a:tcPr anchor="ctr"/>
                </a:tc>
                <a:tc>
                  <a:txBody>
                    <a:bodyPr/>
                    <a:lstStyle/>
                    <a:p>
                      <a:pPr algn="ctr"/>
                      <a:endParaRPr sz="1000"/>
                    </a:p>
                  </a:txBody>
                  <a:tcPr anchor="ctr"/>
                </a:tc>
                <a:extLst>
                  <a:ext uri="{0D108BD9-81ED-4DB2-BD59-A6C34878D82A}">
                    <a16:rowId xmlns:a16="http://schemas.microsoft.com/office/drawing/2014/main" val="10003"/>
                  </a:ext>
                </a:extLst>
              </a:tr>
              <a:tr h="982980">
                <a:tc>
                  <a:txBody>
                    <a:bodyPr/>
                    <a:lstStyle/>
                    <a:p>
                      <a:pPr algn="ctr"/>
                      <a:r>
                        <a:rPr sz="1000" dirty="0"/>
                        <a:t>Gembar Intense-4 800kcp D8</a:t>
                      </a:r>
                    </a:p>
                  </a:txBody>
                  <a:tcPr anchor="ctr"/>
                </a:tc>
                <a:tc>
                  <a:txBody>
                    <a:bodyPr/>
                    <a:lstStyle/>
                    <a:p>
                      <a:pPr algn="ctr"/>
                      <a:r>
                        <a:rPr sz="1000" dirty="0"/>
                        <a:t>4.45W</a:t>
                      </a:r>
                    </a:p>
                  </a:txBody>
                  <a:tcPr anchor="ctr"/>
                </a:tc>
                <a:tc>
                  <a:txBody>
                    <a:bodyPr/>
                    <a:lstStyle/>
                    <a:p>
                      <a:pPr algn="ctr"/>
                      <a:r>
                        <a:rPr sz="1000"/>
                        <a:t>2.3</a:t>
                      </a:r>
                    </a:p>
                  </a:txBody>
                  <a:tcPr anchor="ctr"/>
                </a:tc>
                <a:tc>
                  <a:txBody>
                    <a:bodyPr/>
                    <a:lstStyle/>
                    <a:p>
                      <a:pPr algn="ctr"/>
                      <a:r>
                        <a:rPr sz="1000"/>
                        <a:t>200mL/3s/30s</a:t>
                      </a:r>
                    </a:p>
                  </a:txBody>
                  <a:tcPr anchor="ctr"/>
                </a:tc>
                <a:tc>
                  <a:txBody>
                    <a:bodyPr/>
                    <a:lstStyle/>
                    <a:p>
                      <a:pPr algn="ctr"/>
                      <a:r>
                        <a:rPr sz="1000"/>
                        <a:t>4.06, 0.99</a:t>
                      </a:r>
                    </a:p>
                  </a:txBody>
                  <a:tcPr anchor="ctr"/>
                </a:tc>
                <a:tc>
                  <a:txBody>
                    <a:bodyPr/>
                    <a:lstStyle/>
                    <a:p>
                      <a:pPr algn="ctr"/>
                      <a:r>
                        <a:rPr sz="1000"/>
                        <a:t>N/A</a:t>
                      </a:r>
                    </a:p>
                  </a:txBody>
                  <a:tcPr anchor="ctr"/>
                </a:tc>
                <a:tc>
                  <a:txBody>
                    <a:bodyPr/>
                    <a:lstStyle/>
                    <a:p>
                      <a:pPr algn="ctr"/>
                      <a:r>
                        <a:rPr lang="en-US" sz="1000" dirty="0"/>
                        <a:t>Ongoing</a:t>
                      </a:r>
                      <a:endParaRPr sz="1000" dirty="0"/>
                    </a:p>
                  </a:txBody>
                  <a:tcPr anchor="ctr"/>
                </a:tc>
                <a:tc>
                  <a:txBody>
                    <a:bodyPr/>
                    <a:lstStyle/>
                    <a:p>
                      <a:pPr algn="ctr"/>
                      <a:endParaRPr sz="1000"/>
                    </a:p>
                  </a:txBody>
                  <a:tcPr anchor="ctr"/>
                </a:tc>
                <a:extLst>
                  <a:ext uri="{0D108BD9-81ED-4DB2-BD59-A6C34878D82A}">
                    <a16:rowId xmlns:a16="http://schemas.microsoft.com/office/drawing/2014/main" val="10004"/>
                  </a:ext>
                </a:extLst>
              </a:tr>
              <a:tr h="982980">
                <a:tc>
                  <a:txBody>
                    <a:bodyPr/>
                    <a:lstStyle/>
                    <a:p>
                      <a:pPr algn="ctr"/>
                      <a:r>
                        <a:rPr sz="1000" dirty="0"/>
                        <a:t>Gembar Intense-5 800kcp D8</a:t>
                      </a:r>
                    </a:p>
                  </a:txBody>
                  <a:tcPr anchor="ctr"/>
                </a:tc>
                <a:tc>
                  <a:txBody>
                    <a:bodyPr/>
                    <a:lstStyle/>
                    <a:p>
                      <a:pPr algn="ctr"/>
                      <a:r>
                        <a:rPr sz="1000" dirty="0"/>
                        <a:t>4.45W</a:t>
                      </a:r>
                    </a:p>
                  </a:txBody>
                  <a:tcPr anchor="ctr"/>
                </a:tc>
                <a:tc>
                  <a:txBody>
                    <a:bodyPr/>
                    <a:lstStyle/>
                    <a:p>
                      <a:pPr algn="ctr"/>
                      <a:r>
                        <a:rPr sz="1000" dirty="0"/>
                        <a:t>2.3</a:t>
                      </a:r>
                    </a:p>
                  </a:txBody>
                  <a:tcPr anchor="ctr"/>
                </a:tc>
                <a:tc>
                  <a:txBody>
                    <a:bodyPr/>
                    <a:lstStyle/>
                    <a:p>
                      <a:pPr algn="ctr"/>
                      <a:r>
                        <a:rPr sz="1000" dirty="0"/>
                        <a:t>200mL/3s/30s</a:t>
                      </a:r>
                    </a:p>
                  </a:txBody>
                  <a:tcPr anchor="ctr"/>
                </a:tc>
                <a:tc>
                  <a:txBody>
                    <a:bodyPr/>
                    <a:lstStyle/>
                    <a:p>
                      <a:pPr algn="ctr"/>
                      <a:r>
                        <a:rPr sz="1000"/>
                        <a:t>3.3, 0.28</a:t>
                      </a:r>
                    </a:p>
                  </a:txBody>
                  <a:tcPr anchor="ctr"/>
                </a:tc>
                <a:tc>
                  <a:txBody>
                    <a:bodyPr/>
                    <a:lstStyle/>
                    <a:p>
                      <a:pPr algn="ctr"/>
                      <a:r>
                        <a:rPr sz="1000"/>
                        <a:t>N/A</a:t>
                      </a:r>
                    </a:p>
                  </a:txBody>
                  <a:tcPr anchor="ctr"/>
                </a:tc>
                <a:tc>
                  <a:txBody>
                    <a:bodyPr/>
                    <a:lstStyle/>
                    <a:p>
                      <a:pPr algn="ctr"/>
                      <a:r>
                        <a:rPr lang="en-US" sz="1000" dirty="0"/>
                        <a:t>Ongoing</a:t>
                      </a:r>
                      <a:endParaRPr sz="1000" dirty="0"/>
                    </a:p>
                  </a:txBody>
                  <a:tcPr anchor="ctr"/>
                </a:tc>
                <a:tc>
                  <a:txBody>
                    <a:bodyPr/>
                    <a:lstStyle/>
                    <a:p>
                      <a:pPr algn="ctr"/>
                      <a:endParaRPr sz="1000" dirty="0"/>
                    </a:p>
                  </a:txBody>
                  <a:tcPr anchor="ctr"/>
                </a:tc>
                <a:extLst>
                  <a:ext uri="{0D108BD9-81ED-4DB2-BD59-A6C34878D82A}">
                    <a16:rowId xmlns:a16="http://schemas.microsoft.com/office/drawing/2014/main" val="10005"/>
                  </a:ext>
                </a:extLst>
              </a:tr>
            </a:tbl>
          </a:graphicData>
        </a:graphic>
      </p:graphicFrame>
      <p:pic>
        <p:nvPicPr>
          <p:cNvPr id="5" name="Picture 4" descr="TPM_overlay.png">
            <a:extLst>
              <a:ext uri="{FF2B5EF4-FFF2-40B4-BE49-F238E27FC236}">
                <a16:creationId xmlns:a16="http://schemas.microsoft.com/office/drawing/2014/main" id="{A4456CCC-6BEA-FF18-CD0C-9A318333F8BB}"/>
              </a:ext>
            </a:extLst>
          </p:cNvPr>
          <p:cNvPicPr>
            <a:picLocks noChangeAspect="1"/>
          </p:cNvPicPr>
          <p:nvPr/>
        </p:nvPicPr>
        <p:blipFill>
          <a:blip r:embed="rId5"/>
          <a:stretch>
            <a:fillRect/>
          </a:stretch>
        </p:blipFill>
        <p:spPr>
          <a:xfrm>
            <a:off x="6336792" y="685800"/>
            <a:ext cx="2980944" cy="2980944"/>
          </a:xfrm>
          <a:prstGeom prst="rect">
            <a:avLst/>
          </a:prstGeom>
        </p:spPr>
      </p:pic>
      <p:pic>
        <p:nvPicPr>
          <p:cNvPr id="6" name="Picture 5" descr="TPM_bar.png">
            <a:extLst>
              <a:ext uri="{FF2B5EF4-FFF2-40B4-BE49-F238E27FC236}">
                <a16:creationId xmlns:a16="http://schemas.microsoft.com/office/drawing/2014/main" id="{3F115A13-144C-59E8-5D40-8879F39DF800}"/>
              </a:ext>
            </a:extLst>
          </p:cNvPr>
          <p:cNvPicPr>
            <a:picLocks noChangeAspect="1"/>
          </p:cNvPicPr>
          <p:nvPr/>
        </p:nvPicPr>
        <p:blipFill>
          <a:blip r:embed="rId6"/>
          <a:stretch>
            <a:fillRect/>
          </a:stretch>
        </p:blipFill>
        <p:spPr>
          <a:xfrm>
            <a:off x="9125712" y="667512"/>
            <a:ext cx="2980944" cy="2980944"/>
          </a:xfrm>
          <a:prstGeom prst="rect">
            <a:avLst/>
          </a:prstGeom>
        </p:spPr>
      </p:pic>
      <p:pic>
        <p:nvPicPr>
          <p:cNvPr id="10" name="Picture 9" descr="A close-up of a device&#10;&#10;Description automatically generated">
            <a:extLst>
              <a:ext uri="{FF2B5EF4-FFF2-40B4-BE49-F238E27FC236}">
                <a16:creationId xmlns:a16="http://schemas.microsoft.com/office/drawing/2014/main" id="{3FC5D9AD-156F-8EF9-572F-2D0C36BC3D3D}"/>
              </a:ext>
            </a:extLst>
          </p:cNvPr>
          <p:cNvPicPr>
            <a:picLocks noChangeAspect="1"/>
          </p:cNvPicPr>
          <p:nvPr/>
        </p:nvPicPr>
        <p:blipFill>
          <a:blip r:embed="rId7"/>
          <a:srcRect t="14126" b="7855"/>
          <a:stretch/>
        </p:blipFill>
        <p:spPr>
          <a:xfrm rot="5400000">
            <a:off x="8647944" y="4314066"/>
            <a:ext cx="3229069" cy="1889485"/>
          </a:xfrm>
          <a:prstGeom prst="rect">
            <a:avLst/>
          </a:prstGeom>
        </p:spPr>
      </p:pic>
      <p:pic>
        <p:nvPicPr>
          <p:cNvPr id="12" name="Picture 11" descr="A close-up of a black device&#10;&#10;Description automatically generated">
            <a:extLst>
              <a:ext uri="{FF2B5EF4-FFF2-40B4-BE49-F238E27FC236}">
                <a16:creationId xmlns:a16="http://schemas.microsoft.com/office/drawing/2014/main" id="{8F7B07B7-F086-9CB1-ABDD-BF020F1379BB}"/>
              </a:ext>
            </a:extLst>
          </p:cNvPr>
          <p:cNvPicPr>
            <a:picLocks noChangeAspect="1"/>
          </p:cNvPicPr>
          <p:nvPr/>
        </p:nvPicPr>
        <p:blipFill>
          <a:blip r:embed="rId8"/>
          <a:srcRect l="9868" t="16765" b="5611"/>
          <a:stretch/>
        </p:blipFill>
        <p:spPr>
          <a:xfrm rot="16200000">
            <a:off x="6660346" y="4215953"/>
            <a:ext cx="3229069" cy="2085711"/>
          </a:xfrm>
          <a:prstGeom prst="rect">
            <a:avLst/>
          </a:prstGeom>
        </p:spPr>
      </p:pic>
      <p:sp>
        <p:nvSpPr>
          <p:cNvPr id="15" name="Oval 14">
            <a:extLst>
              <a:ext uri="{FF2B5EF4-FFF2-40B4-BE49-F238E27FC236}">
                <a16:creationId xmlns:a16="http://schemas.microsoft.com/office/drawing/2014/main" id="{EA2FFC9F-2D91-87EA-00DD-1151F4F6B271}"/>
              </a:ext>
            </a:extLst>
          </p:cNvPr>
          <p:cNvSpPr/>
          <p:nvPr/>
        </p:nvSpPr>
        <p:spPr>
          <a:xfrm>
            <a:off x="7710304" y="5760135"/>
            <a:ext cx="1131684" cy="980852"/>
          </a:xfrm>
          <a:prstGeom prst="ellipse">
            <a:avLst/>
          </a:prstGeom>
          <a:noFill/>
          <a:ln w="381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00B050"/>
              </a:solidFill>
            </a:endParaRPr>
          </a:p>
        </p:txBody>
      </p:sp>
      <p:sp>
        <p:nvSpPr>
          <p:cNvPr id="16" name="TextBox 15">
            <a:extLst>
              <a:ext uri="{FF2B5EF4-FFF2-40B4-BE49-F238E27FC236}">
                <a16:creationId xmlns:a16="http://schemas.microsoft.com/office/drawing/2014/main" id="{E14A7522-7100-87D8-A52F-492ABBC546D4}"/>
              </a:ext>
            </a:extLst>
          </p:cNvPr>
          <p:cNvSpPr txBox="1"/>
          <p:nvPr/>
        </p:nvSpPr>
        <p:spPr>
          <a:xfrm>
            <a:off x="7232026" y="3677747"/>
            <a:ext cx="1410786" cy="523220"/>
          </a:xfrm>
          <a:prstGeom prst="rect">
            <a:avLst/>
          </a:prstGeom>
          <a:noFill/>
        </p:spPr>
        <p:txBody>
          <a:bodyPr wrap="square" rtlCol="0">
            <a:normAutofit/>
          </a:bodyPr>
          <a:lstStyle/>
          <a:p>
            <a:r>
              <a:rPr lang="zh-CN" altLang="en-US" sz="1000" dirty="0">
                <a:solidFill>
                  <a:srgbClr val="00B050"/>
                </a:solidFill>
              </a:rPr>
              <a:t>Successfully prevented inlet wall clogging</a:t>
            </a:r>
            <a:endParaRPr lang="en-US" sz="1400" dirty="0">
              <a:solidFill>
                <a:srgbClr val="00B050"/>
              </a:solidFill>
            </a:endParaRPr>
          </a:p>
        </p:txBody>
      </p:sp>
      <p:cxnSp>
        <p:nvCxnSpPr>
          <p:cNvPr id="18" name="Straight Arrow Connector 17">
            <a:extLst>
              <a:ext uri="{FF2B5EF4-FFF2-40B4-BE49-F238E27FC236}">
                <a16:creationId xmlns:a16="http://schemas.microsoft.com/office/drawing/2014/main" id="{64D074B5-A096-7CAB-A292-37F8D53F0019}"/>
              </a:ext>
            </a:extLst>
          </p:cNvPr>
          <p:cNvCxnSpPr/>
          <p:nvPr/>
        </p:nvCxnSpPr>
        <p:spPr>
          <a:xfrm>
            <a:off x="6255945" y="2697933"/>
            <a:ext cx="860079" cy="1186004"/>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113325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DE01C8-65CE-67FE-0FF7-13CF51D57E1D}"/>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E2ECA5CA-9FF0-DCA8-AE7B-35881F364826}"/>
              </a:ext>
            </a:extLst>
          </p:cNvPr>
          <p:cNvPicPr>
            <a:picLocks noChangeAspect="1"/>
          </p:cNvPicPr>
          <p:nvPr/>
        </p:nvPicPr>
        <p:blipFill>
          <a:blip r:embed="rId3" cstate="screen">
            <a:alphaModFix amt="60000"/>
            <a:extLst>
              <a:ext uri="{28A0092B-C50C-407E-A947-70E740481C1C}">
                <a14:useLocalDpi xmlns:a14="http://schemas.microsoft.com/office/drawing/2010/main"/>
              </a:ext>
            </a:extLst>
          </a:blip>
          <a:stretch>
            <a:fillRect/>
          </a:stretch>
        </p:blipFill>
        <p:spPr>
          <a:xfrm>
            <a:off x="-361" y="13947"/>
            <a:ext cx="12192361" cy="6857797"/>
          </a:xfrm>
          <a:prstGeom prst="rect">
            <a:avLst/>
          </a:prstGeom>
        </p:spPr>
      </p:pic>
      <p:pic>
        <p:nvPicPr>
          <p:cNvPr id="4" name="Picture 3">
            <a:extLst>
              <a:ext uri="{FF2B5EF4-FFF2-40B4-BE49-F238E27FC236}">
                <a16:creationId xmlns:a16="http://schemas.microsoft.com/office/drawing/2014/main" id="{03BB271F-A446-A035-74F3-36A3E892F871}"/>
              </a:ext>
            </a:extLst>
          </p:cNvPr>
          <p:cNvPicPr>
            <a:picLocks noChangeAspect="1"/>
          </p:cNvPicPr>
          <p:nvPr/>
        </p:nvPicPr>
        <p:blipFill>
          <a:blip r:embed="rId4"/>
          <a:stretch>
            <a:fillRect/>
          </a:stretch>
        </p:blipFill>
        <p:spPr>
          <a:xfrm>
            <a:off x="10201998" y="91033"/>
            <a:ext cx="1436172" cy="485446"/>
          </a:xfrm>
          <a:prstGeom prst="rect">
            <a:avLst/>
          </a:prstGeom>
        </p:spPr>
      </p:pic>
      <p:sp>
        <p:nvSpPr>
          <p:cNvPr id="2" name="矩形 4">
            <a:extLst>
              <a:ext uri="{FF2B5EF4-FFF2-40B4-BE49-F238E27FC236}">
                <a16:creationId xmlns:a16="http://schemas.microsoft.com/office/drawing/2014/main" id="{E528A1E8-4766-1918-8E6D-1E652F1264EF}"/>
              </a:ext>
            </a:extLst>
          </p:cNvPr>
          <p:cNvSpPr/>
          <p:nvPr/>
        </p:nvSpPr>
        <p:spPr>
          <a:xfrm>
            <a:off x="640080" y="146304"/>
            <a:ext cx="4704878" cy="523220"/>
          </a:xfrm>
          <a:prstGeom prst="rect">
            <a:avLst/>
          </a:prstGeom>
        </p:spPr>
        <p:txBody>
          <a:bodyPr wrap="none">
            <a:normAutofit/>
          </a:bodyPr>
          <a:lstStyle/>
          <a:p>
            <a:pPr lvl="0">
              <a:defRPr/>
            </a:pPr>
            <a:r>
              <a:rPr lang="en-US" altLang="zh-CN" sz="1400" dirty="0">
                <a:latin typeface="微软雅黑" panose="020B0503020204020204" pitchFamily="34" charset="-122"/>
                <a:ea typeface="微软雅黑" panose="020B0503020204020204" pitchFamily="34" charset="-122"/>
                <a:cs typeface="+mn-ea"/>
                <a:sym typeface="+mn-lt"/>
              </a:rPr>
              <a:t>Gembar 1-22 High Temperature and High Humidity Results</a:t>
            </a:r>
            <a:r>
              <a:rPr lang="zh-CN" altLang="en-US" sz="2800" dirty="0">
                <a:latin typeface="微软雅黑" panose="020B0503020204020204" pitchFamily="34" charset="-122"/>
                <a:ea typeface="微软雅黑" panose="020B0503020204020204" pitchFamily="34" charset="-122"/>
                <a:cs typeface="+mn-ea"/>
                <a:sym typeface="+mn-lt"/>
              </a:rPr>
              <a:t/>
            </a:r>
            <a:endParaRPr kumimoji="0" lang="zh-CN" altLang="en-US" sz="2800" i="0" u="none" strike="noStrike" kern="1200" cap="none" spc="0" normalizeH="0" baseline="0" noProof="0" dirty="0">
              <a:ln>
                <a:noFill/>
              </a:ln>
              <a:effectLst/>
              <a:uLnTx/>
              <a:uFillTx/>
              <a:latin typeface="Calibri" panose="020F0502020204030204"/>
              <a:ea typeface="宋体" panose="02010600030101010101" pitchFamily="2" charset="-122"/>
              <a:cs typeface="+mn-ea"/>
              <a:sym typeface="+mn-lt"/>
            </a:endParaRPr>
          </a:p>
        </p:txBody>
      </p:sp>
      <p:pic>
        <p:nvPicPr>
          <p:cNvPr id="14" name="Picture 13">
            <a:extLst>
              <a:ext uri="{FF2B5EF4-FFF2-40B4-BE49-F238E27FC236}">
                <a16:creationId xmlns:a16="http://schemas.microsoft.com/office/drawing/2014/main" id="{2B0739B0-7E02-8112-550E-41BC3685565B}"/>
              </a:ext>
            </a:extLst>
          </p:cNvPr>
          <p:cNvPicPr>
            <a:picLocks noChangeAspect="1"/>
          </p:cNvPicPr>
          <p:nvPr/>
        </p:nvPicPr>
        <p:blipFill>
          <a:blip r:embed="rId5"/>
          <a:stretch>
            <a:fillRect/>
          </a:stretch>
        </p:blipFill>
        <p:spPr>
          <a:xfrm>
            <a:off x="-361" y="801881"/>
            <a:ext cx="12125325" cy="3838575"/>
          </a:xfrm>
          <a:prstGeom prst="rect">
            <a:avLst/>
          </a:prstGeom>
        </p:spPr>
      </p:pic>
      <p:pic>
        <p:nvPicPr>
          <p:cNvPr id="16" name="Picture 15" descr="A close-up of a black device&#10;&#10;Description automatically generated">
            <a:extLst>
              <a:ext uri="{FF2B5EF4-FFF2-40B4-BE49-F238E27FC236}">
                <a16:creationId xmlns:a16="http://schemas.microsoft.com/office/drawing/2014/main" id="{D2280230-E856-CE62-293D-FFABF1414EF6}"/>
              </a:ext>
            </a:extLst>
          </p:cNvPr>
          <p:cNvPicPr>
            <a:picLocks noChangeAspect="1"/>
          </p:cNvPicPr>
          <p:nvPr/>
        </p:nvPicPr>
        <p:blipFill>
          <a:blip r:embed="rId6"/>
          <a:srcRect l="28979" t="8203" r="11462" b="18878"/>
          <a:stretch/>
        </p:blipFill>
        <p:spPr>
          <a:xfrm rot="5400000">
            <a:off x="6592364" y="4819482"/>
            <a:ext cx="2071240" cy="1901901"/>
          </a:xfrm>
          <a:prstGeom prst="rect">
            <a:avLst/>
          </a:prstGeom>
        </p:spPr>
      </p:pic>
      <p:pic>
        <p:nvPicPr>
          <p:cNvPr id="18" name="Picture 17" descr="Close-up of a black electrical device&#10;&#10;Description automatically generated">
            <a:extLst>
              <a:ext uri="{FF2B5EF4-FFF2-40B4-BE49-F238E27FC236}">
                <a16:creationId xmlns:a16="http://schemas.microsoft.com/office/drawing/2014/main" id="{DF22D839-BB73-9852-E196-A7B57A85CE23}"/>
              </a:ext>
            </a:extLst>
          </p:cNvPr>
          <p:cNvPicPr>
            <a:picLocks noChangeAspect="1"/>
          </p:cNvPicPr>
          <p:nvPr/>
        </p:nvPicPr>
        <p:blipFill>
          <a:blip r:embed="rId7"/>
          <a:srcRect l="20080" t="18843" r="18629" b="5239"/>
          <a:stretch/>
        </p:blipFill>
        <p:spPr>
          <a:xfrm rot="5400000">
            <a:off x="2530400" y="4807332"/>
            <a:ext cx="2042577" cy="1897537"/>
          </a:xfrm>
          <a:prstGeom prst="rect">
            <a:avLst/>
          </a:prstGeom>
        </p:spPr>
      </p:pic>
      <p:sp>
        <p:nvSpPr>
          <p:cNvPr id="19" name="TextBox 18">
            <a:extLst>
              <a:ext uri="{FF2B5EF4-FFF2-40B4-BE49-F238E27FC236}">
                <a16:creationId xmlns:a16="http://schemas.microsoft.com/office/drawing/2014/main" id="{D02D06EA-05A4-3021-9CD0-B7EE64708762}"/>
              </a:ext>
            </a:extLst>
          </p:cNvPr>
          <p:cNvSpPr txBox="1"/>
          <p:nvPr/>
        </p:nvSpPr>
        <p:spPr>
          <a:xfrm>
            <a:off x="1112986" y="4816288"/>
            <a:ext cx="1580606" cy="923330"/>
          </a:xfrm>
          <a:prstGeom prst="rect">
            <a:avLst/>
          </a:prstGeom>
          <a:noFill/>
        </p:spPr>
        <p:txBody>
          <a:bodyPr wrap="square" rtlCol="0">
            <a:normAutofit/>
          </a:bodyPr>
          <a:lstStyle/>
          <a:p>
            <a:r>
              <a:rPr lang="en-US" altLang="zh-CN" sz="1400"/>
              <a:t>HTHH-1: Upright direction, air intake not blocked</a:t>
            </a:r>
            <a:r>
              <a:rPr lang="zh-CN" altLang="en-US"/>
              <a:t/>
            </a:r>
            <a:endParaRPr lang="en-US" dirty="0"/>
          </a:p>
        </p:txBody>
      </p:sp>
      <p:sp>
        <p:nvSpPr>
          <p:cNvPr id="20" name="TextBox 19">
            <a:extLst>
              <a:ext uri="{FF2B5EF4-FFF2-40B4-BE49-F238E27FC236}">
                <a16:creationId xmlns:a16="http://schemas.microsoft.com/office/drawing/2014/main" id="{62180C81-DA9C-2CEC-0C4E-5463AAC562AF}"/>
              </a:ext>
            </a:extLst>
          </p:cNvPr>
          <p:cNvSpPr txBox="1"/>
          <p:nvPr/>
        </p:nvSpPr>
        <p:spPr>
          <a:xfrm>
            <a:off x="5231685" y="4830133"/>
            <a:ext cx="1445348" cy="923330"/>
          </a:xfrm>
          <a:prstGeom prst="rect">
            <a:avLst/>
          </a:prstGeom>
          <a:noFill/>
        </p:spPr>
        <p:txBody>
          <a:bodyPr wrap="square" rtlCol="0">
            <a:normAutofit/>
          </a:bodyPr>
          <a:lstStyle/>
          <a:p>
            <a:r>
              <a:rPr lang="en-US" sz="1300"/>
              <a:t>HTHH-2: Inverted direction, air intake blocked</a:t>
            </a:r>
            <a:r>
              <a:rPr lang="zh-CN" altLang="en-US"/>
              <a:t/>
            </a:r>
            <a:endParaRPr lang="en-US" dirty="0"/>
          </a:p>
        </p:txBody>
      </p:sp>
      <p:sp>
        <p:nvSpPr>
          <p:cNvPr id="21" name="Oval 20">
            <a:extLst>
              <a:ext uri="{FF2B5EF4-FFF2-40B4-BE49-F238E27FC236}">
                <a16:creationId xmlns:a16="http://schemas.microsoft.com/office/drawing/2014/main" id="{C8395B7A-FFD1-8A80-ADB7-BC046405C388}"/>
              </a:ext>
            </a:extLst>
          </p:cNvPr>
          <p:cNvSpPr/>
          <p:nvPr/>
        </p:nvSpPr>
        <p:spPr>
          <a:xfrm>
            <a:off x="7228268" y="5851345"/>
            <a:ext cx="793102" cy="76511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D03C96A5-5027-2023-9965-EE28127D27E3}"/>
              </a:ext>
            </a:extLst>
          </p:cNvPr>
          <p:cNvSpPr txBox="1"/>
          <p:nvPr/>
        </p:nvSpPr>
        <p:spPr>
          <a:xfrm>
            <a:off x="8799968" y="4830133"/>
            <a:ext cx="2100404" cy="1169551"/>
          </a:xfrm>
          <a:prstGeom prst="rect">
            <a:avLst/>
          </a:prstGeom>
          <a:noFill/>
        </p:spPr>
        <p:txBody>
          <a:bodyPr wrap="square" rtlCol="0">
            <a:normAutofit/>
          </a:bodyPr>
          <a:lstStyle/>
          <a:p>
            <a:r>
              <a:rPr lang="zh-CN" altLang="en-US" sz="1100"/>
              <a:t>This is a very minor failure - please carefully look for solutions that may prevent further blockage. I recommend using dual air intakes, similar to what the CPS2910 team did.</a:t>
            </a:r>
            <a:r>
              <a:rPr lang="en-US" altLang="zh-CN" sz="1400"/>
              <a:t/>
            </a:r>
            <a:r>
              <a:rPr lang="zh-CN" altLang="en-US" sz="1400"/>
              <a:t/>
            </a:r>
            <a:r>
              <a:rPr lang="en-US" altLang="zh-CN" sz="1400"/>
              <a:t/>
            </a:r>
            <a:r>
              <a:rPr lang="zh-CN" altLang="en-US" sz="1400"/>
              <a:t/>
            </a:r>
            <a:endParaRPr lang="en-US" sz="1400" dirty="0"/>
          </a:p>
        </p:txBody>
      </p:sp>
    </p:spTree>
    <p:extLst>
      <p:ext uri="{BB962C8B-B14F-4D97-AF65-F5344CB8AC3E}">
        <p14:creationId xmlns:p14="http://schemas.microsoft.com/office/powerpoint/2010/main" val="18614885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E76B6B-3AD2-697D-9F9D-BA2BE4DC2916}"/>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E429E7AD-41F8-5610-39DB-98C75AE578C7}"/>
              </a:ext>
            </a:extLst>
          </p:cNvPr>
          <p:cNvPicPr>
            <a:picLocks noChangeAspect="1"/>
          </p:cNvPicPr>
          <p:nvPr/>
        </p:nvPicPr>
        <p:blipFill>
          <a:blip r:embed="rId3" cstate="screen">
            <a:alphaModFix amt="60000"/>
            <a:extLst>
              <a:ext uri="{28A0092B-C50C-407E-A947-70E740481C1C}">
                <a14:useLocalDpi xmlns:a14="http://schemas.microsoft.com/office/drawing/2010/main"/>
              </a:ext>
            </a:extLst>
          </a:blip>
          <a:stretch>
            <a:fillRect/>
          </a:stretch>
        </p:blipFill>
        <p:spPr>
          <a:xfrm>
            <a:off x="-361" y="13947"/>
            <a:ext cx="12192361" cy="6857797"/>
          </a:xfrm>
          <a:prstGeom prst="rect">
            <a:avLst/>
          </a:prstGeom>
        </p:spPr>
      </p:pic>
      <p:sp>
        <p:nvSpPr>
          <p:cNvPr id="2" name="矩形 4">
            <a:extLst>
              <a:ext uri="{FF2B5EF4-FFF2-40B4-BE49-F238E27FC236}">
                <a16:creationId xmlns:a16="http://schemas.microsoft.com/office/drawing/2014/main" id="{37F35331-E9D1-93B2-4149-834BEB3A74D5}"/>
              </a:ext>
            </a:extLst>
          </p:cNvPr>
          <p:cNvSpPr/>
          <p:nvPr/>
        </p:nvSpPr>
        <p:spPr>
          <a:xfrm>
            <a:off x="640080" y="146304"/>
            <a:ext cx="5751639" cy="523220"/>
          </a:xfrm>
          <a:prstGeom prst="rect">
            <a:avLst/>
          </a:prstGeom>
        </p:spPr>
        <p:txBody>
          <a:bodyPr wrap="none">
            <a:spAutoFit/>
          </a:bodyPr>
          <a:lstStyle/>
          <a:p>
            <a:pPr lvl="0">
              <a:defRPr/>
            </a:pPr>
            <a:r>
              <a:rPr lang="en-US" altLang="zh-CN" sz="2800" dirty="0">
                <a:latin typeface="微软雅黑" panose="020B0503020204020204" pitchFamily="34" charset="-122"/>
                <a:ea typeface="微软雅黑" panose="020B0503020204020204" pitchFamily="34" charset="-122"/>
                <a:cs typeface="+mn-ea"/>
                <a:sym typeface="+mn-lt"/>
              </a:rPr>
              <a:t>Gembar 1-22 Long Puff </a:t>
            </a:r>
            <a:r>
              <a:rPr lang="zh-CN" altLang="en-US" sz="2800" dirty="0">
                <a:latin typeface="微软雅黑" panose="020B0503020204020204" pitchFamily="34" charset="-122"/>
                <a:ea typeface="微软雅黑" panose="020B0503020204020204" pitchFamily="34" charset="-122"/>
                <a:cs typeface="+mn-ea"/>
                <a:sym typeface="+mn-lt"/>
              </a:rPr>
              <a:t>测试结果</a:t>
            </a:r>
            <a:endParaRPr kumimoji="0" lang="zh-CN" altLang="en-US" sz="2800" i="0" u="none" strike="noStrike" kern="1200" cap="none" spc="0" normalizeH="0" baseline="0" noProof="0" dirty="0">
              <a:ln>
                <a:noFill/>
              </a:ln>
              <a:effectLst/>
              <a:uLnTx/>
              <a:uFillTx/>
              <a:latin typeface="Calibri" panose="020F0502020204030204"/>
              <a:ea typeface="宋体" panose="02010600030101010101" pitchFamily="2" charset="-122"/>
              <a:cs typeface="+mn-ea"/>
              <a:sym typeface="+mn-lt"/>
            </a:endParaRPr>
          </a:p>
        </p:txBody>
      </p:sp>
      <p:pic>
        <p:nvPicPr>
          <p:cNvPr id="4" name="Picture 3" descr="TPM_overlay.png">
            <a:extLst>
              <a:ext uri="{FF2B5EF4-FFF2-40B4-BE49-F238E27FC236}">
                <a16:creationId xmlns:a16="http://schemas.microsoft.com/office/drawing/2014/main" id="{41C73C45-8614-949D-CC2D-B03FFD5AA035}"/>
              </a:ext>
            </a:extLst>
          </p:cNvPr>
          <p:cNvPicPr>
            <a:picLocks noChangeAspect="1"/>
          </p:cNvPicPr>
          <p:nvPr/>
        </p:nvPicPr>
        <p:blipFill>
          <a:blip r:embed="rId4"/>
          <a:stretch>
            <a:fillRect/>
          </a:stretch>
        </p:blipFill>
        <p:spPr>
          <a:xfrm>
            <a:off x="7136092" y="813816"/>
            <a:ext cx="4708436" cy="4708436"/>
          </a:xfrm>
          <a:prstGeom prst="rect">
            <a:avLst/>
          </a:prstGeom>
        </p:spPr>
      </p:pic>
      <p:pic>
        <p:nvPicPr>
          <p:cNvPr id="7" name="Picture 6">
            <a:extLst>
              <a:ext uri="{FF2B5EF4-FFF2-40B4-BE49-F238E27FC236}">
                <a16:creationId xmlns:a16="http://schemas.microsoft.com/office/drawing/2014/main" id="{A3439AAB-5905-6906-B605-95CE12FB3088}"/>
              </a:ext>
            </a:extLst>
          </p:cNvPr>
          <p:cNvPicPr>
            <a:picLocks noChangeAspect="1"/>
          </p:cNvPicPr>
          <p:nvPr/>
        </p:nvPicPr>
        <p:blipFill>
          <a:blip r:embed="rId5"/>
          <a:stretch>
            <a:fillRect/>
          </a:stretch>
        </p:blipFill>
        <p:spPr>
          <a:xfrm>
            <a:off x="10201998" y="91033"/>
            <a:ext cx="1436172" cy="485446"/>
          </a:xfrm>
          <a:prstGeom prst="rect">
            <a:avLst/>
          </a:prstGeom>
        </p:spPr>
      </p:pic>
      <p:graphicFrame>
        <p:nvGraphicFramePr>
          <p:cNvPr id="8" name="Table 7">
            <a:extLst>
              <a:ext uri="{FF2B5EF4-FFF2-40B4-BE49-F238E27FC236}">
                <a16:creationId xmlns:a16="http://schemas.microsoft.com/office/drawing/2014/main" id="{3697313B-277E-6FF9-95DE-F1597DE60483}"/>
              </a:ext>
            </a:extLst>
          </p:cNvPr>
          <p:cNvGraphicFramePr>
            <a:graphicFrameLocks noGrp="1"/>
          </p:cNvGraphicFramePr>
          <p:nvPr/>
        </p:nvGraphicFramePr>
        <p:xfrm>
          <a:off x="347472" y="813816"/>
          <a:ext cx="6297774" cy="5897880"/>
        </p:xfrm>
        <a:graphic>
          <a:graphicData uri="http://schemas.openxmlformats.org/drawingml/2006/table">
            <a:tbl>
              <a:tblPr firstRow="1" bandRow="1">
                <a:tableStyleId>{5C22544A-7EE6-4342-B048-85BDC9FD1C3A}</a:tableStyleId>
              </a:tblPr>
              <a:tblGrid>
                <a:gridCol w="899682">
                  <a:extLst>
                    <a:ext uri="{9D8B030D-6E8A-4147-A177-3AD203B41FA5}">
                      <a16:colId xmlns:a16="http://schemas.microsoft.com/office/drawing/2014/main" val="20000"/>
                    </a:ext>
                  </a:extLst>
                </a:gridCol>
                <a:gridCol w="899682">
                  <a:extLst>
                    <a:ext uri="{9D8B030D-6E8A-4147-A177-3AD203B41FA5}">
                      <a16:colId xmlns:a16="http://schemas.microsoft.com/office/drawing/2014/main" val="20001"/>
                    </a:ext>
                  </a:extLst>
                </a:gridCol>
                <a:gridCol w="899682">
                  <a:extLst>
                    <a:ext uri="{9D8B030D-6E8A-4147-A177-3AD203B41FA5}">
                      <a16:colId xmlns:a16="http://schemas.microsoft.com/office/drawing/2014/main" val="20002"/>
                    </a:ext>
                  </a:extLst>
                </a:gridCol>
                <a:gridCol w="899682">
                  <a:extLst>
                    <a:ext uri="{9D8B030D-6E8A-4147-A177-3AD203B41FA5}">
                      <a16:colId xmlns:a16="http://schemas.microsoft.com/office/drawing/2014/main" val="20003"/>
                    </a:ext>
                  </a:extLst>
                </a:gridCol>
                <a:gridCol w="899682">
                  <a:extLst>
                    <a:ext uri="{9D8B030D-6E8A-4147-A177-3AD203B41FA5}">
                      <a16:colId xmlns:a16="http://schemas.microsoft.com/office/drawing/2014/main" val="3900310265"/>
                    </a:ext>
                  </a:extLst>
                </a:gridCol>
                <a:gridCol w="899682">
                  <a:extLst>
                    <a:ext uri="{9D8B030D-6E8A-4147-A177-3AD203B41FA5}">
                      <a16:colId xmlns:a16="http://schemas.microsoft.com/office/drawing/2014/main" val="20006"/>
                    </a:ext>
                  </a:extLst>
                </a:gridCol>
                <a:gridCol w="899682">
                  <a:extLst>
                    <a:ext uri="{9D8B030D-6E8A-4147-A177-3AD203B41FA5}">
                      <a16:colId xmlns:a16="http://schemas.microsoft.com/office/drawing/2014/main" val="20007"/>
                    </a:ext>
                  </a:extLst>
                </a:gridCol>
              </a:tblGrid>
              <a:tr h="1179576">
                <a:tc>
                  <a:txBody>
                    <a:bodyPr/>
                    <a:lstStyle/>
                    <a:p>
                      <a:pPr algn="ctr"/>
                      <a:r>
                        <a:rPr lang="zh-CN" altLang="en-US" sz="1000" dirty="0"/>
                        <a:t>Design and Oil</a:t>
                      </a:r>
                      <a:endParaRPr sz="1000" dirty="0"/>
                    </a:p>
                  </a:txBody>
                  <a:tcPr anchor="ctr"/>
                </a:tc>
                <a:tc>
                  <a:txBody>
                    <a:bodyPr/>
                    <a:lstStyle/>
                    <a:p>
                      <a:pPr algn="ctr"/>
                      <a:r>
                        <a:rPr lang="zh-CN" altLang="en-US" sz="1000" dirty="0"/>
                        <a:t>Power</a:t>
                      </a:r>
                      <a:endParaRPr sz="1000" dirty="0"/>
                    </a:p>
                  </a:txBody>
                  <a:tcPr anchor="ctr"/>
                </a:tc>
                <a:tc>
                  <a:txBody>
                    <a:bodyPr/>
                    <a:lstStyle/>
                    <a:p>
                      <a:pPr algn="ctr"/>
                      <a:r>
                        <a:rPr lang="zh-CN" altLang="en-US" sz="1000" dirty="0"/>
                        <a:t>Resistance</a:t>
                      </a:r>
                      <a:endParaRPr sz="1000" dirty="0"/>
                    </a:p>
                  </a:txBody>
                  <a:tcPr anchor="ctr"/>
                </a:tc>
                <a:tc>
                  <a:txBody>
                    <a:bodyPr/>
                    <a:lstStyle/>
                    <a:p>
                      <a:pPr algn="ctr"/>
                      <a:r>
                        <a:rPr lang="zh-CN" altLang="en-US" sz="1000" dirty="0"/>
                        <a:t>Regime</a:t>
                      </a:r>
                      <a:endParaRPr sz="1000" dirty="0"/>
                    </a:p>
                  </a:txBody>
                  <a:tcPr anchor="ctr"/>
                </a:tc>
                <a:tc>
                  <a:txBody>
                    <a:bodyPr/>
                    <a:lstStyle/>
                    <a:p>
                      <a:pPr algn="ctr"/>
                      <a:r>
                        <a:rPr lang="zh-CN" altLang="en-US" sz="1000" dirty="0"/>
                        <a:t>Pulling resistance (kPa)</a:t>
                      </a:r>
                      <a:r>
                        <a:rPr lang="en-US" altLang="zh-CN" sz="1000" dirty="0"/>
                        <a:t/>
                      </a:r>
                      <a:r>
                        <a:rPr lang="zh-CN" altLang="en-US" sz="1000" dirty="0"/>
                        <a:t/>
                      </a:r>
                      <a:endParaRPr sz="1000" dirty="0"/>
                    </a:p>
                  </a:txBody>
                  <a:tcPr anchor="ctr"/>
                </a:tc>
                <a:tc>
                  <a:txBody>
                    <a:bodyPr/>
                    <a:lstStyle/>
                    <a:p>
                      <a:pPr algn="ctr"/>
                      <a:r>
                        <a:rPr lang="en-US" sz="1000" dirty="0"/>
                        <a:t>SDR Result</a:t>
                      </a:r>
                      <a:r>
                        <a:rPr lang="zh-CN" altLang="en-US" sz="1000" dirty="0"/>
                        <a:t/>
                      </a:r>
                      <a:endParaRPr sz="1000" dirty="0"/>
                    </a:p>
                  </a:txBody>
                  <a:tcPr anchor="ctr"/>
                </a:tc>
                <a:tc>
                  <a:txBody>
                    <a:bodyPr/>
                    <a:lstStyle/>
                    <a:p>
                      <a:pPr algn="ctr"/>
                      <a:r>
                        <a:rPr lang="zh-CN" altLang="en-US" sz="1000" dirty="0"/>
                        <a:t>Notes</a:t>
                      </a:r>
                      <a:endParaRPr sz="1000" dirty="0"/>
                    </a:p>
                  </a:txBody>
                  <a:tcPr anchor="ctr"/>
                </a:tc>
                <a:extLst>
                  <a:ext uri="{0D108BD9-81ED-4DB2-BD59-A6C34878D82A}">
                    <a16:rowId xmlns:a16="http://schemas.microsoft.com/office/drawing/2014/main" val="10000"/>
                  </a:ext>
                </a:extLst>
              </a:tr>
              <a:tr h="1179576">
                <a:tc>
                  <a:txBody>
                    <a:bodyPr/>
                    <a:lstStyle/>
                    <a:p>
                      <a:pPr algn="ctr"/>
                      <a:r>
                        <a:rPr sz="1000" dirty="0"/>
                        <a:t>Gemb</a:t>
                      </a:r>
                      <a:r>
                        <a:rPr lang="en-US" sz="1000" dirty="0"/>
                        <a:t>ar</a:t>
                      </a:r>
                      <a:r>
                        <a:rPr sz="1000" dirty="0"/>
                        <a:t> Long-1 700kcp D8</a:t>
                      </a:r>
                    </a:p>
                  </a:txBody>
                  <a:tcPr anchor="ctr"/>
                </a:tc>
                <a:tc>
                  <a:txBody>
                    <a:bodyPr/>
                    <a:lstStyle/>
                    <a:p>
                      <a:pPr algn="ctr"/>
                      <a:r>
                        <a:rPr sz="1000" dirty="0"/>
                        <a:t>4.45W</a:t>
                      </a:r>
                    </a:p>
                  </a:txBody>
                  <a:tcPr anchor="ctr"/>
                </a:tc>
                <a:tc>
                  <a:txBody>
                    <a:bodyPr/>
                    <a:lstStyle/>
                    <a:p>
                      <a:pPr algn="ctr"/>
                      <a:r>
                        <a:rPr sz="1000"/>
                        <a:t>2.3</a:t>
                      </a:r>
                    </a:p>
                  </a:txBody>
                  <a:tcPr anchor="ctr"/>
                </a:tc>
                <a:tc rowSpan="4">
                  <a:txBody>
                    <a:bodyPr/>
                    <a:lstStyle/>
                    <a:p>
                      <a:pPr algn="ctr"/>
                      <a:r>
                        <a:rPr lang="en-US" sz="1000" dirty="0"/>
                        <a:t>100mL/5s, 160mL/8s, 200mL/10s</a:t>
                      </a:r>
                      <a:endParaRPr sz="1000" dirty="0"/>
                    </a:p>
                  </a:txBody>
                  <a:tcPr anchor="ctr"/>
                </a:tc>
                <a:tc>
                  <a:txBody>
                    <a:bodyPr/>
                    <a:lstStyle/>
                    <a:p>
                      <a:pPr algn="ctr"/>
                      <a:r>
                        <a:rPr lang="en-US" sz="1000" dirty="0"/>
                        <a:t>0.696</a:t>
                      </a:r>
                      <a:endParaRPr sz="1000" dirty="0"/>
                    </a:p>
                  </a:txBody>
                  <a:tcPr anchor="ctr"/>
                </a:tc>
                <a:tc>
                  <a:txBody>
                    <a:bodyPr/>
                    <a:lstStyle/>
                    <a:p>
                      <a:pPr algn="ctr"/>
                      <a:r>
                        <a:rPr lang="en-US" sz="1000" dirty="0"/>
                        <a:t>Pass</a:t>
                      </a:r>
                      <a:endParaRPr sz="1000" dirty="0"/>
                    </a:p>
                  </a:txBody>
                  <a:tcPr anchor="ctr"/>
                </a:tc>
                <a:tc>
                  <a:txBody>
                    <a:bodyPr/>
                    <a:lstStyle/>
                    <a:p>
                      <a:pPr algn="ctr"/>
                      <a:r>
                        <a:rPr lang="zh-CN" altLang="en-US" sz="1000" dirty="0"/>
                        <a:t>No problems</a:t>
                      </a:r>
                      <a:endParaRPr sz="1000" dirty="0"/>
                    </a:p>
                  </a:txBody>
                  <a:tcPr anchor="ctr"/>
                </a:tc>
                <a:extLst>
                  <a:ext uri="{0D108BD9-81ED-4DB2-BD59-A6C34878D82A}">
                    <a16:rowId xmlns:a16="http://schemas.microsoft.com/office/drawing/2014/main" val="10001"/>
                  </a:ext>
                </a:extLst>
              </a:tr>
              <a:tr h="1179576">
                <a:tc>
                  <a:txBody>
                    <a:bodyPr/>
                    <a:lstStyle/>
                    <a:p>
                      <a:pPr algn="ctr"/>
                      <a:r>
                        <a:rPr sz="1000" dirty="0"/>
                        <a:t>Gemb</a:t>
                      </a:r>
                      <a:r>
                        <a:rPr lang="en-US" sz="1000" dirty="0"/>
                        <a:t>ar</a:t>
                      </a:r>
                      <a:r>
                        <a:rPr sz="1000" dirty="0"/>
                        <a:t> Long-2 700kcp D8</a:t>
                      </a:r>
                    </a:p>
                  </a:txBody>
                  <a:tcPr anchor="ctr"/>
                </a:tc>
                <a:tc>
                  <a:txBody>
                    <a:bodyPr/>
                    <a:lstStyle/>
                    <a:p>
                      <a:pPr algn="ctr"/>
                      <a:r>
                        <a:rPr sz="1000" dirty="0"/>
                        <a:t>4.45W</a:t>
                      </a:r>
                    </a:p>
                  </a:txBody>
                  <a:tcPr anchor="ctr"/>
                </a:tc>
                <a:tc>
                  <a:txBody>
                    <a:bodyPr/>
                    <a:lstStyle/>
                    <a:p>
                      <a:pPr algn="ctr"/>
                      <a:r>
                        <a:rPr sz="1000"/>
                        <a:t>2.3</a:t>
                      </a:r>
                    </a:p>
                  </a:txBody>
                  <a:tcPr anchor="ctr"/>
                </a:tc>
                <a:tc vMerge="1">
                  <a:txBody>
                    <a:bodyPr/>
                    <a:lstStyle/>
                    <a:p>
                      <a:pPr algn="ctr"/>
                      <a:endParaRPr sz="1000" dirty="0"/>
                    </a:p>
                  </a:txBody>
                  <a:tcPr anchor="ctr"/>
                </a:tc>
                <a:tc>
                  <a:txBody>
                    <a:bodyPr/>
                    <a:lstStyle/>
                    <a:p>
                      <a:pPr algn="ctr"/>
                      <a:r>
                        <a:rPr lang="en-US" sz="1000" dirty="0"/>
                        <a:t>0.365</a:t>
                      </a:r>
                      <a:endParaRPr sz="1000" dirty="0"/>
                    </a:p>
                  </a:txBody>
                  <a:tcPr anchor="ctr"/>
                </a:tc>
                <a:tc>
                  <a:txBody>
                    <a:bodyPr/>
                    <a:lstStyle/>
                    <a:p>
                      <a:pPr algn="ctr"/>
                      <a:r>
                        <a:rPr lang="en-US" sz="1000" dirty="0"/>
                        <a:t>Tentative Pass</a:t>
                      </a:r>
                      <a:endParaRPr sz="1000" dirty="0"/>
                    </a:p>
                  </a:txBody>
                  <a:tcPr anchor="ctr"/>
                </a:tc>
                <a:tc>
                  <a:txBody>
                    <a:bodyPr/>
                    <a:lstStyle/>
                    <a:p>
                      <a:pPr algn="ctr"/>
                      <a:r>
                        <a:rPr lang="zh-CN" altLang="en-US" sz="1000" dirty="0"/>
                        <a:t>Low traction and low TPM. No burns or any other problems.</a:t>
                      </a:r>
                      <a:r>
                        <a:rPr lang="en-US" altLang="zh-CN" sz="1000" dirty="0"/>
                        <a:t/>
                      </a:r>
                      <a:r>
                        <a:rPr lang="zh-CN" altLang="en-US" sz="1000" dirty="0"/>
                        <a:t/>
                      </a:r>
                      <a:endParaRPr sz="1000" dirty="0"/>
                    </a:p>
                  </a:txBody>
                  <a:tcPr anchor="ctr"/>
                </a:tc>
                <a:extLst>
                  <a:ext uri="{0D108BD9-81ED-4DB2-BD59-A6C34878D82A}">
                    <a16:rowId xmlns:a16="http://schemas.microsoft.com/office/drawing/2014/main" val="10002"/>
                  </a:ext>
                </a:extLst>
              </a:tr>
              <a:tr h="1179576">
                <a:tc>
                  <a:txBody>
                    <a:bodyPr/>
                    <a:lstStyle/>
                    <a:p>
                      <a:pPr algn="ctr"/>
                      <a:r>
                        <a:rPr sz="1000" dirty="0"/>
                        <a:t>Gemb</a:t>
                      </a:r>
                      <a:r>
                        <a:rPr lang="en-US" sz="1000" dirty="0"/>
                        <a:t>ar</a:t>
                      </a:r>
                      <a:r>
                        <a:rPr sz="1000" dirty="0"/>
                        <a:t> Long-3 700kcp D8</a:t>
                      </a:r>
                    </a:p>
                  </a:txBody>
                  <a:tcPr anchor="ctr"/>
                </a:tc>
                <a:tc>
                  <a:txBody>
                    <a:bodyPr/>
                    <a:lstStyle/>
                    <a:p>
                      <a:pPr algn="ctr"/>
                      <a:r>
                        <a:rPr sz="1000" dirty="0"/>
                        <a:t>4.45W</a:t>
                      </a:r>
                    </a:p>
                  </a:txBody>
                  <a:tcPr anchor="ctr"/>
                </a:tc>
                <a:tc>
                  <a:txBody>
                    <a:bodyPr/>
                    <a:lstStyle/>
                    <a:p>
                      <a:pPr algn="ctr"/>
                      <a:r>
                        <a:rPr sz="1000"/>
                        <a:t>2.3</a:t>
                      </a:r>
                    </a:p>
                  </a:txBody>
                  <a:tcPr anchor="ctr"/>
                </a:tc>
                <a:tc vMerge="1">
                  <a:txBody>
                    <a:bodyPr/>
                    <a:lstStyle/>
                    <a:p>
                      <a:pPr algn="ctr"/>
                      <a:endParaRPr sz="1000" dirty="0"/>
                    </a:p>
                  </a:txBody>
                  <a:tcPr anchor="ctr"/>
                </a:tc>
                <a:tc>
                  <a:txBody>
                    <a:bodyPr/>
                    <a:lstStyle/>
                    <a:p>
                      <a:pPr algn="ctr"/>
                      <a:r>
                        <a:rPr lang="en-US" sz="1000" dirty="0"/>
                        <a:t>0.798</a:t>
                      </a:r>
                      <a:endParaRPr sz="1000" dirty="0"/>
                    </a:p>
                  </a:txBody>
                  <a:tcPr anchor="ctr"/>
                </a:tc>
                <a:tc>
                  <a:txBody>
                    <a:bodyPr/>
                    <a:lstStyle/>
                    <a:p>
                      <a:pPr algn="ctr"/>
                      <a:r>
                        <a:rPr lang="en-US" sz="1000" dirty="0"/>
                        <a:t>Pass</a:t>
                      </a:r>
                      <a:endParaRPr sz="1000" dirty="0"/>
                    </a:p>
                  </a:txBody>
                  <a:tcPr anchor="ctr"/>
                </a:tc>
                <a:tc>
                  <a:txBody>
                    <a:bodyPr/>
                    <a:lstStyle/>
                    <a:p>
                      <a:pPr algn="ctr"/>
                      <a:r>
                        <a:rPr lang="zh-CN" altLang="en-US" sz="1000" dirty="0"/>
                        <a:t>No problem</a:t>
                      </a:r>
                      <a:endParaRPr sz="1000" dirty="0"/>
                    </a:p>
                  </a:txBody>
                  <a:tcPr anchor="ctr"/>
                </a:tc>
                <a:extLst>
                  <a:ext uri="{0D108BD9-81ED-4DB2-BD59-A6C34878D82A}">
                    <a16:rowId xmlns:a16="http://schemas.microsoft.com/office/drawing/2014/main" val="10003"/>
                  </a:ext>
                </a:extLst>
              </a:tr>
              <a:tr h="1179576">
                <a:tc>
                  <a:txBody>
                    <a:bodyPr/>
                    <a:lstStyle/>
                    <a:p>
                      <a:pPr algn="ctr"/>
                      <a:r>
                        <a:rPr sz="1000" dirty="0"/>
                        <a:t>Gemb</a:t>
                      </a:r>
                      <a:r>
                        <a:rPr lang="en-US" sz="1000" dirty="0"/>
                        <a:t>ar</a:t>
                      </a:r>
                      <a:r>
                        <a:rPr sz="1000" dirty="0"/>
                        <a:t> Long-4 700kcp D8</a:t>
                      </a:r>
                    </a:p>
                  </a:txBody>
                  <a:tcPr anchor="ctr"/>
                </a:tc>
                <a:tc>
                  <a:txBody>
                    <a:bodyPr/>
                    <a:lstStyle/>
                    <a:p>
                      <a:pPr algn="ctr"/>
                      <a:r>
                        <a:rPr sz="1000" dirty="0"/>
                        <a:t>4.45W</a:t>
                      </a:r>
                    </a:p>
                  </a:txBody>
                  <a:tcPr anchor="ctr"/>
                </a:tc>
                <a:tc>
                  <a:txBody>
                    <a:bodyPr/>
                    <a:lstStyle/>
                    <a:p>
                      <a:pPr algn="ctr"/>
                      <a:r>
                        <a:rPr sz="1000" dirty="0"/>
                        <a:t>2.3</a:t>
                      </a:r>
                    </a:p>
                  </a:txBody>
                  <a:tcPr anchor="ctr"/>
                </a:tc>
                <a:tc vMerge="1">
                  <a:txBody>
                    <a:bodyPr/>
                    <a:lstStyle/>
                    <a:p>
                      <a:pPr algn="ctr"/>
                      <a:endParaRPr sz="1000" dirty="0"/>
                    </a:p>
                  </a:txBody>
                  <a:tcPr anchor="ctr"/>
                </a:tc>
                <a:tc>
                  <a:txBody>
                    <a:bodyPr/>
                    <a:lstStyle/>
                    <a:p>
                      <a:pPr algn="ctr"/>
                      <a:r>
                        <a:rPr lang="en-US" sz="1000" dirty="0"/>
                        <a:t>0.586</a:t>
                      </a:r>
                      <a:endParaRPr sz="1000" dirty="0"/>
                    </a:p>
                  </a:txBody>
                  <a:tcPr anchor="ctr"/>
                </a:tc>
                <a:tc>
                  <a:txBody>
                    <a:bodyPr/>
                    <a:lstStyle/>
                    <a:p>
                      <a:pPr algn="ctr"/>
                      <a:r>
                        <a:rPr lang="en-US" sz="1000" dirty="0"/>
                        <a:t>Tentative Pass</a:t>
                      </a:r>
                      <a:endParaRPr sz="1000" dirty="0"/>
                    </a:p>
                  </a:txBody>
                  <a:tcPr anchor="ctr"/>
                </a:tc>
                <a:tc>
                  <a:txBody>
                    <a:bodyPr/>
                    <a:lstStyle/>
                    <a:p>
                      <a:pPr algn="ctr"/>
                      <a:r>
                        <a:rPr lang="zh-CN" altLang="en-US" sz="1000" dirty="0"/>
                        <a:t>Low TPM, longer suction time, but no burning</a:t>
                      </a:r>
                      <a:r>
                        <a:rPr lang="en-US" altLang="zh-CN" sz="1000" dirty="0"/>
                        <a:t/>
                      </a:r>
                      <a:r>
                        <a:rPr lang="zh-CN" altLang="en-US" sz="1000" dirty="0"/>
                        <a:t/>
                      </a:r>
                      <a:endParaRPr sz="1000" dirty="0"/>
                    </a:p>
                  </a:txBody>
                  <a:tcPr anchor="ctr"/>
                </a:tc>
                <a:extLst>
                  <a:ext uri="{0D108BD9-81ED-4DB2-BD59-A6C34878D82A}">
                    <a16:rowId xmlns:a16="http://schemas.microsoft.com/office/drawing/2014/main" val="10004"/>
                  </a:ext>
                </a:extLst>
              </a:tr>
            </a:tbl>
          </a:graphicData>
        </a:graphic>
      </p:graphicFrame>
      <p:cxnSp>
        <p:nvCxnSpPr>
          <p:cNvPr id="10" name="Straight Connector 9">
            <a:extLst>
              <a:ext uri="{FF2B5EF4-FFF2-40B4-BE49-F238E27FC236}">
                <a16:creationId xmlns:a16="http://schemas.microsoft.com/office/drawing/2014/main" id="{1B473FFF-CBD6-DDBF-2896-4D246619CD3F}"/>
              </a:ext>
            </a:extLst>
          </p:cNvPr>
          <p:cNvCxnSpPr>
            <a:cxnSpLocks/>
          </p:cNvCxnSpPr>
          <p:nvPr/>
        </p:nvCxnSpPr>
        <p:spPr>
          <a:xfrm flipV="1">
            <a:off x="8797994" y="1412341"/>
            <a:ext cx="0" cy="3612332"/>
          </a:xfrm>
          <a:prstGeom prst="line">
            <a:avLst/>
          </a:prstGeom>
          <a:ln w="19050" cap="flat" cmpd="sng" algn="ctr">
            <a:solidFill>
              <a:srgbClr val="FF0000"/>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1" name="Straight Connector 10">
            <a:extLst>
              <a:ext uri="{FF2B5EF4-FFF2-40B4-BE49-F238E27FC236}">
                <a16:creationId xmlns:a16="http://schemas.microsoft.com/office/drawing/2014/main" id="{AC2B4E54-8931-D3FC-3180-2025569A5A83}"/>
              </a:ext>
            </a:extLst>
          </p:cNvPr>
          <p:cNvCxnSpPr>
            <a:cxnSpLocks/>
          </p:cNvCxnSpPr>
          <p:nvPr/>
        </p:nvCxnSpPr>
        <p:spPr>
          <a:xfrm flipV="1">
            <a:off x="10201998" y="1412341"/>
            <a:ext cx="0" cy="3612332"/>
          </a:xfrm>
          <a:prstGeom prst="line">
            <a:avLst/>
          </a:prstGeom>
          <a:ln w="19050" cap="flat" cmpd="sng" algn="ctr">
            <a:solidFill>
              <a:srgbClr val="FF0000"/>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2" name="TextBox 11">
            <a:extLst>
              <a:ext uri="{FF2B5EF4-FFF2-40B4-BE49-F238E27FC236}">
                <a16:creationId xmlns:a16="http://schemas.microsoft.com/office/drawing/2014/main" id="{7612848B-ADB4-AD04-D90D-C2FBC20F6171}"/>
              </a:ext>
            </a:extLst>
          </p:cNvPr>
          <p:cNvSpPr txBox="1"/>
          <p:nvPr/>
        </p:nvSpPr>
        <p:spPr>
          <a:xfrm>
            <a:off x="8134327" y="4370446"/>
            <a:ext cx="632389" cy="584775"/>
          </a:xfrm>
          <a:prstGeom prst="rect">
            <a:avLst/>
          </a:prstGeom>
          <a:noFill/>
        </p:spPr>
        <p:txBody>
          <a:bodyPr wrap="square" rtlCol="0">
            <a:spAutoFit/>
          </a:bodyPr>
          <a:lstStyle/>
          <a:p>
            <a:r>
              <a:rPr lang="en-US" sz="1600"/>
              <a:t>5s Puff</a:t>
            </a:r>
            <a:r>
              <a:rPr lang="zh-CN" altLang="en-US" sz="1600"/>
              <a:t/>
            </a:r>
            <a:endParaRPr lang="en-US" sz="1600" dirty="0"/>
          </a:p>
        </p:txBody>
      </p:sp>
      <p:sp>
        <p:nvSpPr>
          <p:cNvPr id="13" name="TextBox 12">
            <a:extLst>
              <a:ext uri="{FF2B5EF4-FFF2-40B4-BE49-F238E27FC236}">
                <a16:creationId xmlns:a16="http://schemas.microsoft.com/office/drawing/2014/main" id="{FCD51148-74A2-BA1A-9FE6-20E662514428}"/>
              </a:ext>
            </a:extLst>
          </p:cNvPr>
          <p:cNvSpPr txBox="1"/>
          <p:nvPr/>
        </p:nvSpPr>
        <p:spPr>
          <a:xfrm>
            <a:off x="9569609" y="4439898"/>
            <a:ext cx="632389" cy="584775"/>
          </a:xfrm>
          <a:prstGeom prst="rect">
            <a:avLst/>
          </a:prstGeom>
          <a:noFill/>
        </p:spPr>
        <p:txBody>
          <a:bodyPr wrap="square" rtlCol="0">
            <a:spAutoFit/>
          </a:bodyPr>
          <a:lstStyle/>
          <a:p>
            <a:r>
              <a:rPr lang="en-US" sz="1600"/>
              <a:t>8s Puff</a:t>
            </a:r>
            <a:r>
              <a:rPr lang="zh-CN" altLang="en-US" sz="1600"/>
              <a:t/>
            </a:r>
            <a:endParaRPr lang="en-US" sz="1600" dirty="0"/>
          </a:p>
        </p:txBody>
      </p:sp>
      <p:sp>
        <p:nvSpPr>
          <p:cNvPr id="14" name="TextBox 13">
            <a:extLst>
              <a:ext uri="{FF2B5EF4-FFF2-40B4-BE49-F238E27FC236}">
                <a16:creationId xmlns:a16="http://schemas.microsoft.com/office/drawing/2014/main" id="{F55E0156-18CF-31B7-1EA0-0AC71045E5FB}"/>
              </a:ext>
            </a:extLst>
          </p:cNvPr>
          <p:cNvSpPr txBox="1"/>
          <p:nvPr/>
        </p:nvSpPr>
        <p:spPr>
          <a:xfrm>
            <a:off x="10735060" y="4370446"/>
            <a:ext cx="694938" cy="584775"/>
          </a:xfrm>
          <a:prstGeom prst="rect">
            <a:avLst/>
          </a:prstGeom>
          <a:noFill/>
        </p:spPr>
        <p:txBody>
          <a:bodyPr wrap="square" rtlCol="0">
            <a:normAutofit/>
          </a:bodyPr>
          <a:lstStyle/>
          <a:p>
            <a:r>
              <a:rPr lang="en-US" altLang="zh-CN" sz="1000"/>
              <a:t>10 second puff</a:t>
            </a:r>
            <a:r>
              <a:rPr lang="zh-CN" altLang="en-US" sz="1600"/>
              <a:t/>
            </a:r>
            <a:endParaRPr lang="en-US" sz="1600" dirty="0"/>
          </a:p>
        </p:txBody>
      </p:sp>
    </p:spTree>
    <p:extLst>
      <p:ext uri="{BB962C8B-B14F-4D97-AF65-F5344CB8AC3E}">
        <p14:creationId xmlns:p14="http://schemas.microsoft.com/office/powerpoint/2010/main" val="34712044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D63644-84E6-25DD-1967-3A3975F80DA8}"/>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D731D971-5013-7230-A5D9-1C5E21AD1DB2}"/>
              </a:ext>
            </a:extLst>
          </p:cNvPr>
          <p:cNvPicPr>
            <a:picLocks noChangeAspect="1"/>
          </p:cNvPicPr>
          <p:nvPr/>
        </p:nvPicPr>
        <p:blipFill>
          <a:blip r:embed="rId3" cstate="screen">
            <a:alphaModFix amt="60000"/>
            <a:extLst>
              <a:ext uri="{28A0092B-C50C-407E-A947-70E740481C1C}">
                <a14:useLocalDpi xmlns:a14="http://schemas.microsoft.com/office/drawing/2010/main"/>
              </a:ext>
            </a:extLst>
          </a:blip>
          <a:stretch>
            <a:fillRect/>
          </a:stretch>
        </p:blipFill>
        <p:spPr>
          <a:xfrm>
            <a:off x="-361" y="203"/>
            <a:ext cx="12192361" cy="6857797"/>
          </a:xfrm>
          <a:prstGeom prst="rect">
            <a:avLst/>
          </a:prstGeom>
        </p:spPr>
      </p:pic>
      <p:pic>
        <p:nvPicPr>
          <p:cNvPr id="4" name="Picture 3">
            <a:extLst>
              <a:ext uri="{FF2B5EF4-FFF2-40B4-BE49-F238E27FC236}">
                <a16:creationId xmlns:a16="http://schemas.microsoft.com/office/drawing/2014/main" id="{D531BC15-A82B-91CF-A093-FD5684294C4A}"/>
              </a:ext>
            </a:extLst>
          </p:cNvPr>
          <p:cNvPicPr>
            <a:picLocks noChangeAspect="1"/>
          </p:cNvPicPr>
          <p:nvPr/>
        </p:nvPicPr>
        <p:blipFill>
          <a:blip r:embed="rId4"/>
          <a:stretch>
            <a:fillRect/>
          </a:stretch>
        </p:blipFill>
        <p:spPr>
          <a:xfrm>
            <a:off x="10201998" y="91033"/>
            <a:ext cx="1436172" cy="485446"/>
          </a:xfrm>
          <a:prstGeom prst="rect">
            <a:avLst/>
          </a:prstGeom>
        </p:spPr>
      </p:pic>
      <p:sp>
        <p:nvSpPr>
          <p:cNvPr id="14" name="矩形 4">
            <a:extLst>
              <a:ext uri="{FF2B5EF4-FFF2-40B4-BE49-F238E27FC236}">
                <a16:creationId xmlns:a16="http://schemas.microsoft.com/office/drawing/2014/main" id="{39017EEF-6852-4A89-A97B-1175BDE04049}"/>
              </a:ext>
            </a:extLst>
          </p:cNvPr>
          <p:cNvSpPr/>
          <p:nvPr/>
        </p:nvSpPr>
        <p:spPr>
          <a:xfrm>
            <a:off x="640080" y="146304"/>
            <a:ext cx="3887667" cy="523220"/>
          </a:xfrm>
          <a:prstGeom prst="rect">
            <a:avLst/>
          </a:prstGeom>
        </p:spPr>
        <p:txBody>
          <a:bodyPr wrap="none">
            <a:normAutofit/>
          </a:bodyPr>
          <a:lstStyle/>
          <a:p>
            <a:pPr lvl="0">
              <a:defRPr/>
            </a:pPr>
            <a:r>
              <a:rPr lang="en-US" altLang="zh-CN" sz="1900" dirty="0">
                <a:latin typeface="微软雅黑" panose="020B0503020204020204" pitchFamily="34" charset="-122"/>
                <a:ea typeface="微软雅黑" panose="020B0503020204020204" pitchFamily="34" charset="-122"/>
                <a:cs typeface="+mn-ea"/>
                <a:sym typeface="+mn-lt"/>
              </a:rPr>
              <a:t>Gembox User Testing Update</a:t>
            </a:r>
            <a:r>
              <a:rPr lang="zh-CN" altLang="en-US" sz="2800" dirty="0">
                <a:latin typeface="微软雅黑" panose="020B0503020204020204" pitchFamily="34" charset="-122"/>
                <a:ea typeface="微软雅黑" panose="020B0503020204020204" pitchFamily="34" charset="-122"/>
                <a:cs typeface="+mn-ea"/>
                <a:sym typeface="+mn-lt"/>
              </a:rPr>
              <a:t/>
            </a:r>
            <a:endParaRPr kumimoji="0" lang="zh-CN" altLang="en-US" sz="2800" i="0" u="none" strike="noStrike" kern="1200" cap="none" spc="0" normalizeH="0" baseline="0" noProof="0" dirty="0">
              <a:ln>
                <a:noFill/>
              </a:ln>
              <a:effectLst/>
              <a:uLnTx/>
              <a:uFillTx/>
              <a:latin typeface="Calibri" panose="020F0502020204030204"/>
              <a:ea typeface="宋体" panose="02010600030101010101" pitchFamily="2" charset="-122"/>
              <a:cs typeface="+mn-ea"/>
              <a:sym typeface="+mn-lt"/>
            </a:endParaRPr>
          </a:p>
        </p:txBody>
      </p:sp>
      <p:sp>
        <p:nvSpPr>
          <p:cNvPr id="21" name="TextBox 20">
            <a:extLst>
              <a:ext uri="{FF2B5EF4-FFF2-40B4-BE49-F238E27FC236}">
                <a16:creationId xmlns:a16="http://schemas.microsoft.com/office/drawing/2014/main" id="{F8878F6C-7BC5-FE35-737F-050C820A3BA8}"/>
              </a:ext>
            </a:extLst>
          </p:cNvPr>
          <p:cNvSpPr txBox="1"/>
          <p:nvPr/>
        </p:nvSpPr>
        <p:spPr>
          <a:xfrm>
            <a:off x="307818" y="4718936"/>
            <a:ext cx="4056144" cy="1384995"/>
          </a:xfrm>
          <a:prstGeom prst="rect">
            <a:avLst/>
          </a:prstGeom>
          <a:noFill/>
        </p:spPr>
        <p:txBody>
          <a:bodyPr wrap="square" rtlCol="0">
            <a:normAutofit/>
          </a:bodyPr>
          <a:lstStyle/>
          <a:p>
            <a:r>
              <a:rPr lang="zh-CN" altLang="en-US" sz="1200" dirty="0"/>
              <a:t>Insufficient user testing for D9 - The focus has always been on Gembar and the 510 model. Significant modifications are needed for the angle of the air inlet and the gasket above the air inlet.</a:t>
            </a:r>
            <a:r>
              <a:rPr lang="en-US" altLang="zh-CN" sz="1400" dirty="0"/>
              <a:t/>
            </a:r>
            <a:r>
              <a:rPr lang="zh-CN" altLang="en-US" sz="1400" dirty="0"/>
              <a:t/>
            </a:r>
            <a:r>
              <a:rPr lang="en-US" altLang="zh-CN" sz="1400" dirty="0"/>
              <a:t/>
            </a:r>
            <a:r>
              <a:rPr lang="zh-CN" altLang="en-US" sz="1400" dirty="0"/>
              <a:t/>
            </a:r>
            <a:r>
              <a:rPr lang="en-US" altLang="zh-CN" sz="1400" dirty="0"/>
              <a:t/>
            </a:r>
            <a:r>
              <a:rPr lang="zh-CN" altLang="en-US" sz="1400" dirty="0"/>
              <a:t/>
            </a:r>
            <a:r>
              <a:rPr lang="en-US" altLang="zh-CN" sz="1400" dirty="0"/>
              <a:t/>
            </a:r>
            <a:r>
              <a:rPr lang="zh-CN" altLang="en-US" sz="1400" dirty="0"/>
              <a:t/>
            </a:r>
            <a:r>
              <a:rPr lang="en-US" altLang="zh-CN" sz="1400" dirty="0"/>
              <a:t/>
            </a:r>
            <a:r>
              <a:rPr lang="zh-CN" altLang="en-US" sz="1400" dirty="0"/>
              <a:t/>
            </a:r>
            <a:r>
              <a:rPr lang="en-US" altLang="zh-CN" sz="1400" dirty="0"/>
              <a:t/>
            </a:r>
            <a:r>
              <a:rPr lang="zh-CN" altLang="en-US" sz="1400" dirty="0"/>
              <a:t/>
            </a:r>
            <a:endParaRPr lang="en-US" sz="1400" dirty="0"/>
            <a:br/>
            <a:r>
              <a:rPr lang="zh-CN" altLang="en-US" sz="1200" dirty="0"/>
              <a:t>During the sulfur candle user test, batches 12-11 with a wall around the inlet performed best. However, there is not enough D9 data to support this.</a:t>
            </a:r>
          </a:p>
        </p:txBody>
      </p:sp>
      <p:graphicFrame>
        <p:nvGraphicFramePr>
          <p:cNvPr id="7" name="Table 6">
            <a:extLst>
              <a:ext uri="{FF2B5EF4-FFF2-40B4-BE49-F238E27FC236}">
                <a16:creationId xmlns:a16="http://schemas.microsoft.com/office/drawing/2014/main" id="{33FED31D-715B-0DB1-65FE-F5B6C7D54A19}"/>
              </a:ext>
            </a:extLst>
          </p:cNvPr>
          <p:cNvGraphicFramePr>
            <a:graphicFrameLocks noGrp="1"/>
          </p:cNvGraphicFramePr>
          <p:nvPr>
            <p:extLst>
              <p:ext uri="{D42A27DB-BD31-4B8C-83A1-F6EECF244321}">
                <p14:modId xmlns:p14="http://schemas.microsoft.com/office/powerpoint/2010/main" val="4106753310"/>
              </p:ext>
            </p:extLst>
          </p:nvPr>
        </p:nvGraphicFramePr>
        <p:xfrm>
          <a:off x="551485" y="815625"/>
          <a:ext cx="10946417" cy="3589437"/>
        </p:xfrm>
        <a:graphic>
          <a:graphicData uri="http://schemas.openxmlformats.org/drawingml/2006/table">
            <a:tbl>
              <a:tblPr>
                <a:tableStyleId>{5C22544A-7EE6-4342-B048-85BDC9FD1C3A}</a:tableStyleId>
              </a:tblPr>
              <a:tblGrid>
                <a:gridCol w="772925">
                  <a:extLst>
                    <a:ext uri="{9D8B030D-6E8A-4147-A177-3AD203B41FA5}">
                      <a16:colId xmlns:a16="http://schemas.microsoft.com/office/drawing/2014/main" val="3366786461"/>
                    </a:ext>
                  </a:extLst>
                </a:gridCol>
                <a:gridCol w="702659">
                  <a:extLst>
                    <a:ext uri="{9D8B030D-6E8A-4147-A177-3AD203B41FA5}">
                      <a16:colId xmlns:a16="http://schemas.microsoft.com/office/drawing/2014/main" val="3327106287"/>
                    </a:ext>
                  </a:extLst>
                </a:gridCol>
                <a:gridCol w="953608">
                  <a:extLst>
                    <a:ext uri="{9D8B030D-6E8A-4147-A177-3AD203B41FA5}">
                      <a16:colId xmlns:a16="http://schemas.microsoft.com/office/drawing/2014/main" val="609022931"/>
                    </a:ext>
                  </a:extLst>
                </a:gridCol>
                <a:gridCol w="592240">
                  <a:extLst>
                    <a:ext uri="{9D8B030D-6E8A-4147-A177-3AD203B41FA5}">
                      <a16:colId xmlns:a16="http://schemas.microsoft.com/office/drawing/2014/main" val="1576387155"/>
                    </a:ext>
                  </a:extLst>
                </a:gridCol>
                <a:gridCol w="552090">
                  <a:extLst>
                    <a:ext uri="{9D8B030D-6E8A-4147-A177-3AD203B41FA5}">
                      <a16:colId xmlns:a16="http://schemas.microsoft.com/office/drawing/2014/main" val="4181855029"/>
                    </a:ext>
                  </a:extLst>
                </a:gridCol>
                <a:gridCol w="883342">
                  <a:extLst>
                    <a:ext uri="{9D8B030D-6E8A-4147-A177-3AD203B41FA5}">
                      <a16:colId xmlns:a16="http://schemas.microsoft.com/office/drawing/2014/main" val="2210215240"/>
                    </a:ext>
                  </a:extLst>
                </a:gridCol>
                <a:gridCol w="662507">
                  <a:extLst>
                    <a:ext uri="{9D8B030D-6E8A-4147-A177-3AD203B41FA5}">
                      <a16:colId xmlns:a16="http://schemas.microsoft.com/office/drawing/2014/main" val="2757476954"/>
                    </a:ext>
                  </a:extLst>
                </a:gridCol>
                <a:gridCol w="715206">
                  <a:extLst>
                    <a:ext uri="{9D8B030D-6E8A-4147-A177-3AD203B41FA5}">
                      <a16:colId xmlns:a16="http://schemas.microsoft.com/office/drawing/2014/main" val="3866055920"/>
                    </a:ext>
                  </a:extLst>
                </a:gridCol>
                <a:gridCol w="562127">
                  <a:extLst>
                    <a:ext uri="{9D8B030D-6E8A-4147-A177-3AD203B41FA5}">
                      <a16:colId xmlns:a16="http://schemas.microsoft.com/office/drawing/2014/main" val="1958271037"/>
                    </a:ext>
                  </a:extLst>
                </a:gridCol>
                <a:gridCol w="782963">
                  <a:extLst>
                    <a:ext uri="{9D8B030D-6E8A-4147-A177-3AD203B41FA5}">
                      <a16:colId xmlns:a16="http://schemas.microsoft.com/office/drawing/2014/main" val="2912840028"/>
                    </a:ext>
                  </a:extLst>
                </a:gridCol>
                <a:gridCol w="401519">
                  <a:extLst>
                    <a:ext uri="{9D8B030D-6E8A-4147-A177-3AD203B41FA5}">
                      <a16:colId xmlns:a16="http://schemas.microsoft.com/office/drawing/2014/main" val="807322567"/>
                    </a:ext>
                  </a:extLst>
                </a:gridCol>
                <a:gridCol w="612316">
                  <a:extLst>
                    <a:ext uri="{9D8B030D-6E8A-4147-A177-3AD203B41FA5}">
                      <a16:colId xmlns:a16="http://schemas.microsoft.com/office/drawing/2014/main" val="1238306141"/>
                    </a:ext>
                  </a:extLst>
                </a:gridCol>
                <a:gridCol w="1287370">
                  <a:extLst>
                    <a:ext uri="{9D8B030D-6E8A-4147-A177-3AD203B41FA5}">
                      <a16:colId xmlns:a16="http://schemas.microsoft.com/office/drawing/2014/main" val="2003190672"/>
                    </a:ext>
                  </a:extLst>
                </a:gridCol>
                <a:gridCol w="1465545">
                  <a:extLst>
                    <a:ext uri="{9D8B030D-6E8A-4147-A177-3AD203B41FA5}">
                      <a16:colId xmlns:a16="http://schemas.microsoft.com/office/drawing/2014/main" val="3880904838"/>
                    </a:ext>
                  </a:extLst>
                </a:gridCol>
              </a:tblGrid>
              <a:tr h="358944">
                <a:tc>
                  <a:txBody>
                    <a:bodyPr/>
                    <a:lstStyle/>
                    <a:p>
                      <a:pPr algn="ctr" fontAlgn="ctr"/>
                      <a:r>
                        <a:rPr lang="zh-CN" altLang="en-US" sz="900" b="1" u="none" strike="noStrike" dirty="0">
                          <a:effectLst/>
                        </a:rPr>
                        <a:t>Sample</a:t>
                      </a:r>
                      <a:endParaRPr lang="en-US" sz="900" b="1"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ctr"/>
                      <a:r>
                        <a:rPr lang="zh-CN" altLang="en-US" sz="900" b="1" u="none" strike="noStrike" dirty="0">
                          <a:effectLst/>
                        </a:rPr>
                        <a:t>Username</a:t>
                      </a:r>
                      <a:endParaRPr lang="en-US" sz="900" b="1"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ctr"/>
                      <a:r>
                        <a:rPr lang="zh-CN" altLang="en-US" sz="900" b="1" u="none" strike="noStrike" dirty="0">
                          <a:effectLst/>
                        </a:rPr>
                        <a:t>Transaction Date</a:t>
                      </a:r>
                      <a:endParaRPr lang="en-US" sz="900" b="1"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ctr"/>
                      <a:r>
                        <a:rPr lang="zh-CN" altLang="en-US" sz="900" b="1" u="none" strike="noStrike" dirty="0">
                          <a:effectLst/>
                        </a:rPr>
                        <a:t>Filled Media</a:t>
                      </a:r>
                      <a:endParaRPr lang="en-US" sz="900" b="1"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ctr"/>
                      <a:r>
                        <a:rPr lang="zh-CN" altLang="en-US" sz="900" b="1" u="none" strike="noStrike" dirty="0">
                          <a:effectLst/>
                        </a:rPr>
                        <a:t>Fill Volume</a:t>
                      </a:r>
                      <a:endParaRPr lang="en-US" sz="900" b="1"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ctr"/>
                      <a:r>
                        <a:rPr lang="zh-CN" altLang="en-US" sz="900" b="1" u="none" strike="noStrike" dirty="0">
                          <a:effectLst/>
                        </a:rPr>
                        <a:t>Resistance Before Use</a:t>
                      </a:r>
                      <a:endParaRPr lang="en-US" sz="900" b="1"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ctr"/>
                      <a:r>
                        <a:rPr lang="zh-CN" altLang="en-US" sz="900" b="1" u="none" strike="noStrike" dirty="0">
                          <a:effectLst/>
                        </a:rPr>
                        <a:t>Issuance Date</a:t>
                      </a:r>
                      <a:endParaRPr lang="en-US" sz="900" b="1"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ctr"/>
                      <a:r>
                        <a:rPr lang="zh-CN" altLang="en-US" sz="900" b="1" u="none" strike="noStrike" dirty="0">
                          <a:effectLst/>
                        </a:rPr>
                        <a:t>Progress</a:t>
                      </a:r>
                      <a:endParaRPr lang="en-US" sz="900" b="1"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ctr"/>
                      <a:r>
                        <a:rPr lang="zh-CN" altLang="en-US" sz="900" b="1" u="none" strike="noStrike" dirty="0">
                          <a:effectLst/>
                        </a:rPr>
                        <a:t>Return Date</a:t>
                      </a:r>
                      <a:endParaRPr lang="en-US" sz="900" b="1"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ctr"/>
                      <a:r>
                        <a:rPr lang="zh-CN" altLang="en-US" sz="900" b="1" u="none" strike="noStrike" dirty="0">
                          <a:effectLst/>
                        </a:rPr>
                        <a:t>Resistance After Collection</a:t>
                      </a:r>
                      <a:endParaRPr lang="en-US" sz="900" b="1"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b"/>
                      <a:r>
                        <a:rPr lang="zh-CN" altLang="en-US" sz="900" b="1" u="none" strike="noStrike" dirty="0">
                          <a:effectLst/>
                        </a:rPr>
                        <a:t>Voltage</a:t>
                      </a:r>
                      <a:endParaRPr lang="en-US" sz="900" b="1"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ctr"/>
                      <a:r>
                        <a:rPr lang="zh-CN" altLang="en-US" sz="900" b="1" u="none" strike="noStrike" dirty="0">
                          <a:effectLst/>
                        </a:rPr>
                        <a:t>Power</a:t>
                      </a:r>
                      <a:endParaRPr lang="en-US" sz="900" b="1"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ctr"/>
                      <a:r>
                        <a:rPr lang="zh-CN" altLang="en-US" sz="900" b="1" u="none" strike="noStrike" dirty="0">
                          <a:effectLst/>
                        </a:rPr>
                        <a:t>Issues?</a:t>
                      </a:r>
                      <a:endParaRPr lang="en-US" sz="900" b="1"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ctr"/>
                      <a:r>
                        <a:rPr lang="zh-CN" altLang="en-US" sz="900" b="1" u="none" strike="noStrike" dirty="0">
                          <a:effectLst/>
                        </a:rPr>
                        <a:t>Comments?</a:t>
                      </a:r>
                      <a:endParaRPr lang="en-US" sz="900" b="1" i="0" u="none" strike="noStrike" dirty="0">
                        <a:solidFill>
                          <a:srgbClr val="000000"/>
                        </a:solidFill>
                        <a:effectLst/>
                        <a:latin typeface="Aptos Narrow" panose="020B0004020202020204" pitchFamily="34" charset="0"/>
                      </a:endParaRPr>
                    </a:p>
                  </a:txBody>
                  <a:tcPr marL="7236" marR="7236" marT="7236" marB="0" anchor="ctr"/>
                </a:tc>
                <a:extLst>
                  <a:ext uri="{0D108BD9-81ED-4DB2-BD59-A6C34878D82A}">
                    <a16:rowId xmlns:a16="http://schemas.microsoft.com/office/drawing/2014/main" val="2071251489"/>
                  </a:ext>
                </a:extLst>
              </a:tr>
              <a:tr h="717887">
                <a:tc>
                  <a:txBody>
                    <a:bodyPr/>
                    <a:lstStyle/>
                    <a:p>
                      <a:pPr algn="ctr" fontAlgn="ctr"/>
                      <a:r>
                        <a:rPr lang="en-US" sz="1000" u="none" strike="noStrike" dirty="0">
                          <a:effectLst/>
                        </a:rPr>
                        <a:t>1-13 Batch Rosin-1</a:t>
                      </a:r>
                      <a:endParaRPr lang="en-US" sz="1000" b="0"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dirty="0">
                          <a:effectLst/>
                        </a:rPr>
                        <a:t>Charlie</a:t>
                      </a:r>
                      <a:endParaRPr lang="en-US" sz="1000" b="0"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a:effectLst/>
                        </a:rPr>
                        <a:t>1/15/2025</a:t>
                      </a:r>
                      <a:endParaRPr lang="en-US" sz="10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a:effectLst/>
                        </a:rPr>
                        <a:t>MPX Rosin</a:t>
                      </a:r>
                      <a:endParaRPr lang="en-US" sz="10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a:effectLst/>
                        </a:rPr>
                        <a:t>2</a:t>
                      </a:r>
                      <a:endParaRPr lang="en-US" sz="10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dirty="0">
                          <a:effectLst/>
                        </a:rPr>
                        <a:t>2.3</a:t>
                      </a:r>
                      <a:endParaRPr lang="en-US" sz="1000" b="0"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a:effectLst/>
                        </a:rPr>
                        <a:t>1/15/2025</a:t>
                      </a:r>
                      <a:endParaRPr lang="en-US" sz="10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a:effectLst/>
                        </a:rPr>
                        <a:t>30%</a:t>
                      </a:r>
                      <a:endParaRPr lang="en-US" sz="10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a:effectLst/>
                        </a:rPr>
                        <a:t>1/21/2025</a:t>
                      </a:r>
                      <a:endParaRPr lang="en-US" sz="10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a:effectLst/>
                        </a:rPr>
                        <a:t>2.3</a:t>
                      </a:r>
                      <a:endParaRPr lang="en-US" sz="10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a:effectLst/>
                        </a:rPr>
                        <a:t>3.2</a:t>
                      </a:r>
                      <a:endParaRPr lang="en-US" sz="10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dirty="0">
                          <a:effectLst/>
                        </a:rPr>
                        <a:t>4.45</a:t>
                      </a:r>
                      <a:endParaRPr lang="en-US" sz="1000" b="0"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dirty="0">
                          <a:solidFill>
                            <a:srgbClr val="FF0000"/>
                          </a:solidFill>
                          <a:effectLst/>
                        </a:rPr>
                        <a:t>Clog</a:t>
                      </a:r>
                      <a:endParaRPr lang="en-US" sz="1000" b="0" i="0" u="none" strike="noStrike" dirty="0">
                        <a:solidFill>
                          <a:srgbClr val="FF0000"/>
                        </a:solidFill>
                        <a:effectLst/>
                        <a:latin typeface="Aptos Narrow" panose="020B0004020202020204" pitchFamily="34" charset="0"/>
                      </a:endParaRPr>
                    </a:p>
                  </a:txBody>
                  <a:tcPr marL="7236" marR="7236" marT="7236" marB="0" anchor="ctr"/>
                </a:tc>
                <a:tc>
                  <a:txBody>
                    <a:bodyPr/>
                    <a:lstStyle/>
                    <a:p>
                      <a:pPr algn="ctr" fontAlgn="ctr"/>
                      <a:r>
                        <a:rPr lang="zh-CN" altLang="en-US" sz="1000" u="none" strike="noStrike" dirty="0">
                          <a:effectLst/>
                        </a:rPr>
                        <a:t>Sample quickly clogged at the inlet.</a:t>
                      </a:r>
                      <a:endParaRPr lang="en-US" sz="1000" b="0" i="0" u="none" strike="noStrike" dirty="0">
                        <a:solidFill>
                          <a:srgbClr val="000000"/>
                        </a:solidFill>
                        <a:effectLst/>
                        <a:latin typeface="Aptos Narrow" panose="020B0004020202020204" pitchFamily="34" charset="0"/>
                      </a:endParaRPr>
                    </a:p>
                  </a:txBody>
                  <a:tcPr marL="7236" marR="7236" marT="7236" marB="0" anchor="ctr"/>
                </a:tc>
                <a:extLst>
                  <a:ext uri="{0D108BD9-81ED-4DB2-BD59-A6C34878D82A}">
                    <a16:rowId xmlns:a16="http://schemas.microsoft.com/office/drawing/2014/main" val="1409965113"/>
                  </a:ext>
                </a:extLst>
              </a:tr>
              <a:tr h="717887">
                <a:tc>
                  <a:txBody>
                    <a:bodyPr/>
                    <a:lstStyle/>
                    <a:p>
                      <a:pPr algn="ctr" fontAlgn="ctr"/>
                      <a:r>
                        <a:rPr lang="en-US" sz="1000" u="none" strike="noStrike">
                          <a:effectLst/>
                        </a:rPr>
                        <a:t>1-13 Batch Rosin-2</a:t>
                      </a:r>
                      <a:endParaRPr lang="en-US" sz="10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a:effectLst/>
                        </a:rPr>
                        <a:t>Leland</a:t>
                      </a:r>
                      <a:endParaRPr lang="en-US" sz="10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a:effectLst/>
                        </a:rPr>
                        <a:t>1/15/2025</a:t>
                      </a:r>
                      <a:endParaRPr lang="en-US" sz="10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a:effectLst/>
                        </a:rPr>
                        <a:t>MPX Rosin</a:t>
                      </a:r>
                      <a:endParaRPr lang="en-US" sz="10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a:effectLst/>
                        </a:rPr>
                        <a:t>2</a:t>
                      </a:r>
                      <a:endParaRPr lang="en-US" sz="10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a:effectLst/>
                        </a:rPr>
                        <a:t>2.3</a:t>
                      </a:r>
                      <a:endParaRPr lang="en-US" sz="10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a:effectLst/>
                        </a:rPr>
                        <a:t>1/15/2025</a:t>
                      </a:r>
                      <a:endParaRPr lang="en-US" sz="10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a:effectLst/>
                        </a:rPr>
                        <a:t>50%</a:t>
                      </a:r>
                      <a:endParaRPr lang="en-US" sz="10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dirty="0">
                          <a:effectLst/>
                        </a:rPr>
                        <a:t> </a:t>
                      </a:r>
                      <a:endParaRPr lang="en-US" sz="1000" b="0"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dirty="0">
                          <a:effectLst/>
                        </a:rPr>
                        <a:t> 2.3</a:t>
                      </a:r>
                      <a:endParaRPr lang="en-US" sz="1000" b="0"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dirty="0">
                          <a:effectLst/>
                        </a:rPr>
                        <a:t>3.2</a:t>
                      </a:r>
                      <a:endParaRPr lang="en-US" sz="1000" b="0"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dirty="0">
                          <a:effectLst/>
                        </a:rPr>
                        <a:t>4.45</a:t>
                      </a:r>
                      <a:endParaRPr lang="en-US" sz="1000" b="0"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dirty="0">
                          <a:effectLst/>
                        </a:rPr>
                        <a:t> </a:t>
                      </a:r>
                      <a:endParaRPr lang="en-US" sz="1000" b="0"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dirty="0">
                          <a:effectLst/>
                        </a:rPr>
                        <a:t>Leland's sample did not clog.</a:t>
                      </a:r>
                      <a:r>
                        <a:rPr lang="zh-CN" altLang="en-US" sz="1000" u="none" strike="noStrike" dirty="0">
                          <a:effectLst/>
                        </a:rPr>
                        <a:t/>
                      </a:r>
                      <a:endParaRPr lang="en-US" sz="1000" b="0" i="0" u="none" strike="noStrike" dirty="0">
                        <a:solidFill>
                          <a:srgbClr val="000000"/>
                        </a:solidFill>
                        <a:effectLst/>
                        <a:latin typeface="Aptos Narrow" panose="020B0004020202020204" pitchFamily="34" charset="0"/>
                      </a:endParaRPr>
                    </a:p>
                  </a:txBody>
                  <a:tcPr marL="7236" marR="7236" marT="7236" marB="0" anchor="ctr"/>
                </a:tc>
                <a:extLst>
                  <a:ext uri="{0D108BD9-81ED-4DB2-BD59-A6C34878D82A}">
                    <a16:rowId xmlns:a16="http://schemas.microsoft.com/office/drawing/2014/main" val="4243152594"/>
                  </a:ext>
                </a:extLst>
              </a:tr>
              <a:tr h="358944">
                <a:tc>
                  <a:txBody>
                    <a:bodyPr/>
                    <a:lstStyle/>
                    <a:p>
                      <a:pPr algn="ctr" fontAlgn="ctr"/>
                      <a:r>
                        <a:rPr lang="en-US" sz="1000" u="none" strike="noStrike">
                          <a:effectLst/>
                        </a:rPr>
                        <a:t>1-13 Batch D9-1</a:t>
                      </a:r>
                      <a:endParaRPr lang="en-US" sz="10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a:effectLst/>
                        </a:rPr>
                        <a:t>Charlie</a:t>
                      </a:r>
                      <a:endParaRPr lang="en-US" sz="10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a:effectLst/>
                        </a:rPr>
                        <a:t>1/15/2025</a:t>
                      </a:r>
                      <a:endParaRPr lang="en-US" sz="10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a:effectLst/>
                        </a:rPr>
                        <a:t>800kcp D9</a:t>
                      </a:r>
                      <a:endParaRPr lang="en-US" sz="10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a:effectLst/>
                        </a:rPr>
                        <a:t>2</a:t>
                      </a:r>
                      <a:endParaRPr lang="en-US" sz="10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a:effectLst/>
                        </a:rPr>
                        <a:t>2.3</a:t>
                      </a:r>
                      <a:endParaRPr lang="en-US" sz="10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a:effectLst/>
                        </a:rPr>
                        <a:t>1/15/2025</a:t>
                      </a:r>
                      <a:endParaRPr lang="en-US" sz="10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a:effectLst/>
                        </a:rPr>
                        <a:t>40%</a:t>
                      </a:r>
                      <a:endParaRPr lang="en-US" sz="10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a:effectLst/>
                        </a:rPr>
                        <a:t>2/3/2025</a:t>
                      </a:r>
                      <a:endParaRPr lang="en-US" sz="10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dirty="0">
                          <a:effectLst/>
                        </a:rPr>
                        <a:t>2.3</a:t>
                      </a:r>
                      <a:endParaRPr lang="en-US" sz="1000" b="0"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dirty="0">
                          <a:effectLst/>
                        </a:rPr>
                        <a:t>3.2</a:t>
                      </a:r>
                      <a:endParaRPr lang="en-US" sz="1000" b="0"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dirty="0">
                          <a:effectLst/>
                        </a:rPr>
                        <a:t>4.45</a:t>
                      </a:r>
                      <a:endParaRPr lang="en-US" sz="1000" b="0"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dirty="0">
                          <a:solidFill>
                            <a:srgbClr val="FF0000"/>
                          </a:solidFill>
                          <a:effectLst/>
                        </a:rPr>
                        <a:t>Clog</a:t>
                      </a:r>
                      <a:endParaRPr lang="en-US" sz="1000" b="0" i="0" u="none" strike="noStrike" dirty="0">
                        <a:solidFill>
                          <a:srgbClr val="FF0000"/>
                        </a:solidFill>
                        <a:effectLst/>
                        <a:latin typeface="Aptos Narrow" panose="020B0004020202020204" pitchFamily="34" charset="0"/>
                      </a:endParaRPr>
                    </a:p>
                  </a:txBody>
                  <a:tcPr marL="7236" marR="7236" marT="7236" marB="0" anchor="ctr"/>
                </a:tc>
                <a:tc>
                  <a:txBody>
                    <a:bodyPr/>
                    <a:lstStyle/>
                    <a:p>
                      <a:pPr algn="ctr" fontAlgn="ctr"/>
                      <a:r>
                        <a:rPr lang="zh-CN" altLang="en-US" sz="1000" u="none" strike="noStrike" dirty="0">
                          <a:effectLst/>
                        </a:rPr>
                        <a:t>Inlet clogged</a:t>
                      </a:r>
                      <a:endParaRPr lang="en-US" sz="1000" b="0" i="0" u="none" strike="noStrike" dirty="0">
                        <a:solidFill>
                          <a:srgbClr val="000000"/>
                        </a:solidFill>
                        <a:effectLst/>
                        <a:latin typeface="Aptos Narrow" panose="020B0004020202020204" pitchFamily="34" charset="0"/>
                      </a:endParaRPr>
                    </a:p>
                  </a:txBody>
                  <a:tcPr marL="7236" marR="7236" marT="7236" marB="0" anchor="ctr"/>
                </a:tc>
                <a:extLst>
                  <a:ext uri="{0D108BD9-81ED-4DB2-BD59-A6C34878D82A}">
                    <a16:rowId xmlns:a16="http://schemas.microsoft.com/office/drawing/2014/main" val="847753158"/>
                  </a:ext>
                </a:extLst>
              </a:tr>
              <a:tr h="358944">
                <a:tc>
                  <a:txBody>
                    <a:bodyPr/>
                    <a:lstStyle/>
                    <a:p>
                      <a:pPr algn="ctr" fontAlgn="ctr"/>
                      <a:r>
                        <a:rPr lang="en-US" sz="1000" u="none" strike="noStrike">
                          <a:effectLst/>
                        </a:rPr>
                        <a:t>1-13 Batch D9-2</a:t>
                      </a:r>
                      <a:endParaRPr lang="en-US" sz="10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a:effectLst/>
                        </a:rPr>
                        <a:t>Leon</a:t>
                      </a:r>
                      <a:endParaRPr lang="en-US" sz="10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a:effectLst/>
                        </a:rPr>
                        <a:t>1/15/2025</a:t>
                      </a:r>
                      <a:endParaRPr lang="en-US" sz="10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a:effectLst/>
                        </a:rPr>
                        <a:t>800kcp D9</a:t>
                      </a:r>
                      <a:endParaRPr lang="en-US" sz="10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a:effectLst/>
                        </a:rPr>
                        <a:t>2</a:t>
                      </a:r>
                      <a:endParaRPr lang="en-US" sz="10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a:effectLst/>
                        </a:rPr>
                        <a:t>2.3</a:t>
                      </a:r>
                      <a:endParaRPr lang="en-US" sz="10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a:effectLst/>
                        </a:rPr>
                        <a:t>1/15/2025</a:t>
                      </a:r>
                      <a:endParaRPr lang="en-US" sz="10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a:effectLst/>
                        </a:rPr>
                        <a:t>50%</a:t>
                      </a:r>
                      <a:endParaRPr lang="en-US" sz="10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a:effectLst/>
                        </a:rPr>
                        <a:t>1/22/2025</a:t>
                      </a:r>
                      <a:endParaRPr lang="en-US" sz="10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dirty="0">
                          <a:effectLst/>
                        </a:rPr>
                        <a:t>2.3</a:t>
                      </a:r>
                      <a:endParaRPr lang="en-US" sz="1000" b="0"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dirty="0">
                          <a:effectLst/>
                        </a:rPr>
                        <a:t>3.2</a:t>
                      </a:r>
                      <a:endParaRPr lang="en-US" sz="1000" b="0"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dirty="0">
                          <a:effectLst/>
                        </a:rPr>
                        <a:t>4.45</a:t>
                      </a:r>
                      <a:endParaRPr lang="en-US" sz="1000" b="0"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dirty="0">
                          <a:solidFill>
                            <a:srgbClr val="FF0000"/>
                          </a:solidFill>
                          <a:effectLst/>
                        </a:rPr>
                        <a:t>Clog</a:t>
                      </a:r>
                      <a:endParaRPr lang="en-US" sz="1000" b="0" i="0" u="none" strike="noStrike" dirty="0">
                        <a:solidFill>
                          <a:srgbClr val="FF0000"/>
                        </a:solidFill>
                        <a:effectLst/>
                        <a:latin typeface="Aptos Narrow" panose="020B0004020202020204" pitchFamily="34" charset="0"/>
                      </a:endParaRPr>
                    </a:p>
                  </a:txBody>
                  <a:tcPr marL="7236" marR="7236" marT="7236" marB="0" anchor="ctr"/>
                </a:tc>
                <a:tc>
                  <a:txBody>
                    <a:bodyPr/>
                    <a:lstStyle/>
                    <a:p>
                      <a:pPr algn="ctr" fontAlgn="ctr"/>
                      <a:r>
                        <a:rPr lang="zh-CN" altLang="en-US" sz="1000" u="none" strike="noStrike" dirty="0">
                          <a:effectLst/>
                        </a:rPr>
                        <a:t>Inlet clogged</a:t>
                      </a:r>
                      <a:endParaRPr lang="en-US" sz="1000" b="0" i="0" u="none" strike="noStrike" dirty="0">
                        <a:solidFill>
                          <a:srgbClr val="000000"/>
                        </a:solidFill>
                        <a:effectLst/>
                        <a:latin typeface="Aptos Narrow" panose="020B0004020202020204" pitchFamily="34" charset="0"/>
                      </a:endParaRPr>
                    </a:p>
                  </a:txBody>
                  <a:tcPr marL="7236" marR="7236" marT="7236" marB="0" anchor="ctr"/>
                </a:tc>
                <a:extLst>
                  <a:ext uri="{0D108BD9-81ED-4DB2-BD59-A6C34878D82A}">
                    <a16:rowId xmlns:a16="http://schemas.microsoft.com/office/drawing/2014/main" val="3686043166"/>
                  </a:ext>
                </a:extLst>
              </a:tr>
              <a:tr h="717887">
                <a:tc>
                  <a:txBody>
                    <a:bodyPr/>
                    <a:lstStyle/>
                    <a:p>
                      <a:pPr algn="ctr" fontAlgn="ctr"/>
                      <a:r>
                        <a:rPr lang="en-US" sz="1000" u="none" strike="noStrike">
                          <a:effectLst/>
                        </a:rPr>
                        <a:t>12-11 Batch Rosin-1</a:t>
                      </a:r>
                      <a:endParaRPr lang="en-US" sz="10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a:effectLst/>
                        </a:rPr>
                        <a:t>Charlie</a:t>
                      </a:r>
                      <a:endParaRPr lang="en-US" sz="10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a:effectLst/>
                        </a:rPr>
                        <a:t>1/17/2025</a:t>
                      </a:r>
                      <a:endParaRPr lang="en-US" sz="10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a:effectLst/>
                        </a:rPr>
                        <a:t>MPX Rosin</a:t>
                      </a:r>
                      <a:endParaRPr lang="en-US" sz="10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a:effectLst/>
                        </a:rPr>
                        <a:t>2</a:t>
                      </a:r>
                      <a:endParaRPr lang="en-US" sz="10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dirty="0">
                          <a:effectLst/>
                        </a:rPr>
                        <a:t>2.3</a:t>
                      </a:r>
                      <a:endParaRPr lang="en-US" sz="1000" b="0"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a:effectLst/>
                        </a:rPr>
                        <a:t>1/17/2025</a:t>
                      </a:r>
                      <a:endParaRPr lang="en-US" sz="10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a:effectLst/>
                        </a:rPr>
                        <a:t>80%</a:t>
                      </a:r>
                      <a:endParaRPr lang="en-US" sz="10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a:effectLst/>
                        </a:rPr>
                        <a:t>1/29/2025</a:t>
                      </a:r>
                      <a:endParaRPr lang="en-US" sz="10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dirty="0">
                          <a:effectLst/>
                        </a:rPr>
                        <a:t>2.3</a:t>
                      </a:r>
                      <a:endParaRPr lang="en-US" sz="1000" b="0"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dirty="0">
                          <a:effectLst/>
                        </a:rPr>
                        <a:t>3.2</a:t>
                      </a:r>
                      <a:endParaRPr lang="en-US" sz="1000" b="0"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dirty="0">
                          <a:effectLst/>
                        </a:rPr>
                        <a:t>4.45</a:t>
                      </a:r>
                      <a:endParaRPr lang="en-US" sz="1000" b="0"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dirty="0">
                          <a:solidFill>
                            <a:srgbClr val="FF0000"/>
                          </a:solidFill>
                          <a:effectLst/>
                        </a:rPr>
                        <a:t>Clog</a:t>
                      </a:r>
                      <a:endParaRPr lang="en-US" sz="1000" b="0" i="0" u="none" strike="noStrike" dirty="0">
                        <a:solidFill>
                          <a:srgbClr val="FF0000"/>
                        </a:solidFill>
                        <a:effectLst/>
                        <a:latin typeface="Aptos Narrow" panose="020B0004020202020204" pitchFamily="34" charset="0"/>
                      </a:endParaRPr>
                    </a:p>
                  </a:txBody>
                  <a:tcPr marL="7236" marR="7236" marT="7236" marB="0" anchor="ctr"/>
                </a:tc>
                <a:tc>
                  <a:txBody>
                    <a:bodyPr/>
                    <a:lstStyle/>
                    <a:p>
                      <a:pPr algn="ctr" fontAlgn="ctr"/>
                      <a:r>
                        <a:rPr lang="zh-CN" altLang="en-US" sz="1000" u="none" strike="noStrike" dirty="0">
                          <a:effectLst/>
                        </a:rPr>
                        <a:t>Clogs at the inlet after using 80%. Severe discoloration.</a:t>
                      </a:r>
                      <a:r>
                        <a:rPr lang="en-US" altLang="zh-CN" sz="1000" u="none" strike="noStrike" dirty="0">
                          <a:effectLst/>
                        </a:rPr>
                        <a:t/>
                      </a:r>
                      <a:r>
                        <a:rPr lang="zh-CN" altLang="en-US" sz="1000" u="none" strike="noStrike" dirty="0">
                          <a:effectLst/>
                        </a:rPr>
                        <a:t/>
                      </a:r>
                      <a:endParaRPr lang="en-US" sz="1000" b="0" i="0" u="none" strike="noStrike" dirty="0">
                        <a:solidFill>
                          <a:srgbClr val="000000"/>
                        </a:solidFill>
                        <a:effectLst/>
                        <a:latin typeface="Aptos Narrow" panose="020B0004020202020204" pitchFamily="34" charset="0"/>
                      </a:endParaRPr>
                    </a:p>
                  </a:txBody>
                  <a:tcPr marL="7236" marR="7236" marT="7236" marB="0" anchor="ctr"/>
                </a:tc>
                <a:extLst>
                  <a:ext uri="{0D108BD9-81ED-4DB2-BD59-A6C34878D82A}">
                    <a16:rowId xmlns:a16="http://schemas.microsoft.com/office/drawing/2014/main" val="1100795562"/>
                  </a:ext>
                </a:extLst>
              </a:tr>
              <a:tr h="358944">
                <a:tc>
                  <a:txBody>
                    <a:bodyPr/>
                    <a:lstStyle/>
                    <a:p>
                      <a:pPr algn="ctr" fontAlgn="ctr"/>
                      <a:r>
                        <a:rPr lang="en-US" sz="1000" u="none" strike="noStrike">
                          <a:effectLst/>
                        </a:rPr>
                        <a:t>12-11 Batch Rosin-2 (1mL)</a:t>
                      </a:r>
                      <a:endParaRPr lang="en-US" sz="10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a:effectLst/>
                        </a:rPr>
                        <a:t>Jim</a:t>
                      </a:r>
                      <a:endParaRPr lang="en-US" sz="10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a:effectLst/>
                        </a:rPr>
                        <a:t>1/22/2025</a:t>
                      </a:r>
                      <a:endParaRPr lang="en-US" sz="10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a:effectLst/>
                        </a:rPr>
                        <a:t>MPX Rosin</a:t>
                      </a:r>
                      <a:endParaRPr lang="en-US" sz="10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a:effectLst/>
                        </a:rPr>
                        <a:t>1</a:t>
                      </a:r>
                      <a:endParaRPr lang="en-US" sz="10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a:effectLst/>
                        </a:rPr>
                        <a:t>2.3</a:t>
                      </a:r>
                      <a:endParaRPr lang="en-US" sz="10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a:effectLst/>
                        </a:rPr>
                        <a:t>1/22/2025</a:t>
                      </a:r>
                      <a:endParaRPr lang="en-US" sz="10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a:effectLst/>
                        </a:rPr>
                        <a:t>20%</a:t>
                      </a:r>
                      <a:endParaRPr lang="en-US" sz="10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a:effectLst/>
                        </a:rPr>
                        <a:t> </a:t>
                      </a:r>
                      <a:endParaRPr lang="en-US" sz="10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dirty="0">
                          <a:effectLst/>
                        </a:rPr>
                        <a:t> 2.3</a:t>
                      </a:r>
                      <a:endParaRPr lang="en-US" sz="1000" b="0"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dirty="0">
                          <a:effectLst/>
                        </a:rPr>
                        <a:t>3.2</a:t>
                      </a:r>
                      <a:endParaRPr lang="en-US" sz="1000" b="0"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dirty="0">
                          <a:effectLst/>
                        </a:rPr>
                        <a:t>4.45</a:t>
                      </a:r>
                      <a:endParaRPr lang="en-US" sz="1000" b="0"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a:effectLst/>
                        </a:rPr>
                        <a:t> </a:t>
                      </a:r>
                      <a:endParaRPr lang="en-US" sz="10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zh-CN" altLang="en-US" sz="1000" u="none" strike="noStrike" dirty="0">
                          <a:effectLst/>
                        </a:rPr>
                        <a:t>No updates available</a:t>
                      </a:r>
                      <a:endParaRPr lang="en-US" sz="1000" b="0" i="0" u="none" strike="noStrike" dirty="0">
                        <a:solidFill>
                          <a:srgbClr val="000000"/>
                        </a:solidFill>
                        <a:effectLst/>
                        <a:latin typeface="Aptos Narrow" panose="020B0004020202020204" pitchFamily="34" charset="0"/>
                      </a:endParaRPr>
                    </a:p>
                  </a:txBody>
                  <a:tcPr marL="7236" marR="7236" marT="7236" marB="0" anchor="ctr"/>
                </a:tc>
                <a:extLst>
                  <a:ext uri="{0D108BD9-81ED-4DB2-BD59-A6C34878D82A}">
                    <a16:rowId xmlns:a16="http://schemas.microsoft.com/office/drawing/2014/main" val="197673684"/>
                  </a:ext>
                </a:extLst>
              </a:tr>
            </a:tbl>
          </a:graphicData>
        </a:graphic>
      </p:graphicFrame>
      <p:grpSp>
        <p:nvGrpSpPr>
          <p:cNvPr id="103" name="Group 102">
            <a:extLst>
              <a:ext uri="{FF2B5EF4-FFF2-40B4-BE49-F238E27FC236}">
                <a16:creationId xmlns:a16="http://schemas.microsoft.com/office/drawing/2014/main" id="{865A6EB1-29FF-1392-9E7F-75ABAEB9E203}"/>
              </a:ext>
            </a:extLst>
          </p:cNvPr>
          <p:cNvGrpSpPr/>
          <p:nvPr/>
        </p:nvGrpSpPr>
        <p:grpSpPr>
          <a:xfrm>
            <a:off x="4831315" y="4580436"/>
            <a:ext cx="7269465" cy="2178260"/>
            <a:chOff x="4831315" y="4580436"/>
            <a:chExt cx="7269465" cy="2178260"/>
          </a:xfrm>
        </p:grpSpPr>
        <p:pic>
          <p:nvPicPr>
            <p:cNvPr id="93" name="Picture 92" descr="A close-up of a device&#10;&#10;Description automatically generated">
              <a:extLst>
                <a:ext uri="{FF2B5EF4-FFF2-40B4-BE49-F238E27FC236}">
                  <a16:creationId xmlns:a16="http://schemas.microsoft.com/office/drawing/2014/main" id="{95E834BE-EB0E-1BC1-A99F-121E00CFCC91}"/>
                </a:ext>
              </a:extLst>
            </p:cNvPr>
            <p:cNvPicPr>
              <a:picLocks noChangeAspect="1"/>
            </p:cNvPicPr>
            <p:nvPr/>
          </p:nvPicPr>
          <p:blipFill>
            <a:blip r:embed="rId5"/>
            <a:srcRect t="10441" b="14663"/>
            <a:stretch/>
          </p:blipFill>
          <p:spPr>
            <a:xfrm>
              <a:off x="4831315" y="4656655"/>
              <a:ext cx="3637566" cy="2043284"/>
            </a:xfrm>
            <a:prstGeom prst="rect">
              <a:avLst/>
            </a:prstGeom>
          </p:spPr>
        </p:pic>
        <p:pic>
          <p:nvPicPr>
            <p:cNvPr id="96" name="Picture 95" descr="A close-up of a chip&#10;&#10;Description automatically generated">
              <a:extLst>
                <a:ext uri="{FF2B5EF4-FFF2-40B4-BE49-F238E27FC236}">
                  <a16:creationId xmlns:a16="http://schemas.microsoft.com/office/drawing/2014/main" id="{7575DC69-F304-A22A-1C14-87808A83858C}"/>
                </a:ext>
              </a:extLst>
            </p:cNvPr>
            <p:cNvPicPr>
              <a:picLocks noChangeAspect="1"/>
            </p:cNvPicPr>
            <p:nvPr/>
          </p:nvPicPr>
          <p:blipFill>
            <a:blip r:embed="rId6"/>
            <a:srcRect t="9732" b="9349"/>
            <a:stretch/>
          </p:blipFill>
          <p:spPr>
            <a:xfrm rot="10800000">
              <a:off x="8656916" y="4668613"/>
              <a:ext cx="3443863" cy="2090083"/>
            </a:xfrm>
            <a:prstGeom prst="rect">
              <a:avLst/>
            </a:prstGeom>
          </p:spPr>
        </p:pic>
        <p:sp>
          <p:nvSpPr>
            <p:cNvPr id="94" name="TextBox 93">
              <a:extLst>
                <a:ext uri="{FF2B5EF4-FFF2-40B4-BE49-F238E27FC236}">
                  <a16:creationId xmlns:a16="http://schemas.microsoft.com/office/drawing/2014/main" id="{9B98B49A-ABB6-2F37-7E66-5C3F0A8B91C0}"/>
                </a:ext>
              </a:extLst>
            </p:cNvPr>
            <p:cNvSpPr txBox="1"/>
            <p:nvPr/>
          </p:nvSpPr>
          <p:spPr>
            <a:xfrm>
              <a:off x="7086018" y="4580436"/>
              <a:ext cx="2953762" cy="276999"/>
            </a:xfrm>
            <a:prstGeom prst="rect">
              <a:avLst/>
            </a:prstGeom>
            <a:solidFill>
              <a:schemeClr val="tx1"/>
            </a:solidFill>
          </p:spPr>
          <p:txBody>
            <a:bodyPr wrap="square" rtlCol="0">
              <a:spAutoFit/>
            </a:bodyPr>
            <a:lstStyle/>
            <a:p>
              <a:r>
                <a:rPr lang="en-US" sz="1200" dirty="0">
                  <a:solidFill>
                    <a:schemeClr val="bg1"/>
                  </a:solidFill>
                </a:rPr>
                <a:t>1-13 Batch D9-2 – </a:t>
              </a:r>
              <a:r>
                <a:rPr lang="zh-CN" altLang="en-US" sz="1200" dirty="0">
                  <a:solidFill>
                    <a:schemeClr val="bg1"/>
                  </a:solidFill>
                </a:rPr>
                <a:t>剩余 </a:t>
              </a:r>
              <a:r>
                <a:rPr lang="en-US" altLang="zh-CN" sz="1200" dirty="0">
                  <a:solidFill>
                    <a:schemeClr val="bg1"/>
                  </a:solidFill>
                </a:rPr>
                <a:t>50% </a:t>
              </a:r>
              <a:r>
                <a:rPr lang="zh-CN" altLang="en-US" sz="1200" dirty="0">
                  <a:solidFill>
                    <a:schemeClr val="bg1"/>
                  </a:solidFill>
                </a:rPr>
                <a:t>时堵塞</a:t>
              </a:r>
              <a:endParaRPr lang="en-US" sz="1200" dirty="0">
                <a:solidFill>
                  <a:schemeClr val="bg1"/>
                </a:solidFill>
              </a:endParaRPr>
            </a:p>
          </p:txBody>
        </p:sp>
        <p:cxnSp>
          <p:nvCxnSpPr>
            <p:cNvPr id="98" name="Straight Arrow Connector 97">
              <a:extLst>
                <a:ext uri="{FF2B5EF4-FFF2-40B4-BE49-F238E27FC236}">
                  <a16:creationId xmlns:a16="http://schemas.microsoft.com/office/drawing/2014/main" id="{DED9B08F-55B7-808D-9470-73AA52943DE2}"/>
                </a:ext>
              </a:extLst>
            </p:cNvPr>
            <p:cNvCxnSpPr/>
            <p:nvPr/>
          </p:nvCxnSpPr>
          <p:spPr>
            <a:xfrm>
              <a:off x="10723584" y="4927317"/>
              <a:ext cx="659414"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9" name="Straight Arrow Connector 98">
              <a:extLst>
                <a:ext uri="{FF2B5EF4-FFF2-40B4-BE49-F238E27FC236}">
                  <a16:creationId xmlns:a16="http://schemas.microsoft.com/office/drawing/2014/main" id="{23DD4117-2C92-F69D-70F1-D73E9E7E0017}"/>
                </a:ext>
              </a:extLst>
            </p:cNvPr>
            <p:cNvCxnSpPr>
              <a:cxnSpLocks/>
            </p:cNvCxnSpPr>
            <p:nvPr/>
          </p:nvCxnSpPr>
          <p:spPr>
            <a:xfrm flipH="1">
              <a:off x="9824455" y="4927317"/>
              <a:ext cx="673986" cy="0"/>
            </a:xfrm>
            <a:prstGeom prst="straightConnector1">
              <a:avLst/>
            </a:prstGeom>
            <a:ln w="5715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01" name="TextBox 100">
              <a:extLst>
                <a:ext uri="{FF2B5EF4-FFF2-40B4-BE49-F238E27FC236}">
                  <a16:creationId xmlns:a16="http://schemas.microsoft.com/office/drawing/2014/main" id="{CE1B6B9B-BE08-12E3-1F22-45C77FF2A9D5}"/>
                </a:ext>
              </a:extLst>
            </p:cNvPr>
            <p:cNvSpPr txBox="1"/>
            <p:nvPr/>
          </p:nvSpPr>
          <p:spPr>
            <a:xfrm>
              <a:off x="9031832" y="4818339"/>
              <a:ext cx="783262" cy="584775"/>
            </a:xfrm>
            <a:prstGeom prst="rect">
              <a:avLst/>
            </a:prstGeom>
            <a:noFill/>
          </p:spPr>
          <p:txBody>
            <a:bodyPr wrap="square" rtlCol="0">
              <a:spAutoFit/>
            </a:bodyPr>
            <a:lstStyle/>
            <a:p>
              <a:r>
                <a:rPr lang="en-US" sz="800" dirty="0">
                  <a:solidFill>
                    <a:schemeClr val="bg1"/>
                  </a:solidFill>
                </a:rPr>
                <a:t>Vapor Pathway – Expecting oil here</a:t>
              </a:r>
              <a:r>
                <a:rPr lang="zh-CN" altLang="en-US" sz="800" dirty="0">
                  <a:solidFill>
                    <a:schemeClr val="bg1"/>
                  </a:solidFill>
                </a:rPr>
                <a:t/>
              </a:r>
              <a:endParaRPr lang="en-US" sz="800" dirty="0">
                <a:solidFill>
                  <a:schemeClr val="bg1"/>
                </a:solidFill>
              </a:endParaRPr>
            </a:p>
          </p:txBody>
        </p:sp>
        <p:sp>
          <p:nvSpPr>
            <p:cNvPr id="102" name="TextBox 101">
              <a:extLst>
                <a:ext uri="{FF2B5EF4-FFF2-40B4-BE49-F238E27FC236}">
                  <a16:creationId xmlns:a16="http://schemas.microsoft.com/office/drawing/2014/main" id="{2D11C992-39A0-5CD0-C0A4-058C60691DCB}"/>
                </a:ext>
              </a:extLst>
            </p:cNvPr>
            <p:cNvSpPr txBox="1"/>
            <p:nvPr/>
          </p:nvSpPr>
          <p:spPr>
            <a:xfrm>
              <a:off x="11317518" y="4768868"/>
              <a:ext cx="783262" cy="584775"/>
            </a:xfrm>
            <a:prstGeom prst="rect">
              <a:avLst/>
            </a:prstGeom>
            <a:noFill/>
          </p:spPr>
          <p:txBody>
            <a:bodyPr wrap="square" rtlCol="0">
              <a:normAutofit/>
            </a:bodyPr>
            <a:lstStyle/>
            <a:p>
              <a:r>
                <a:rPr lang="zh-CN" altLang="en-US" sz="700" dirty="0">
                  <a:solidFill>
                    <a:schemeClr val="bg1"/>
                  </a:solidFill>
                </a:rPr>
                <a:t>Wrong direction – We should not see oil here</a:t>
              </a:r>
              <a:r>
                <a:rPr lang="en-US" altLang="zh-CN" sz="800" dirty="0">
                  <a:solidFill>
                    <a:schemeClr val="bg1"/>
                  </a:solidFill>
                </a:rPr>
                <a:t/>
              </a:r>
              <a:r>
                <a:rPr lang="zh-CN" altLang="en-US" sz="800" dirty="0">
                  <a:solidFill>
                    <a:schemeClr val="bg1"/>
                  </a:solidFill>
                </a:rPr>
                <a:t/>
              </a:r>
              <a:endParaRPr lang="en-US" sz="800" dirty="0">
                <a:solidFill>
                  <a:schemeClr val="bg1"/>
                </a:solidFill>
              </a:endParaRPr>
            </a:p>
          </p:txBody>
        </p:sp>
      </p:grpSp>
    </p:spTree>
    <p:extLst>
      <p:ext uri="{BB962C8B-B14F-4D97-AF65-F5344CB8AC3E}">
        <p14:creationId xmlns:p14="http://schemas.microsoft.com/office/powerpoint/2010/main" val="17097139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69BCD-6C5C-C5D8-45B8-70E02F1B8216}"/>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11151C36-BD7C-756C-93F6-B3D8F3F8EC66}"/>
              </a:ext>
            </a:extLst>
          </p:cNvPr>
          <p:cNvPicPr>
            <a:picLocks noChangeAspect="1"/>
          </p:cNvPicPr>
          <p:nvPr/>
        </p:nvPicPr>
        <p:blipFill>
          <a:blip r:embed="rId3" cstate="screen">
            <a:alphaModFix amt="60000"/>
            <a:extLst>
              <a:ext uri="{28A0092B-C50C-407E-A947-70E740481C1C}">
                <a14:useLocalDpi xmlns:a14="http://schemas.microsoft.com/office/drawing/2010/main"/>
              </a:ext>
            </a:extLst>
          </a:blip>
          <a:stretch>
            <a:fillRect/>
          </a:stretch>
        </p:blipFill>
        <p:spPr>
          <a:xfrm>
            <a:off x="-361" y="203"/>
            <a:ext cx="12192361" cy="6857797"/>
          </a:xfrm>
          <a:prstGeom prst="rect">
            <a:avLst/>
          </a:prstGeom>
        </p:spPr>
      </p:pic>
      <p:pic>
        <p:nvPicPr>
          <p:cNvPr id="4" name="Picture 3">
            <a:extLst>
              <a:ext uri="{FF2B5EF4-FFF2-40B4-BE49-F238E27FC236}">
                <a16:creationId xmlns:a16="http://schemas.microsoft.com/office/drawing/2014/main" id="{26BCE831-D05E-EC1F-4A03-6CFCEEE96FBB}"/>
              </a:ext>
            </a:extLst>
          </p:cNvPr>
          <p:cNvPicPr>
            <a:picLocks noChangeAspect="1"/>
          </p:cNvPicPr>
          <p:nvPr/>
        </p:nvPicPr>
        <p:blipFill>
          <a:blip r:embed="rId4"/>
          <a:stretch>
            <a:fillRect/>
          </a:stretch>
        </p:blipFill>
        <p:spPr>
          <a:xfrm>
            <a:off x="10201998" y="91033"/>
            <a:ext cx="1436172" cy="485446"/>
          </a:xfrm>
          <a:prstGeom prst="rect">
            <a:avLst/>
          </a:prstGeom>
        </p:spPr>
      </p:pic>
      <p:sp>
        <p:nvSpPr>
          <p:cNvPr id="14" name="矩形 4">
            <a:extLst>
              <a:ext uri="{FF2B5EF4-FFF2-40B4-BE49-F238E27FC236}">
                <a16:creationId xmlns:a16="http://schemas.microsoft.com/office/drawing/2014/main" id="{A0A6A206-3A27-4483-4E56-E123BCEA1F32}"/>
              </a:ext>
            </a:extLst>
          </p:cNvPr>
          <p:cNvSpPr/>
          <p:nvPr/>
        </p:nvSpPr>
        <p:spPr>
          <a:xfrm>
            <a:off x="640080" y="146304"/>
            <a:ext cx="4246740" cy="523220"/>
          </a:xfrm>
          <a:prstGeom prst="rect">
            <a:avLst/>
          </a:prstGeom>
        </p:spPr>
        <p:txBody>
          <a:bodyPr wrap="none">
            <a:normAutofit/>
          </a:bodyPr>
          <a:lstStyle/>
          <a:p>
            <a:pPr lvl="0">
              <a:defRPr/>
            </a:pPr>
            <a:r>
              <a:rPr lang="en-US" altLang="zh-CN" sz="1600">
                <a:latin typeface="微软雅黑" panose="020B0503020204020204" pitchFamily="34" charset="-122"/>
                <a:ea typeface="微软雅黑" panose="020B0503020204020204" pitchFamily="34" charset="-122"/>
                <a:cs typeface="+mn-ea"/>
                <a:sym typeface="+mn-lt"/>
              </a:rPr>
              <a:t>Necessary Design Changes for Gembox</a:t>
            </a:r>
            <a:r>
              <a:rPr lang="zh-CN" altLang="en-US" sz="2800">
                <a:latin typeface="微软雅黑" panose="020B0503020204020204" pitchFamily="34" charset="-122"/>
                <a:ea typeface="微软雅黑" panose="020B0503020204020204" pitchFamily="34" charset="-122"/>
                <a:cs typeface="+mn-ea"/>
                <a:sym typeface="+mn-lt"/>
              </a:rPr>
              <a:t/>
            </a:r>
            <a:endParaRPr kumimoji="0" lang="zh-CN" altLang="en-US" sz="2800" i="0" u="none" strike="noStrike" kern="1200" cap="none" spc="0" normalizeH="0" baseline="0" noProof="0" dirty="0">
              <a:ln>
                <a:noFill/>
              </a:ln>
              <a:effectLst/>
              <a:uLnTx/>
              <a:uFillTx/>
              <a:latin typeface="Calibri" panose="020F0502020204030204"/>
              <a:ea typeface="宋体" panose="02010600030101010101" pitchFamily="2" charset="-122"/>
              <a:cs typeface="+mn-ea"/>
              <a:sym typeface="+mn-lt"/>
            </a:endParaRPr>
          </a:p>
        </p:txBody>
      </p:sp>
      <p:sp>
        <p:nvSpPr>
          <p:cNvPr id="21" name="TextBox 20">
            <a:extLst>
              <a:ext uri="{FF2B5EF4-FFF2-40B4-BE49-F238E27FC236}">
                <a16:creationId xmlns:a16="http://schemas.microsoft.com/office/drawing/2014/main" id="{5ED75820-3F1A-2196-6043-18323EF66A58}"/>
              </a:ext>
            </a:extLst>
          </p:cNvPr>
          <p:cNvSpPr txBox="1"/>
          <p:nvPr/>
        </p:nvSpPr>
        <p:spPr>
          <a:xfrm>
            <a:off x="242165" y="814959"/>
            <a:ext cx="5705877" cy="1600438"/>
          </a:xfrm>
          <a:prstGeom prst="rect">
            <a:avLst/>
          </a:prstGeom>
          <a:noFill/>
        </p:spPr>
        <p:txBody>
          <a:bodyPr wrap="square" rtlCol="0">
            <a:normAutofit/>
          </a:bodyPr>
          <a:lstStyle/>
          <a:p>
            <a:r>
              <a:rPr lang="zh-CN" altLang="en-US" sz="1200"/>
              <a:t>Observe these three figures. The first figure shows unnecessary condensation directly above the inlet. This increases the risk of clogging and further reduces overall efficiency.</a:t>
            </a:r>
            <a:r>
              <a:rPr lang="en-US" altLang="zh-CN" sz="1400"/>
              <a:t/>
            </a:r>
            <a:r>
              <a:rPr lang="zh-CN" altLang="en-US" sz="1400"/>
              <a:t/>
            </a:r>
            <a:r>
              <a:rPr lang="en-US" altLang="zh-CN" sz="1400"/>
              <a:t/>
            </a:r>
            <a:r>
              <a:rPr lang="zh-CN" altLang="en-US" sz="1400"/>
              <a:t/>
            </a:r>
            <a:r>
              <a:rPr lang="en-US" altLang="zh-CN" sz="1400"/>
              <a:t/>
            </a:r>
            <a:r>
              <a:rPr lang="zh-CN" altLang="en-US" sz="1400"/>
              <a:t/>
            </a:r>
            <a:r>
              <a:rPr lang="en-US" altLang="zh-CN" sz="1400"/>
              <a:t/>
            </a:r>
            <a:r>
              <a:rPr lang="zh-CN" altLang="en-US" sz="1400"/>
              <a:t/>
            </a:r>
            <a:endParaRPr lang="en-US" sz="1400" dirty="0"/>
            <a:br/>
            <a:r>
              <a:rPr lang="zh-CN" altLang="en-US" sz="1200"/>
              <a:t>Figure two prevents unnecessary steam reflection and condensation above the inlet. This simple modification is necessary to prevent inlet clogging.</a:t>
            </a:r>
            <a:br/>
            <a:r>
              <a:rPr lang="zh-CN" altLang="en-US" sz="1200"/>
              <a:t>Figure three reintroduces an inlet wall that existed in the batch from December 11, 2024. This will reduce oil leakage into the inlet space by 75%. User testing with incense has shown that this reduces clogging.</a:t>
            </a:r>
          </a:p>
        </p:txBody>
      </p:sp>
      <p:grpSp>
        <p:nvGrpSpPr>
          <p:cNvPr id="89" name="Group 88">
            <a:extLst>
              <a:ext uri="{FF2B5EF4-FFF2-40B4-BE49-F238E27FC236}">
                <a16:creationId xmlns:a16="http://schemas.microsoft.com/office/drawing/2014/main" id="{B5994EDA-DCEB-5129-8A29-9EC67CEA24BC}"/>
              </a:ext>
            </a:extLst>
          </p:cNvPr>
          <p:cNvGrpSpPr/>
          <p:nvPr/>
        </p:nvGrpSpPr>
        <p:grpSpPr>
          <a:xfrm>
            <a:off x="5917895" y="907924"/>
            <a:ext cx="2771201" cy="2168590"/>
            <a:chOff x="4444031" y="4638734"/>
            <a:chExt cx="2771201" cy="2168590"/>
          </a:xfrm>
        </p:grpSpPr>
        <p:sp>
          <p:nvSpPr>
            <p:cNvPr id="5" name="TextBox 4">
              <a:extLst>
                <a:ext uri="{FF2B5EF4-FFF2-40B4-BE49-F238E27FC236}">
                  <a16:creationId xmlns:a16="http://schemas.microsoft.com/office/drawing/2014/main" id="{21DD231F-0DF1-8152-D33D-C45440DE4776}"/>
                </a:ext>
              </a:extLst>
            </p:cNvPr>
            <p:cNvSpPr txBox="1"/>
            <p:nvPr/>
          </p:nvSpPr>
          <p:spPr>
            <a:xfrm>
              <a:off x="4559740" y="4638734"/>
              <a:ext cx="2655492" cy="461665"/>
            </a:xfrm>
            <a:prstGeom prst="rect">
              <a:avLst/>
            </a:prstGeom>
            <a:solidFill>
              <a:schemeClr val="bg2"/>
            </a:solidFill>
          </p:spPr>
          <p:txBody>
            <a:bodyPr wrap="square" rtlCol="0">
              <a:normAutofit/>
            </a:bodyPr>
            <a:lstStyle/>
            <a:p>
              <a:r>
                <a:rPr lang="zh-CN" altLang="en-US" sz="1100" dirty="0"/>
                <a:t>Figure 1: Current Gembox Vapor Pathway (Front cross-section - pins removed)</a:t>
              </a:r>
              <a:r>
                <a:rPr lang="en-US" altLang="zh-CN" sz="1200" dirty="0"/>
                <a:t/>
              </a:r>
              <a:r>
                <a:rPr lang="zh-CN" altLang="en-US" sz="1200" dirty="0"/>
                <a:t/>
              </a:r>
              <a:r>
                <a:rPr lang="en-US" altLang="zh-CN" sz="1200" dirty="0"/>
                <a:t/>
              </a:r>
              <a:r>
                <a:rPr lang="zh-CN" altLang="en-US" sz="1200" dirty="0"/>
                <a:t/>
              </a:r>
              <a:r>
                <a:rPr lang="en-US" altLang="zh-CN" sz="1200" dirty="0"/>
                <a:t/>
              </a:r>
              <a:r>
                <a:rPr lang="zh-CN" altLang="en-US" sz="1200" dirty="0"/>
                <a:t/>
              </a:r>
              <a:endParaRPr lang="en-US" sz="1200" dirty="0"/>
            </a:p>
          </p:txBody>
        </p:sp>
        <p:sp>
          <p:nvSpPr>
            <p:cNvPr id="8" name="Rectangle 7">
              <a:extLst>
                <a:ext uri="{FF2B5EF4-FFF2-40B4-BE49-F238E27FC236}">
                  <a16:creationId xmlns:a16="http://schemas.microsoft.com/office/drawing/2014/main" id="{AA0B580F-3A9D-C0C9-2217-7B35409A6D63}"/>
                </a:ext>
              </a:extLst>
            </p:cNvPr>
            <p:cNvSpPr/>
            <p:nvPr/>
          </p:nvSpPr>
          <p:spPr>
            <a:xfrm>
              <a:off x="5305332" y="5315656"/>
              <a:ext cx="995881" cy="2769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Connector 12">
              <a:extLst>
                <a:ext uri="{FF2B5EF4-FFF2-40B4-BE49-F238E27FC236}">
                  <a16:creationId xmlns:a16="http://schemas.microsoft.com/office/drawing/2014/main" id="{3EB9A23E-72A8-9828-3FE3-E30DBC106EB9}"/>
                </a:ext>
              </a:extLst>
            </p:cNvPr>
            <p:cNvCxnSpPr/>
            <p:nvPr/>
          </p:nvCxnSpPr>
          <p:spPr>
            <a:xfrm flipH="1" flipV="1">
              <a:off x="4444031" y="5388560"/>
              <a:ext cx="905347" cy="184106"/>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EBB53230-92B8-9517-A437-6188F8684E62}"/>
                </a:ext>
              </a:extLst>
            </p:cNvPr>
            <p:cNvCxnSpPr>
              <a:cxnSpLocks/>
            </p:cNvCxnSpPr>
            <p:nvPr/>
          </p:nvCxnSpPr>
          <p:spPr>
            <a:xfrm flipH="1">
              <a:off x="6301213" y="5413502"/>
              <a:ext cx="371191" cy="159164"/>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8" name="Oval 17">
              <a:extLst>
                <a:ext uri="{FF2B5EF4-FFF2-40B4-BE49-F238E27FC236}">
                  <a16:creationId xmlns:a16="http://schemas.microsoft.com/office/drawing/2014/main" id="{2B63F4F9-8F8E-3B5F-C344-E5D2EEF10C2D}"/>
                </a:ext>
              </a:extLst>
            </p:cNvPr>
            <p:cNvSpPr/>
            <p:nvPr/>
          </p:nvSpPr>
          <p:spPr>
            <a:xfrm>
              <a:off x="6486808" y="6110413"/>
              <a:ext cx="267078" cy="15916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839577FD-C32F-EE93-A66A-36D989554202}"/>
                </a:ext>
              </a:extLst>
            </p:cNvPr>
            <p:cNvSpPr/>
            <p:nvPr/>
          </p:nvSpPr>
          <p:spPr>
            <a:xfrm>
              <a:off x="6486808" y="6170555"/>
              <a:ext cx="267078" cy="63676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 name="Straight Arrow Connector 21">
              <a:extLst>
                <a:ext uri="{FF2B5EF4-FFF2-40B4-BE49-F238E27FC236}">
                  <a16:creationId xmlns:a16="http://schemas.microsoft.com/office/drawing/2014/main" id="{6BED50AC-8EF6-E17C-71CD-E97EEAE460E0}"/>
                </a:ext>
              </a:extLst>
            </p:cNvPr>
            <p:cNvCxnSpPr>
              <a:cxnSpLocks/>
            </p:cNvCxnSpPr>
            <p:nvPr/>
          </p:nvCxnSpPr>
          <p:spPr>
            <a:xfrm flipH="1" flipV="1">
              <a:off x="6382694" y="5670512"/>
              <a:ext cx="172016" cy="37999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CF757303-116B-E177-8E24-0C0185A9EDB0}"/>
                </a:ext>
              </a:extLst>
            </p:cNvPr>
            <p:cNvCxnSpPr>
              <a:cxnSpLocks/>
            </p:cNvCxnSpPr>
            <p:nvPr/>
          </p:nvCxnSpPr>
          <p:spPr>
            <a:xfrm flipH="1" flipV="1">
              <a:off x="6210678" y="5700935"/>
              <a:ext cx="316872" cy="3769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03C15419-2084-53F8-0A1A-3487E719C00E}"/>
                </a:ext>
              </a:extLst>
            </p:cNvPr>
            <p:cNvCxnSpPr>
              <a:cxnSpLocks/>
            </p:cNvCxnSpPr>
            <p:nvPr/>
          </p:nvCxnSpPr>
          <p:spPr>
            <a:xfrm flipH="1" flipV="1">
              <a:off x="5988868" y="5720924"/>
              <a:ext cx="466254" cy="3894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325DB795-DB27-75C1-351A-5294BFEB91C4}"/>
                </a:ext>
              </a:extLst>
            </p:cNvPr>
            <p:cNvCxnSpPr>
              <a:cxnSpLocks/>
            </p:cNvCxnSpPr>
            <p:nvPr/>
          </p:nvCxnSpPr>
          <p:spPr>
            <a:xfrm flipH="1" flipV="1">
              <a:off x="6482282" y="5602417"/>
              <a:ext cx="144856" cy="47550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26576BEC-17F7-468D-1959-3E497F0C88CC}"/>
                </a:ext>
              </a:extLst>
            </p:cNvPr>
            <p:cNvCxnSpPr>
              <a:cxnSpLocks/>
            </p:cNvCxnSpPr>
            <p:nvPr/>
          </p:nvCxnSpPr>
          <p:spPr>
            <a:xfrm flipH="1" flipV="1">
              <a:off x="6627138" y="5572666"/>
              <a:ext cx="108641" cy="448094"/>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747C06DE-E355-7824-A186-AFB62AF46EEF}"/>
                </a:ext>
              </a:extLst>
            </p:cNvPr>
            <p:cNvCxnSpPr>
              <a:cxnSpLocks/>
            </p:cNvCxnSpPr>
            <p:nvPr/>
          </p:nvCxnSpPr>
          <p:spPr>
            <a:xfrm flipV="1">
              <a:off x="6455122" y="5491656"/>
              <a:ext cx="280657" cy="3820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E04028ED-C0AB-C8FC-1E64-0BE0F40BFC08}"/>
                </a:ext>
              </a:extLst>
            </p:cNvPr>
            <p:cNvCxnSpPr>
              <a:cxnSpLocks/>
            </p:cNvCxnSpPr>
            <p:nvPr/>
          </p:nvCxnSpPr>
          <p:spPr>
            <a:xfrm flipV="1">
              <a:off x="6446068" y="5529173"/>
              <a:ext cx="380245" cy="3044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9CF3B13E-75BA-19FD-8296-6429AA4C232C}"/>
                </a:ext>
              </a:extLst>
            </p:cNvPr>
            <p:cNvCxnSpPr>
              <a:cxnSpLocks/>
            </p:cNvCxnSpPr>
            <p:nvPr/>
          </p:nvCxnSpPr>
          <p:spPr>
            <a:xfrm flipH="1">
              <a:off x="6663161" y="5428846"/>
              <a:ext cx="280657"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5C75F3C2-6D97-5B2A-33E7-ABE54E9C5C72}"/>
                </a:ext>
              </a:extLst>
            </p:cNvPr>
            <p:cNvCxnSpPr>
              <a:cxnSpLocks/>
            </p:cNvCxnSpPr>
            <p:nvPr/>
          </p:nvCxnSpPr>
          <p:spPr>
            <a:xfrm flipH="1" flipV="1">
              <a:off x="6934575" y="5429320"/>
              <a:ext cx="18486" cy="137800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95D5AC17-39A4-F6F6-78A4-5C14C79DD4ED}"/>
                </a:ext>
              </a:extLst>
            </p:cNvPr>
            <p:cNvCxnSpPr>
              <a:cxnSpLocks/>
            </p:cNvCxnSpPr>
            <p:nvPr/>
          </p:nvCxnSpPr>
          <p:spPr>
            <a:xfrm flipH="1">
              <a:off x="6844041" y="5524336"/>
              <a:ext cx="35086" cy="20885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61188E58-67A2-BF88-4CC9-DE2885C19A38}"/>
                </a:ext>
              </a:extLst>
            </p:cNvPr>
            <p:cNvCxnSpPr>
              <a:cxnSpLocks/>
            </p:cNvCxnSpPr>
            <p:nvPr/>
          </p:nvCxnSpPr>
          <p:spPr>
            <a:xfrm flipH="1">
              <a:off x="6726346" y="5524335"/>
              <a:ext cx="107134" cy="18369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242BCE63-62E4-5613-AC0F-D47E5F19FCD6}"/>
                </a:ext>
              </a:extLst>
            </p:cNvPr>
            <p:cNvCxnSpPr>
              <a:cxnSpLocks/>
            </p:cNvCxnSpPr>
            <p:nvPr/>
          </p:nvCxnSpPr>
          <p:spPr>
            <a:xfrm flipH="1" flipV="1">
              <a:off x="5279214" y="5670512"/>
              <a:ext cx="719561" cy="48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26E759F3-B628-AD36-0727-A10841495AF7}"/>
                </a:ext>
              </a:extLst>
            </p:cNvPr>
            <p:cNvCxnSpPr>
              <a:cxnSpLocks/>
            </p:cNvCxnSpPr>
            <p:nvPr/>
          </p:nvCxnSpPr>
          <p:spPr>
            <a:xfrm flipH="1" flipV="1">
              <a:off x="4444031" y="5491656"/>
              <a:ext cx="708340" cy="1602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a:extLst>
                <a:ext uri="{FF2B5EF4-FFF2-40B4-BE49-F238E27FC236}">
                  <a16:creationId xmlns:a16="http://schemas.microsoft.com/office/drawing/2014/main" id="{5D7F8C92-5BC6-1335-36AD-E50740A91F2F}"/>
                </a:ext>
              </a:extLst>
            </p:cNvPr>
            <p:cNvCxnSpPr>
              <a:cxnSpLocks/>
            </p:cNvCxnSpPr>
            <p:nvPr/>
          </p:nvCxnSpPr>
          <p:spPr>
            <a:xfrm flipV="1">
              <a:off x="6733892" y="5932248"/>
              <a:ext cx="134876" cy="16191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xmlns:a16="http://schemas.microsoft.com/office/drawing/2014/main" id="{24CE7153-7C94-9F41-DFF3-5DC1D8D1DF45}"/>
                </a:ext>
              </a:extLst>
            </p:cNvPr>
            <p:cNvCxnSpPr>
              <a:cxnSpLocks/>
            </p:cNvCxnSpPr>
            <p:nvPr/>
          </p:nvCxnSpPr>
          <p:spPr>
            <a:xfrm flipH="1" flipV="1">
              <a:off x="6769180" y="5700935"/>
              <a:ext cx="116443" cy="20016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88" name="Group 87">
            <a:extLst>
              <a:ext uri="{FF2B5EF4-FFF2-40B4-BE49-F238E27FC236}">
                <a16:creationId xmlns:a16="http://schemas.microsoft.com/office/drawing/2014/main" id="{D030E9D5-567F-5F48-3AFC-634B71460AC3}"/>
              </a:ext>
            </a:extLst>
          </p:cNvPr>
          <p:cNvGrpSpPr/>
          <p:nvPr/>
        </p:nvGrpSpPr>
        <p:grpSpPr>
          <a:xfrm>
            <a:off x="9005777" y="956145"/>
            <a:ext cx="2686987" cy="2112814"/>
            <a:chOff x="7684981" y="4628914"/>
            <a:chExt cx="2686987" cy="2112814"/>
          </a:xfrm>
        </p:grpSpPr>
        <p:sp>
          <p:nvSpPr>
            <p:cNvPr id="54" name="Rectangle 53">
              <a:extLst>
                <a:ext uri="{FF2B5EF4-FFF2-40B4-BE49-F238E27FC236}">
                  <a16:creationId xmlns:a16="http://schemas.microsoft.com/office/drawing/2014/main" id="{8DD9431C-805D-AC74-B1A7-DE8A9BC2D0D9}"/>
                </a:ext>
              </a:extLst>
            </p:cNvPr>
            <p:cNvSpPr/>
            <p:nvPr/>
          </p:nvSpPr>
          <p:spPr>
            <a:xfrm>
              <a:off x="8546282" y="5250060"/>
              <a:ext cx="995881" cy="2769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5" name="Straight Connector 54">
              <a:extLst>
                <a:ext uri="{FF2B5EF4-FFF2-40B4-BE49-F238E27FC236}">
                  <a16:creationId xmlns:a16="http://schemas.microsoft.com/office/drawing/2014/main" id="{C643ED68-C998-F0D9-BEE4-94613981329A}"/>
                </a:ext>
              </a:extLst>
            </p:cNvPr>
            <p:cNvCxnSpPr/>
            <p:nvPr/>
          </p:nvCxnSpPr>
          <p:spPr>
            <a:xfrm flipH="1" flipV="1">
              <a:off x="7684981" y="5322964"/>
              <a:ext cx="905347" cy="184106"/>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441DC9B9-EE70-4008-21D3-899B915DB1F1}"/>
                </a:ext>
              </a:extLst>
            </p:cNvPr>
            <p:cNvCxnSpPr>
              <a:cxnSpLocks/>
            </p:cNvCxnSpPr>
            <p:nvPr/>
          </p:nvCxnSpPr>
          <p:spPr>
            <a:xfrm flipH="1" flipV="1">
              <a:off x="9542163" y="5507070"/>
              <a:ext cx="615268" cy="224728"/>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sp>
          <p:nvSpPr>
            <p:cNvPr id="57" name="Oval 56">
              <a:extLst>
                <a:ext uri="{FF2B5EF4-FFF2-40B4-BE49-F238E27FC236}">
                  <a16:creationId xmlns:a16="http://schemas.microsoft.com/office/drawing/2014/main" id="{A97DBC3B-F385-460F-FB4A-8F02F76D2109}"/>
                </a:ext>
              </a:extLst>
            </p:cNvPr>
            <p:cNvSpPr/>
            <p:nvPr/>
          </p:nvSpPr>
          <p:spPr>
            <a:xfrm>
              <a:off x="9727758" y="6044817"/>
              <a:ext cx="267078" cy="15916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57">
              <a:extLst>
                <a:ext uri="{FF2B5EF4-FFF2-40B4-BE49-F238E27FC236}">
                  <a16:creationId xmlns:a16="http://schemas.microsoft.com/office/drawing/2014/main" id="{04494EFF-A189-93A1-F520-86E197841993}"/>
                </a:ext>
              </a:extLst>
            </p:cNvPr>
            <p:cNvSpPr/>
            <p:nvPr/>
          </p:nvSpPr>
          <p:spPr>
            <a:xfrm>
              <a:off x="9727758" y="6104959"/>
              <a:ext cx="267078" cy="63676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9" name="Straight Arrow Connector 58">
              <a:extLst>
                <a:ext uri="{FF2B5EF4-FFF2-40B4-BE49-F238E27FC236}">
                  <a16:creationId xmlns:a16="http://schemas.microsoft.com/office/drawing/2014/main" id="{F14C20B5-BB3B-960E-DDF2-1D94DEA7001A}"/>
                </a:ext>
              </a:extLst>
            </p:cNvPr>
            <p:cNvCxnSpPr>
              <a:cxnSpLocks/>
            </p:cNvCxnSpPr>
            <p:nvPr/>
          </p:nvCxnSpPr>
          <p:spPr>
            <a:xfrm flipH="1" flipV="1">
              <a:off x="9623644" y="5604916"/>
              <a:ext cx="172016" cy="37999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15B64B36-263E-7F19-6BFE-13D1C82E0BCE}"/>
                </a:ext>
              </a:extLst>
            </p:cNvPr>
            <p:cNvCxnSpPr>
              <a:cxnSpLocks/>
            </p:cNvCxnSpPr>
            <p:nvPr/>
          </p:nvCxnSpPr>
          <p:spPr>
            <a:xfrm flipH="1" flipV="1">
              <a:off x="9451628" y="5635339"/>
              <a:ext cx="316872" cy="3769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A71F4886-AD84-F40C-44CC-8CBDDA3606BD}"/>
                </a:ext>
              </a:extLst>
            </p:cNvPr>
            <p:cNvCxnSpPr>
              <a:cxnSpLocks/>
            </p:cNvCxnSpPr>
            <p:nvPr/>
          </p:nvCxnSpPr>
          <p:spPr>
            <a:xfrm flipH="1" flipV="1">
              <a:off x="9229818" y="5655328"/>
              <a:ext cx="466254" cy="3894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EBEDE801-979F-6B61-FD8C-90A158B0AEB9}"/>
                </a:ext>
              </a:extLst>
            </p:cNvPr>
            <p:cNvCxnSpPr>
              <a:cxnSpLocks/>
            </p:cNvCxnSpPr>
            <p:nvPr/>
          </p:nvCxnSpPr>
          <p:spPr>
            <a:xfrm flipH="1" flipV="1">
              <a:off x="10175355" y="5728916"/>
              <a:ext cx="18656" cy="1012812"/>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70" name="Straight Arrow Connector 69">
              <a:extLst>
                <a:ext uri="{FF2B5EF4-FFF2-40B4-BE49-F238E27FC236}">
                  <a16:creationId xmlns:a16="http://schemas.microsoft.com/office/drawing/2014/main" id="{5F8C5F87-BD09-68FA-7E70-2D93FD2C6688}"/>
                </a:ext>
              </a:extLst>
            </p:cNvPr>
            <p:cNvCxnSpPr>
              <a:cxnSpLocks/>
            </p:cNvCxnSpPr>
            <p:nvPr/>
          </p:nvCxnSpPr>
          <p:spPr>
            <a:xfrm flipH="1" flipV="1">
              <a:off x="8520164" y="5604916"/>
              <a:ext cx="719561" cy="48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a:extLst>
                <a:ext uri="{FF2B5EF4-FFF2-40B4-BE49-F238E27FC236}">
                  <a16:creationId xmlns:a16="http://schemas.microsoft.com/office/drawing/2014/main" id="{F22DD729-71D1-E1DD-1AF9-066061A67844}"/>
                </a:ext>
              </a:extLst>
            </p:cNvPr>
            <p:cNvCxnSpPr>
              <a:cxnSpLocks/>
            </p:cNvCxnSpPr>
            <p:nvPr/>
          </p:nvCxnSpPr>
          <p:spPr>
            <a:xfrm flipH="1" flipV="1">
              <a:off x="7684981" y="5426060"/>
              <a:ext cx="708340" cy="1602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xmlns:a16="http://schemas.microsoft.com/office/drawing/2014/main" id="{D2D1766D-DEDB-225F-5A18-657AB8C69C20}"/>
                </a:ext>
              </a:extLst>
            </p:cNvPr>
            <p:cNvCxnSpPr/>
            <p:nvPr/>
          </p:nvCxnSpPr>
          <p:spPr>
            <a:xfrm flipH="1" flipV="1">
              <a:off x="9849797" y="5700935"/>
              <a:ext cx="11500" cy="3198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a:extLst>
                <a:ext uri="{FF2B5EF4-FFF2-40B4-BE49-F238E27FC236}">
                  <a16:creationId xmlns:a16="http://schemas.microsoft.com/office/drawing/2014/main" id="{DB7D003B-8C77-AE7F-DCE7-18D7B0E516B9}"/>
                </a:ext>
              </a:extLst>
            </p:cNvPr>
            <p:cNvCxnSpPr>
              <a:cxnSpLocks/>
            </p:cNvCxnSpPr>
            <p:nvPr/>
          </p:nvCxnSpPr>
          <p:spPr>
            <a:xfrm flipV="1">
              <a:off x="9976179" y="5914976"/>
              <a:ext cx="103167" cy="950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2CE6E38D-2F02-D14A-1503-9EEC95772AF4}"/>
                </a:ext>
              </a:extLst>
            </p:cNvPr>
            <p:cNvCxnSpPr>
              <a:cxnSpLocks/>
            </p:cNvCxnSpPr>
            <p:nvPr/>
          </p:nvCxnSpPr>
          <p:spPr>
            <a:xfrm flipH="1" flipV="1">
              <a:off x="9910817" y="5716367"/>
              <a:ext cx="165871" cy="1321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6" name="TextBox 85">
              <a:extLst>
                <a:ext uri="{FF2B5EF4-FFF2-40B4-BE49-F238E27FC236}">
                  <a16:creationId xmlns:a16="http://schemas.microsoft.com/office/drawing/2014/main" id="{4275A888-ED0B-8C17-C0E9-31E8E0E9A4EF}"/>
                </a:ext>
              </a:extLst>
            </p:cNvPr>
            <p:cNvSpPr txBox="1"/>
            <p:nvPr/>
          </p:nvSpPr>
          <p:spPr>
            <a:xfrm>
              <a:off x="7716476" y="4628914"/>
              <a:ext cx="2655492" cy="461665"/>
            </a:xfrm>
            <a:prstGeom prst="rect">
              <a:avLst/>
            </a:prstGeom>
            <a:solidFill>
              <a:schemeClr val="bg2"/>
            </a:solidFill>
          </p:spPr>
          <p:txBody>
            <a:bodyPr wrap="square" rtlCol="0">
              <a:normAutofit/>
            </a:bodyPr>
            <a:lstStyle/>
            <a:p>
              <a:r>
                <a:rPr lang="zh-CN" altLang="en-US" sz="1000" dirty="0"/>
                <a:t>Figure 2: Improved Gembox Vapor Passage (Front cross-section - pins removed)</a:t>
              </a:r>
              <a:r>
                <a:rPr lang="en-US" altLang="zh-CN" sz="1200" dirty="0"/>
                <a:t/>
              </a:r>
              <a:r>
                <a:rPr lang="zh-CN" altLang="en-US" sz="1200" dirty="0"/>
                <a:t/>
              </a:r>
              <a:r>
                <a:rPr lang="en-US" altLang="zh-CN" sz="1200" dirty="0"/>
                <a:t/>
              </a:r>
              <a:r>
                <a:rPr lang="zh-CN" altLang="en-US" sz="1200" dirty="0"/>
                <a:t/>
              </a:r>
              <a:r>
                <a:rPr lang="en-US" altLang="zh-CN" sz="1200" dirty="0"/>
                <a:t/>
              </a:r>
              <a:r>
                <a:rPr lang="zh-CN" altLang="en-US" sz="1200" dirty="0"/>
                <a:t/>
              </a:r>
              <a:endParaRPr lang="en-US" sz="1200" dirty="0"/>
            </a:p>
          </p:txBody>
        </p:sp>
      </p:grpSp>
      <p:grpSp>
        <p:nvGrpSpPr>
          <p:cNvPr id="11" name="Group 10">
            <a:extLst>
              <a:ext uri="{FF2B5EF4-FFF2-40B4-BE49-F238E27FC236}">
                <a16:creationId xmlns:a16="http://schemas.microsoft.com/office/drawing/2014/main" id="{7CB88639-5809-D0C9-3E2B-3AEDF028BFFC}"/>
              </a:ext>
            </a:extLst>
          </p:cNvPr>
          <p:cNvGrpSpPr/>
          <p:nvPr/>
        </p:nvGrpSpPr>
        <p:grpSpPr>
          <a:xfrm>
            <a:off x="451427" y="3451002"/>
            <a:ext cx="7269465" cy="2178260"/>
            <a:chOff x="4831315" y="4580436"/>
            <a:chExt cx="7269465" cy="2178260"/>
          </a:xfrm>
        </p:grpSpPr>
        <p:pic>
          <p:nvPicPr>
            <p:cNvPr id="12" name="Picture 11" descr="A close-up of a device&#10;&#10;Description automatically generated">
              <a:extLst>
                <a:ext uri="{FF2B5EF4-FFF2-40B4-BE49-F238E27FC236}">
                  <a16:creationId xmlns:a16="http://schemas.microsoft.com/office/drawing/2014/main" id="{5E5A99B5-6DC9-3312-0B87-A1A4AA616170}"/>
                </a:ext>
              </a:extLst>
            </p:cNvPr>
            <p:cNvPicPr>
              <a:picLocks noChangeAspect="1"/>
            </p:cNvPicPr>
            <p:nvPr/>
          </p:nvPicPr>
          <p:blipFill>
            <a:blip r:embed="rId5"/>
            <a:srcRect t="10441" b="14663"/>
            <a:stretch/>
          </p:blipFill>
          <p:spPr>
            <a:xfrm>
              <a:off x="4831315" y="4656655"/>
              <a:ext cx="3637566" cy="2043284"/>
            </a:xfrm>
            <a:prstGeom prst="rect">
              <a:avLst/>
            </a:prstGeom>
          </p:spPr>
        </p:pic>
        <p:pic>
          <p:nvPicPr>
            <p:cNvPr id="16" name="Picture 15" descr="A close-up of a chip&#10;&#10;Description automatically generated">
              <a:extLst>
                <a:ext uri="{FF2B5EF4-FFF2-40B4-BE49-F238E27FC236}">
                  <a16:creationId xmlns:a16="http://schemas.microsoft.com/office/drawing/2014/main" id="{F66DA37A-D50F-C5B5-0CA8-793CC92A337B}"/>
                </a:ext>
              </a:extLst>
            </p:cNvPr>
            <p:cNvPicPr>
              <a:picLocks noChangeAspect="1"/>
            </p:cNvPicPr>
            <p:nvPr/>
          </p:nvPicPr>
          <p:blipFill>
            <a:blip r:embed="rId6"/>
            <a:srcRect t="9732" b="9349"/>
            <a:stretch/>
          </p:blipFill>
          <p:spPr>
            <a:xfrm rot="10800000">
              <a:off x="8656916" y="4668613"/>
              <a:ext cx="3443863" cy="2090083"/>
            </a:xfrm>
            <a:prstGeom prst="rect">
              <a:avLst/>
            </a:prstGeom>
          </p:spPr>
        </p:pic>
        <p:sp>
          <p:nvSpPr>
            <p:cNvPr id="17" name="TextBox 16">
              <a:extLst>
                <a:ext uri="{FF2B5EF4-FFF2-40B4-BE49-F238E27FC236}">
                  <a16:creationId xmlns:a16="http://schemas.microsoft.com/office/drawing/2014/main" id="{D32CC563-24B1-AA87-6F0E-8AEEBA23E679}"/>
                </a:ext>
              </a:extLst>
            </p:cNvPr>
            <p:cNvSpPr txBox="1"/>
            <p:nvPr/>
          </p:nvSpPr>
          <p:spPr>
            <a:xfrm>
              <a:off x="7086018" y="4580436"/>
              <a:ext cx="2953762" cy="276999"/>
            </a:xfrm>
            <a:prstGeom prst="rect">
              <a:avLst/>
            </a:prstGeom>
            <a:solidFill>
              <a:schemeClr val="tx1"/>
            </a:solidFill>
          </p:spPr>
          <p:txBody>
            <a:bodyPr wrap="square" rtlCol="0">
              <a:spAutoFit/>
            </a:bodyPr>
            <a:lstStyle/>
            <a:p>
              <a:r>
                <a:rPr lang="en-US" sz="1200" dirty="0">
                  <a:solidFill>
                    <a:schemeClr val="bg1"/>
                  </a:solidFill>
                </a:rPr>
                <a:t>1-13 Batch D9-2 – Clogged at 50% remaining</a:t>
              </a:r>
            </a:p>
          </p:txBody>
        </p:sp>
        <p:cxnSp>
          <p:nvCxnSpPr>
            <p:cNvPr id="20" name="Straight Arrow Connector 19">
              <a:extLst>
                <a:ext uri="{FF2B5EF4-FFF2-40B4-BE49-F238E27FC236}">
                  <a16:creationId xmlns:a16="http://schemas.microsoft.com/office/drawing/2014/main" id="{4B93F749-52EC-69CF-8290-75461AF0E9A6}"/>
                </a:ext>
              </a:extLst>
            </p:cNvPr>
            <p:cNvCxnSpPr/>
            <p:nvPr/>
          </p:nvCxnSpPr>
          <p:spPr>
            <a:xfrm>
              <a:off x="10723584" y="4927317"/>
              <a:ext cx="659414"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39C504DC-3098-5B6F-E74C-7217B5ADA640}"/>
                </a:ext>
              </a:extLst>
            </p:cNvPr>
            <p:cNvCxnSpPr>
              <a:cxnSpLocks/>
            </p:cNvCxnSpPr>
            <p:nvPr/>
          </p:nvCxnSpPr>
          <p:spPr>
            <a:xfrm flipH="1">
              <a:off x="9824455" y="4927317"/>
              <a:ext cx="673986" cy="0"/>
            </a:xfrm>
            <a:prstGeom prst="straightConnector1">
              <a:avLst/>
            </a:prstGeom>
            <a:ln w="5715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9105A2AF-D338-B741-03F2-52DB2CE56D7F}"/>
                </a:ext>
              </a:extLst>
            </p:cNvPr>
            <p:cNvSpPr txBox="1"/>
            <p:nvPr/>
          </p:nvSpPr>
          <p:spPr>
            <a:xfrm>
              <a:off x="9031832" y="4818339"/>
              <a:ext cx="783262" cy="584775"/>
            </a:xfrm>
            <a:prstGeom prst="rect">
              <a:avLst/>
            </a:prstGeom>
            <a:noFill/>
          </p:spPr>
          <p:txBody>
            <a:bodyPr wrap="square" rtlCol="0">
              <a:spAutoFit/>
            </a:bodyPr>
            <a:lstStyle/>
            <a:p>
              <a:r>
                <a:rPr lang="en-US" sz="800" dirty="0">
                  <a:solidFill>
                    <a:schemeClr val="bg1"/>
                  </a:solidFill>
                </a:rPr>
                <a:t>Vapor Pathway – Oil expected here</a:t>
              </a:r>
              <a:r>
                <a:rPr lang="zh-CN" altLang="en-US" sz="800" dirty="0">
                  <a:solidFill>
                    <a:schemeClr val="bg1"/>
                  </a:solidFill>
                </a:rPr>
                <a:t/>
              </a:r>
              <a:endParaRPr lang="en-US" sz="800" dirty="0">
                <a:solidFill>
                  <a:schemeClr val="bg1"/>
                </a:solidFill>
              </a:endParaRPr>
            </a:p>
          </p:txBody>
        </p:sp>
        <p:sp>
          <p:nvSpPr>
            <p:cNvPr id="28" name="TextBox 27">
              <a:extLst>
                <a:ext uri="{FF2B5EF4-FFF2-40B4-BE49-F238E27FC236}">
                  <a16:creationId xmlns:a16="http://schemas.microsoft.com/office/drawing/2014/main" id="{4F82EAD5-1854-4DA5-10DB-F08641DFAC92}"/>
                </a:ext>
              </a:extLst>
            </p:cNvPr>
            <p:cNvSpPr txBox="1"/>
            <p:nvPr/>
          </p:nvSpPr>
          <p:spPr>
            <a:xfrm>
              <a:off x="11317518" y="4768868"/>
              <a:ext cx="783262" cy="584775"/>
            </a:xfrm>
            <a:prstGeom prst="rect">
              <a:avLst/>
            </a:prstGeom>
            <a:noFill/>
          </p:spPr>
          <p:txBody>
            <a:bodyPr wrap="square" rtlCol="0">
              <a:normAutofit/>
            </a:bodyPr>
            <a:lstStyle/>
            <a:p>
              <a:r>
                <a:rPr lang="zh-CN" altLang="en-US" sz="700" dirty="0">
                  <a:solidFill>
                    <a:schemeClr val="bg1"/>
                  </a:solidFill>
                </a:rPr>
                <a:t>Wrong direction – We should not see oil here</a:t>
              </a:r>
              <a:r>
                <a:rPr lang="en-US" altLang="zh-CN" sz="800" dirty="0">
                  <a:solidFill>
                    <a:schemeClr val="bg1"/>
                  </a:solidFill>
                </a:rPr>
                <a:t/>
              </a:r>
              <a:r>
                <a:rPr lang="zh-CN" altLang="en-US" sz="800" dirty="0">
                  <a:solidFill>
                    <a:schemeClr val="bg1"/>
                  </a:solidFill>
                </a:rPr>
                <a:t/>
              </a:r>
              <a:endParaRPr lang="en-US" sz="800" dirty="0">
                <a:solidFill>
                  <a:schemeClr val="bg1"/>
                </a:solidFill>
              </a:endParaRPr>
            </a:p>
          </p:txBody>
        </p:sp>
      </p:grpSp>
      <p:grpSp>
        <p:nvGrpSpPr>
          <p:cNvPr id="104" name="Group 103">
            <a:extLst>
              <a:ext uri="{FF2B5EF4-FFF2-40B4-BE49-F238E27FC236}">
                <a16:creationId xmlns:a16="http://schemas.microsoft.com/office/drawing/2014/main" id="{42AE0D6E-F6B1-1292-A024-2332CD0894F4}"/>
              </a:ext>
            </a:extLst>
          </p:cNvPr>
          <p:cNvGrpSpPr/>
          <p:nvPr/>
        </p:nvGrpSpPr>
        <p:grpSpPr>
          <a:xfrm>
            <a:off x="8146414" y="3674200"/>
            <a:ext cx="3620064" cy="2398892"/>
            <a:chOff x="816610" y="3403458"/>
            <a:chExt cx="3620064" cy="2398892"/>
          </a:xfrm>
        </p:grpSpPr>
        <p:sp>
          <p:nvSpPr>
            <p:cNvPr id="72" name="Rectangle 71">
              <a:extLst>
                <a:ext uri="{FF2B5EF4-FFF2-40B4-BE49-F238E27FC236}">
                  <a16:creationId xmlns:a16="http://schemas.microsoft.com/office/drawing/2014/main" id="{C4C32F9D-92D4-3920-8691-F198C5B9F122}"/>
                </a:ext>
              </a:extLst>
            </p:cNvPr>
            <p:cNvSpPr/>
            <p:nvPr/>
          </p:nvSpPr>
          <p:spPr>
            <a:xfrm>
              <a:off x="1677911" y="4310682"/>
              <a:ext cx="995881" cy="2769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3" name="Straight Connector 72">
              <a:extLst>
                <a:ext uri="{FF2B5EF4-FFF2-40B4-BE49-F238E27FC236}">
                  <a16:creationId xmlns:a16="http://schemas.microsoft.com/office/drawing/2014/main" id="{7700FB42-508D-2B0D-B9A0-1A4947897164}"/>
                </a:ext>
              </a:extLst>
            </p:cNvPr>
            <p:cNvCxnSpPr/>
            <p:nvPr/>
          </p:nvCxnSpPr>
          <p:spPr>
            <a:xfrm flipH="1" flipV="1">
              <a:off x="816610" y="4383586"/>
              <a:ext cx="905347" cy="184106"/>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A6B540FC-9D8A-6E95-F03D-884DA120622F}"/>
                </a:ext>
              </a:extLst>
            </p:cNvPr>
            <p:cNvCxnSpPr>
              <a:cxnSpLocks/>
            </p:cNvCxnSpPr>
            <p:nvPr/>
          </p:nvCxnSpPr>
          <p:spPr>
            <a:xfrm flipH="1" flipV="1">
              <a:off x="2673792" y="4567692"/>
              <a:ext cx="615268" cy="224728"/>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sp>
          <p:nvSpPr>
            <p:cNvPr id="75" name="Oval 74">
              <a:extLst>
                <a:ext uri="{FF2B5EF4-FFF2-40B4-BE49-F238E27FC236}">
                  <a16:creationId xmlns:a16="http://schemas.microsoft.com/office/drawing/2014/main" id="{EA8FE7BD-55F4-BA76-8F64-E1A594F7CB71}"/>
                </a:ext>
              </a:extLst>
            </p:cNvPr>
            <p:cNvSpPr/>
            <p:nvPr/>
          </p:nvSpPr>
          <p:spPr>
            <a:xfrm>
              <a:off x="2859387" y="5105439"/>
              <a:ext cx="267078" cy="15916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a:extLst>
                <a:ext uri="{FF2B5EF4-FFF2-40B4-BE49-F238E27FC236}">
                  <a16:creationId xmlns:a16="http://schemas.microsoft.com/office/drawing/2014/main" id="{79E3E9A4-6B1E-CFF8-2358-E98BB285595B}"/>
                </a:ext>
              </a:extLst>
            </p:cNvPr>
            <p:cNvSpPr/>
            <p:nvPr/>
          </p:nvSpPr>
          <p:spPr>
            <a:xfrm>
              <a:off x="2859387" y="5165581"/>
              <a:ext cx="267078" cy="63676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5" name="Straight Connector 84">
              <a:extLst>
                <a:ext uri="{FF2B5EF4-FFF2-40B4-BE49-F238E27FC236}">
                  <a16:creationId xmlns:a16="http://schemas.microsoft.com/office/drawing/2014/main" id="{E2C37088-6054-13B5-716F-B05FDC2CFE13}"/>
                </a:ext>
              </a:extLst>
            </p:cNvPr>
            <p:cNvCxnSpPr>
              <a:cxnSpLocks/>
            </p:cNvCxnSpPr>
            <p:nvPr/>
          </p:nvCxnSpPr>
          <p:spPr>
            <a:xfrm flipV="1">
              <a:off x="3306984" y="4789538"/>
              <a:ext cx="0" cy="1012812"/>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87" name="Straight Arrow Connector 86">
              <a:extLst>
                <a:ext uri="{FF2B5EF4-FFF2-40B4-BE49-F238E27FC236}">
                  <a16:creationId xmlns:a16="http://schemas.microsoft.com/office/drawing/2014/main" id="{79424EB9-684E-14F0-C2FC-9EDE2FECE41C}"/>
                </a:ext>
              </a:extLst>
            </p:cNvPr>
            <p:cNvCxnSpPr>
              <a:cxnSpLocks/>
            </p:cNvCxnSpPr>
            <p:nvPr/>
          </p:nvCxnSpPr>
          <p:spPr>
            <a:xfrm flipH="1" flipV="1">
              <a:off x="1651793" y="4665538"/>
              <a:ext cx="719561" cy="48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3" name="Straight Arrow Connector 92">
              <a:extLst>
                <a:ext uri="{FF2B5EF4-FFF2-40B4-BE49-F238E27FC236}">
                  <a16:creationId xmlns:a16="http://schemas.microsoft.com/office/drawing/2014/main" id="{88AFC8BB-21DE-4142-DCB3-F948D47F67D5}"/>
                </a:ext>
              </a:extLst>
            </p:cNvPr>
            <p:cNvCxnSpPr>
              <a:cxnSpLocks/>
            </p:cNvCxnSpPr>
            <p:nvPr/>
          </p:nvCxnSpPr>
          <p:spPr>
            <a:xfrm flipH="1" flipV="1">
              <a:off x="816610" y="4486682"/>
              <a:ext cx="708340" cy="1602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8" name="TextBox 97">
              <a:extLst>
                <a:ext uri="{FF2B5EF4-FFF2-40B4-BE49-F238E27FC236}">
                  <a16:creationId xmlns:a16="http://schemas.microsoft.com/office/drawing/2014/main" id="{B61D5607-1D2D-6958-54F3-F6833EF55BE7}"/>
                </a:ext>
              </a:extLst>
            </p:cNvPr>
            <p:cNvSpPr txBox="1"/>
            <p:nvPr/>
          </p:nvSpPr>
          <p:spPr>
            <a:xfrm>
              <a:off x="816610" y="3403458"/>
              <a:ext cx="2827968" cy="461665"/>
            </a:xfrm>
            <a:prstGeom prst="rect">
              <a:avLst/>
            </a:prstGeom>
            <a:solidFill>
              <a:schemeClr val="bg2"/>
            </a:solidFill>
          </p:spPr>
          <p:txBody>
            <a:bodyPr wrap="square" rtlCol="0">
              <a:normAutofit/>
            </a:bodyPr>
            <a:lstStyle/>
            <a:p>
              <a:r>
                <a:rPr lang="zh-CN" altLang="en-US" sz="1000" dirty="0"/>
                <a:t>Figure 3: Improved Gembox Vapor Passage + Inlet Wall (Front cross-section - pin removed)</a:t>
              </a:r>
              <a:r>
                <a:rPr lang="en-US" altLang="zh-CN" sz="1200" dirty="0"/>
                <a:t/>
              </a:r>
              <a:r>
                <a:rPr lang="zh-CN" altLang="en-US" sz="1200" dirty="0"/>
                <a:t/>
              </a:r>
              <a:r>
                <a:rPr lang="en-US" altLang="zh-CN" sz="1200" dirty="0"/>
                <a:t/>
              </a:r>
              <a:r>
                <a:rPr lang="zh-CN" altLang="en-US" sz="1200" dirty="0"/>
                <a:t/>
              </a:r>
              <a:r>
                <a:rPr lang="en-US" altLang="zh-CN" sz="1200" dirty="0"/>
                <a:t/>
              </a:r>
              <a:r>
                <a:rPr lang="zh-CN" altLang="en-US" sz="1200" dirty="0"/>
                <a:t/>
              </a:r>
              <a:r>
                <a:rPr lang="en-US" altLang="zh-CN" sz="1200" dirty="0"/>
                <a:t/>
              </a:r>
              <a:r>
                <a:rPr lang="zh-CN" altLang="en-US" sz="1200" dirty="0"/>
                <a:t/>
              </a:r>
              <a:endParaRPr lang="en-US" sz="1200" dirty="0"/>
            </a:p>
          </p:txBody>
        </p:sp>
        <p:sp>
          <p:nvSpPr>
            <p:cNvPr id="100" name="Rectangle 99">
              <a:extLst>
                <a:ext uri="{FF2B5EF4-FFF2-40B4-BE49-F238E27FC236}">
                  <a16:creationId xmlns:a16="http://schemas.microsoft.com/office/drawing/2014/main" id="{DBF34ED4-6E9A-D880-C7B9-7A3A0677FCE5}"/>
                </a:ext>
              </a:extLst>
            </p:cNvPr>
            <p:cNvSpPr/>
            <p:nvPr/>
          </p:nvSpPr>
          <p:spPr>
            <a:xfrm>
              <a:off x="2859386" y="4789538"/>
              <a:ext cx="429674" cy="1012812"/>
            </a:xfrm>
            <a:prstGeom prst="rect">
              <a:avLst/>
            </a:prstGeom>
            <a:solidFill>
              <a:schemeClr val="accent1">
                <a:alpha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Right Triangle 100">
              <a:extLst>
                <a:ext uri="{FF2B5EF4-FFF2-40B4-BE49-F238E27FC236}">
                  <a16:creationId xmlns:a16="http://schemas.microsoft.com/office/drawing/2014/main" id="{BD1C3DBD-9AEB-633B-FCE1-C539010F219B}"/>
                </a:ext>
              </a:extLst>
            </p:cNvPr>
            <p:cNvSpPr/>
            <p:nvPr/>
          </p:nvSpPr>
          <p:spPr>
            <a:xfrm>
              <a:off x="2859386" y="4646928"/>
              <a:ext cx="361908" cy="142610"/>
            </a:xfrm>
            <a:prstGeom prst="rtTriangle">
              <a:avLst/>
            </a:prstGeom>
            <a:solidFill>
              <a:schemeClr val="accent1">
                <a:alpha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TextBox 102">
              <a:extLst>
                <a:ext uri="{FF2B5EF4-FFF2-40B4-BE49-F238E27FC236}">
                  <a16:creationId xmlns:a16="http://schemas.microsoft.com/office/drawing/2014/main" id="{EDFF8FCE-BF2E-4824-A9C4-42E64DE24F6B}"/>
                </a:ext>
              </a:extLst>
            </p:cNvPr>
            <p:cNvSpPr txBox="1"/>
            <p:nvPr/>
          </p:nvSpPr>
          <p:spPr>
            <a:xfrm>
              <a:off x="3391181" y="5009646"/>
              <a:ext cx="1045493" cy="646331"/>
            </a:xfrm>
            <a:prstGeom prst="rect">
              <a:avLst/>
            </a:prstGeom>
            <a:noFill/>
          </p:spPr>
          <p:txBody>
            <a:bodyPr wrap="square" rtlCol="0">
              <a:normAutofit/>
            </a:bodyPr>
            <a:lstStyle/>
            <a:p>
              <a:r>
                <a:rPr lang="zh-CN" altLang="en-US" sz="1000" dirty="0">
                  <a:solidFill>
                    <a:srgbClr val="FF0000"/>
                  </a:solidFill>
                </a:rPr>
                <a:t>The inlet wall is transparent for easy viewing.</a:t>
              </a:r>
              <a:endParaRPr lang="en-US" sz="1200" dirty="0">
                <a:solidFill>
                  <a:srgbClr val="FF0000"/>
                </a:solidFill>
              </a:endParaRPr>
            </a:p>
          </p:txBody>
        </p:sp>
      </p:grpSp>
      <p:sp>
        <p:nvSpPr>
          <p:cNvPr id="105" name="TextBox 104">
            <a:extLst>
              <a:ext uri="{FF2B5EF4-FFF2-40B4-BE49-F238E27FC236}">
                <a16:creationId xmlns:a16="http://schemas.microsoft.com/office/drawing/2014/main" id="{CB4336EA-DCD3-ED09-45DB-65A8D9F3D53F}"/>
              </a:ext>
            </a:extLst>
          </p:cNvPr>
          <p:cNvSpPr txBox="1"/>
          <p:nvPr/>
        </p:nvSpPr>
        <p:spPr>
          <a:xfrm>
            <a:off x="278207" y="5857992"/>
            <a:ext cx="7750367" cy="523220"/>
          </a:xfrm>
          <a:prstGeom prst="rect">
            <a:avLst/>
          </a:prstGeom>
          <a:noFill/>
        </p:spPr>
        <p:txBody>
          <a:bodyPr wrap="square" rtlCol="0">
            <a:spAutoFit/>
          </a:bodyPr>
          <a:lstStyle/>
          <a:p>
            <a:r>
              <a:rPr lang="zh-CN" altLang="en-US" sz="1400"/>
              <a:t>When making design changes: Ensure adherence to proper Design of Experiments (DoE) procedures. This means that all modifications should be isolated and tested before introducing the final design.</a:t>
            </a:r>
            <a:r>
              <a:rPr lang="en-US" altLang="zh-CN" sz="1400"/>
              <a:t/>
            </a:r>
            <a:r>
              <a:rPr lang="zh-CN" altLang="en-US" sz="1400"/>
              <a:t/>
            </a:r>
            <a:endParaRPr lang="en-US" sz="1400" dirty="0"/>
          </a:p>
        </p:txBody>
      </p:sp>
      <p:sp>
        <p:nvSpPr>
          <p:cNvPr id="106" name="TextBox 105">
            <a:extLst>
              <a:ext uri="{FF2B5EF4-FFF2-40B4-BE49-F238E27FC236}">
                <a16:creationId xmlns:a16="http://schemas.microsoft.com/office/drawing/2014/main" id="{85D487BC-D029-EC2D-34A4-121262367549}"/>
              </a:ext>
            </a:extLst>
          </p:cNvPr>
          <p:cNvSpPr txBox="1"/>
          <p:nvPr/>
        </p:nvSpPr>
        <p:spPr>
          <a:xfrm>
            <a:off x="8276574" y="5398640"/>
            <a:ext cx="1760552" cy="646331"/>
          </a:xfrm>
          <a:prstGeom prst="rect">
            <a:avLst/>
          </a:prstGeom>
          <a:noFill/>
        </p:spPr>
        <p:txBody>
          <a:bodyPr wrap="square" rtlCol="0">
            <a:normAutofit/>
          </a:bodyPr>
          <a:lstStyle/>
          <a:p>
            <a:r>
              <a:rPr lang="zh-CN" altLang="en-US" sz="900" dirty="0"/>
              <a:t>The inlet wall has two purposes: to prevent oil entry, and to guide air directly to the heater.</a:t>
            </a:r>
            <a:endParaRPr lang="en-US" sz="1200" dirty="0"/>
          </a:p>
        </p:txBody>
      </p:sp>
      <p:cxnSp>
        <p:nvCxnSpPr>
          <p:cNvPr id="108" name="Straight Arrow Connector 107">
            <a:extLst>
              <a:ext uri="{FF2B5EF4-FFF2-40B4-BE49-F238E27FC236}">
                <a16:creationId xmlns:a16="http://schemas.microsoft.com/office/drawing/2014/main" id="{BAF2E80D-C881-8A40-10D6-76A4A0C6680D}"/>
              </a:ext>
            </a:extLst>
          </p:cNvPr>
          <p:cNvCxnSpPr/>
          <p:nvPr/>
        </p:nvCxnSpPr>
        <p:spPr>
          <a:xfrm flipV="1">
            <a:off x="9951349" y="5391731"/>
            <a:ext cx="153645" cy="111072"/>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spTree>
    <p:extLst>
      <p:ext uri="{BB962C8B-B14F-4D97-AF65-F5344CB8AC3E}">
        <p14:creationId xmlns:p14="http://schemas.microsoft.com/office/powerpoint/2010/main" val="5685415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77E22A-F55A-5751-5ECC-D3E3D27ABE9F}"/>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B4407BDC-F203-D6BC-C97F-C73156038A7A}"/>
              </a:ext>
            </a:extLst>
          </p:cNvPr>
          <p:cNvPicPr>
            <a:picLocks noChangeAspect="1"/>
          </p:cNvPicPr>
          <p:nvPr/>
        </p:nvPicPr>
        <p:blipFill>
          <a:blip r:embed="rId3" cstate="screen">
            <a:alphaModFix amt="60000"/>
            <a:extLst>
              <a:ext uri="{28A0092B-C50C-407E-A947-70E740481C1C}">
                <a14:useLocalDpi xmlns:a14="http://schemas.microsoft.com/office/drawing/2010/main"/>
              </a:ext>
            </a:extLst>
          </a:blip>
          <a:stretch>
            <a:fillRect/>
          </a:stretch>
        </p:blipFill>
        <p:spPr>
          <a:xfrm>
            <a:off x="-361" y="13947"/>
            <a:ext cx="12192361" cy="6857797"/>
          </a:xfrm>
          <a:prstGeom prst="rect">
            <a:avLst/>
          </a:prstGeom>
        </p:spPr>
      </p:pic>
      <p:pic>
        <p:nvPicPr>
          <p:cNvPr id="4" name="Picture 3">
            <a:extLst>
              <a:ext uri="{FF2B5EF4-FFF2-40B4-BE49-F238E27FC236}">
                <a16:creationId xmlns:a16="http://schemas.microsoft.com/office/drawing/2014/main" id="{CD822180-F20A-7F09-D1F4-B3959A2667CF}"/>
              </a:ext>
            </a:extLst>
          </p:cNvPr>
          <p:cNvPicPr>
            <a:picLocks noChangeAspect="1"/>
          </p:cNvPicPr>
          <p:nvPr/>
        </p:nvPicPr>
        <p:blipFill>
          <a:blip r:embed="rId4"/>
          <a:stretch>
            <a:fillRect/>
          </a:stretch>
        </p:blipFill>
        <p:spPr>
          <a:xfrm>
            <a:off x="10201998" y="91033"/>
            <a:ext cx="1436172" cy="485446"/>
          </a:xfrm>
          <a:prstGeom prst="rect">
            <a:avLst/>
          </a:prstGeom>
        </p:spPr>
      </p:pic>
      <p:sp>
        <p:nvSpPr>
          <p:cNvPr id="2" name="矩形 4">
            <a:extLst>
              <a:ext uri="{FF2B5EF4-FFF2-40B4-BE49-F238E27FC236}">
                <a16:creationId xmlns:a16="http://schemas.microsoft.com/office/drawing/2014/main" id="{B270995E-C223-5A51-5193-9233962ADC3B}"/>
              </a:ext>
            </a:extLst>
          </p:cNvPr>
          <p:cNvSpPr/>
          <p:nvPr/>
        </p:nvSpPr>
        <p:spPr>
          <a:xfrm>
            <a:off x="640080" y="146304"/>
            <a:ext cx="7946214" cy="523220"/>
          </a:xfrm>
          <a:prstGeom prst="rect">
            <a:avLst/>
          </a:prstGeom>
        </p:spPr>
        <p:txBody>
          <a:bodyPr wrap="none">
            <a:spAutoFit/>
          </a:bodyPr>
          <a:lstStyle/>
          <a:p>
            <a:pPr lvl="0">
              <a:defRPr/>
            </a:pPr>
            <a:r>
              <a:rPr lang="en-US" altLang="zh-CN" sz="2800">
                <a:latin typeface="微软雅黑" panose="020B0503020204020204" pitchFamily="34" charset="-122"/>
                <a:ea typeface="微软雅黑" panose="020B0503020204020204" pitchFamily="34" charset="-122"/>
                <a:cs typeface="+mn-ea"/>
                <a:sym typeface="+mn-lt"/>
              </a:rPr>
              <a:t>Gembox 1-22 Big Headspace High T </a:t>
            </a:r>
            <a:r>
              <a:rPr lang="zh-CN" altLang="en-US" sz="2800">
                <a:latin typeface="微软雅黑" panose="020B0503020204020204" pitchFamily="34" charset="-122"/>
                <a:ea typeface="微软雅黑" panose="020B0503020204020204" pitchFamily="34" charset="-122"/>
                <a:cs typeface="+mn-ea"/>
                <a:sym typeface="+mn-lt"/>
              </a:rPr>
              <a:t>测试结果</a:t>
            </a:r>
            <a:endParaRPr kumimoji="0" lang="zh-CN" altLang="en-US" sz="2800" i="0" u="none" strike="noStrike" kern="1200" cap="none" spc="0" normalizeH="0" baseline="0" noProof="0" dirty="0">
              <a:ln>
                <a:noFill/>
              </a:ln>
              <a:effectLst/>
              <a:uLnTx/>
              <a:uFillTx/>
              <a:latin typeface="Calibri" panose="020F0502020204030204"/>
              <a:ea typeface="宋体" panose="02010600030101010101" pitchFamily="2" charset="-122"/>
              <a:cs typeface="+mn-ea"/>
              <a:sym typeface="+mn-lt"/>
            </a:endParaRPr>
          </a:p>
        </p:txBody>
      </p:sp>
      <p:graphicFrame>
        <p:nvGraphicFramePr>
          <p:cNvPr id="3" name="Table 2">
            <a:extLst>
              <a:ext uri="{FF2B5EF4-FFF2-40B4-BE49-F238E27FC236}">
                <a16:creationId xmlns:a16="http://schemas.microsoft.com/office/drawing/2014/main" id="{3A4C6ECA-D8F5-36E9-755F-8D3EB5F4B80A}"/>
              </a:ext>
            </a:extLst>
          </p:cNvPr>
          <p:cNvGraphicFramePr>
            <a:graphicFrameLocks noGrp="1"/>
          </p:cNvGraphicFramePr>
          <p:nvPr/>
        </p:nvGraphicFramePr>
        <p:xfrm>
          <a:off x="347472" y="813816"/>
          <a:ext cx="5713778" cy="5897880"/>
        </p:xfrm>
        <a:graphic>
          <a:graphicData uri="http://schemas.openxmlformats.org/drawingml/2006/table">
            <a:tbl>
              <a:tblPr firstRow="1" bandRow="1">
                <a:tableStyleId>{5C22544A-7EE6-4342-B048-85BDC9FD1C3A}</a:tableStyleId>
              </a:tblPr>
              <a:tblGrid>
                <a:gridCol w="816254">
                  <a:extLst>
                    <a:ext uri="{9D8B030D-6E8A-4147-A177-3AD203B41FA5}">
                      <a16:colId xmlns:a16="http://schemas.microsoft.com/office/drawing/2014/main" val="20000"/>
                    </a:ext>
                  </a:extLst>
                </a:gridCol>
                <a:gridCol w="816254">
                  <a:extLst>
                    <a:ext uri="{9D8B030D-6E8A-4147-A177-3AD203B41FA5}">
                      <a16:colId xmlns:a16="http://schemas.microsoft.com/office/drawing/2014/main" val="20001"/>
                    </a:ext>
                  </a:extLst>
                </a:gridCol>
                <a:gridCol w="816254">
                  <a:extLst>
                    <a:ext uri="{9D8B030D-6E8A-4147-A177-3AD203B41FA5}">
                      <a16:colId xmlns:a16="http://schemas.microsoft.com/office/drawing/2014/main" val="20002"/>
                    </a:ext>
                  </a:extLst>
                </a:gridCol>
                <a:gridCol w="816254">
                  <a:extLst>
                    <a:ext uri="{9D8B030D-6E8A-4147-A177-3AD203B41FA5}">
                      <a16:colId xmlns:a16="http://schemas.microsoft.com/office/drawing/2014/main" val="20003"/>
                    </a:ext>
                  </a:extLst>
                </a:gridCol>
                <a:gridCol w="816254">
                  <a:extLst>
                    <a:ext uri="{9D8B030D-6E8A-4147-A177-3AD203B41FA5}">
                      <a16:colId xmlns:a16="http://schemas.microsoft.com/office/drawing/2014/main" val="20004"/>
                    </a:ext>
                  </a:extLst>
                </a:gridCol>
                <a:gridCol w="816254">
                  <a:extLst>
                    <a:ext uri="{9D8B030D-6E8A-4147-A177-3AD203B41FA5}">
                      <a16:colId xmlns:a16="http://schemas.microsoft.com/office/drawing/2014/main" val="20005"/>
                    </a:ext>
                  </a:extLst>
                </a:gridCol>
                <a:gridCol w="816254">
                  <a:extLst>
                    <a:ext uri="{9D8B030D-6E8A-4147-A177-3AD203B41FA5}">
                      <a16:colId xmlns:a16="http://schemas.microsoft.com/office/drawing/2014/main" val="20006"/>
                    </a:ext>
                  </a:extLst>
                </a:gridCol>
              </a:tblGrid>
              <a:tr h="982980">
                <a:tc>
                  <a:txBody>
                    <a:bodyPr/>
                    <a:lstStyle/>
                    <a:p>
                      <a:pPr algn="ctr"/>
                      <a:r>
                        <a:rPr sz="1000"/>
                        <a:t>Design and Oil</a:t>
                      </a:r>
                    </a:p>
                  </a:txBody>
                  <a:tcPr anchor="ctr"/>
                </a:tc>
                <a:tc>
                  <a:txBody>
                    <a:bodyPr/>
                    <a:lstStyle/>
                    <a:p>
                      <a:pPr algn="ctr"/>
                      <a:r>
                        <a:rPr sz="1000"/>
                        <a:t>Power</a:t>
                      </a:r>
                    </a:p>
                  </a:txBody>
                  <a:tcPr anchor="ctr"/>
                </a:tc>
                <a:tc>
                  <a:txBody>
                    <a:bodyPr/>
                    <a:lstStyle/>
                    <a:p>
                      <a:pPr algn="ctr"/>
                      <a:r>
                        <a:rPr sz="1000"/>
                        <a:t>Resistance</a:t>
                      </a:r>
                    </a:p>
                  </a:txBody>
                  <a:tcPr anchor="ctr"/>
                </a:tc>
                <a:tc>
                  <a:txBody>
                    <a:bodyPr/>
                    <a:lstStyle/>
                    <a:p>
                      <a:pPr algn="ctr"/>
                      <a:r>
                        <a:rPr sz="1000"/>
                        <a:t>Regime</a:t>
                      </a:r>
                    </a:p>
                  </a:txBody>
                  <a:tcPr anchor="ctr"/>
                </a:tc>
                <a:tc>
                  <a:txBody>
                    <a:bodyPr/>
                    <a:lstStyle/>
                    <a:p>
                      <a:pPr algn="ctr"/>
                      <a:r>
                        <a:rPr sz="1000"/>
                        <a:t>TPM (mg/puff) and Standard Deviation</a:t>
                      </a:r>
                    </a:p>
                  </a:txBody>
                  <a:tcPr anchor="ctr"/>
                </a:tc>
                <a:tc>
                  <a:txBody>
                    <a:bodyPr/>
                    <a:lstStyle/>
                    <a:p>
                      <a:pPr algn="ctr"/>
                      <a:r>
                        <a:rPr lang="en-US" sz="1000" dirty="0"/>
                        <a:t>Draw Pressure (kPa)</a:t>
                      </a:r>
                      <a:endParaRPr sz="1000" dirty="0"/>
                    </a:p>
                  </a:txBody>
                  <a:tcPr anchor="ctr"/>
                </a:tc>
                <a:tc>
                  <a:txBody>
                    <a:bodyPr/>
                    <a:lstStyle/>
                    <a:p>
                      <a:pPr algn="ctr"/>
                      <a:r>
                        <a:rPr sz="1000" dirty="0"/>
                        <a:t>SDR Result</a:t>
                      </a:r>
                    </a:p>
                  </a:txBody>
                  <a:tcPr anchor="ctr"/>
                </a:tc>
                <a:extLst>
                  <a:ext uri="{0D108BD9-81ED-4DB2-BD59-A6C34878D82A}">
                    <a16:rowId xmlns:a16="http://schemas.microsoft.com/office/drawing/2014/main" val="10000"/>
                  </a:ext>
                </a:extLst>
              </a:tr>
              <a:tr h="982980">
                <a:tc>
                  <a:txBody>
                    <a:bodyPr/>
                    <a:lstStyle/>
                    <a:p>
                      <a:pPr algn="ctr"/>
                      <a:r>
                        <a:rPr sz="1000" dirty="0"/>
                        <a:t>Gembox BHHT-1 800kcp D8</a:t>
                      </a:r>
                    </a:p>
                  </a:txBody>
                  <a:tcPr anchor="ctr"/>
                </a:tc>
                <a:tc>
                  <a:txBody>
                    <a:bodyPr/>
                    <a:lstStyle/>
                    <a:p>
                      <a:pPr algn="ctr"/>
                      <a:r>
                        <a:rPr sz="1000" dirty="0"/>
                        <a:t>4.45W</a:t>
                      </a:r>
                    </a:p>
                  </a:txBody>
                  <a:tcPr anchor="ctr"/>
                </a:tc>
                <a:tc>
                  <a:txBody>
                    <a:bodyPr/>
                    <a:lstStyle/>
                    <a:p>
                      <a:pPr algn="ctr"/>
                      <a:r>
                        <a:rPr sz="1000"/>
                        <a:t>2.3</a:t>
                      </a:r>
                    </a:p>
                  </a:txBody>
                  <a:tcPr anchor="ctr"/>
                </a:tc>
                <a:tc>
                  <a:txBody>
                    <a:bodyPr/>
                    <a:lstStyle/>
                    <a:p>
                      <a:pPr algn="ctr"/>
                      <a:r>
                        <a:rPr sz="1000"/>
                        <a:t>60mL/3s/30s</a:t>
                      </a:r>
                    </a:p>
                  </a:txBody>
                  <a:tcPr anchor="ctr"/>
                </a:tc>
                <a:tc>
                  <a:txBody>
                    <a:bodyPr/>
                    <a:lstStyle/>
                    <a:p>
                      <a:pPr algn="ctr"/>
                      <a:r>
                        <a:rPr sz="1000"/>
                        <a:t>2.65, 0.19</a:t>
                      </a:r>
                    </a:p>
                  </a:txBody>
                  <a:tcPr anchor="ctr"/>
                </a:tc>
                <a:tc>
                  <a:txBody>
                    <a:bodyPr/>
                    <a:lstStyle/>
                    <a:p>
                      <a:pPr algn="ctr"/>
                      <a:r>
                        <a:rPr lang="en-US" sz="1000" dirty="0"/>
                        <a:t>0.498</a:t>
                      </a:r>
                      <a:endParaRPr sz="1000" dirty="0"/>
                    </a:p>
                  </a:txBody>
                  <a:tcPr anchor="ctr"/>
                </a:tc>
                <a:tc>
                  <a:txBody>
                    <a:bodyPr/>
                    <a:lstStyle/>
                    <a:p>
                      <a:pPr algn="ctr"/>
                      <a:r>
                        <a:rPr lang="en-US" sz="1000" dirty="0"/>
                        <a:t>Pass</a:t>
                      </a:r>
                      <a:endParaRPr sz="1000" dirty="0"/>
                    </a:p>
                  </a:txBody>
                  <a:tcPr anchor="ctr"/>
                </a:tc>
                <a:extLst>
                  <a:ext uri="{0D108BD9-81ED-4DB2-BD59-A6C34878D82A}">
                    <a16:rowId xmlns:a16="http://schemas.microsoft.com/office/drawing/2014/main" val="10001"/>
                  </a:ext>
                </a:extLst>
              </a:tr>
              <a:tr h="982980">
                <a:tc>
                  <a:txBody>
                    <a:bodyPr/>
                    <a:lstStyle/>
                    <a:p>
                      <a:pPr algn="ctr"/>
                      <a:r>
                        <a:rPr sz="1000" dirty="0"/>
                        <a:t>Gembox BHHT-2 800kcp D8</a:t>
                      </a:r>
                    </a:p>
                  </a:txBody>
                  <a:tcPr anchor="ctr"/>
                </a:tc>
                <a:tc>
                  <a:txBody>
                    <a:bodyPr/>
                    <a:lstStyle/>
                    <a:p>
                      <a:pPr algn="ctr"/>
                      <a:r>
                        <a:rPr sz="1000" dirty="0"/>
                        <a:t>4.45W</a:t>
                      </a:r>
                    </a:p>
                  </a:txBody>
                  <a:tcPr anchor="ctr"/>
                </a:tc>
                <a:tc>
                  <a:txBody>
                    <a:bodyPr/>
                    <a:lstStyle/>
                    <a:p>
                      <a:pPr algn="ctr"/>
                      <a:r>
                        <a:rPr sz="1000"/>
                        <a:t>2.3</a:t>
                      </a:r>
                    </a:p>
                  </a:txBody>
                  <a:tcPr anchor="ctr"/>
                </a:tc>
                <a:tc>
                  <a:txBody>
                    <a:bodyPr/>
                    <a:lstStyle/>
                    <a:p>
                      <a:pPr algn="ctr"/>
                      <a:r>
                        <a:rPr sz="1000"/>
                        <a:t>60mL/3s/30s</a:t>
                      </a:r>
                    </a:p>
                  </a:txBody>
                  <a:tcPr anchor="ctr"/>
                </a:tc>
                <a:tc>
                  <a:txBody>
                    <a:bodyPr/>
                    <a:lstStyle/>
                    <a:p>
                      <a:pPr algn="ctr"/>
                      <a:r>
                        <a:rPr sz="1000"/>
                        <a:t>2.29, 0.24</a:t>
                      </a:r>
                    </a:p>
                  </a:txBody>
                  <a:tcPr anchor="ctr"/>
                </a:tc>
                <a:tc>
                  <a:txBody>
                    <a:bodyPr/>
                    <a:lstStyle/>
                    <a:p>
                      <a:pPr algn="ctr"/>
                      <a:r>
                        <a:rPr lang="en-US" sz="1000" dirty="0"/>
                        <a:t>0.531</a:t>
                      </a:r>
                      <a:endParaRPr sz="1000" dirty="0"/>
                    </a:p>
                  </a:txBody>
                  <a:tcPr anchor="ctr"/>
                </a:tc>
                <a:tc>
                  <a:txBody>
                    <a:bodyPr/>
                    <a:lstStyle/>
                    <a:p>
                      <a:pPr algn="ctr"/>
                      <a:r>
                        <a:rPr lang="en-US" sz="1000" dirty="0"/>
                        <a:t>Pass</a:t>
                      </a:r>
                      <a:endParaRPr sz="1000" dirty="0"/>
                    </a:p>
                  </a:txBody>
                  <a:tcPr anchor="ctr"/>
                </a:tc>
                <a:extLst>
                  <a:ext uri="{0D108BD9-81ED-4DB2-BD59-A6C34878D82A}">
                    <a16:rowId xmlns:a16="http://schemas.microsoft.com/office/drawing/2014/main" val="10002"/>
                  </a:ext>
                </a:extLst>
              </a:tr>
              <a:tr h="982980">
                <a:tc>
                  <a:txBody>
                    <a:bodyPr/>
                    <a:lstStyle/>
                    <a:p>
                      <a:pPr algn="ctr"/>
                      <a:r>
                        <a:rPr sz="1000" dirty="0"/>
                        <a:t>Gembox BHHT-3 800kcp D8</a:t>
                      </a:r>
                    </a:p>
                  </a:txBody>
                  <a:tcPr anchor="ctr"/>
                </a:tc>
                <a:tc>
                  <a:txBody>
                    <a:bodyPr/>
                    <a:lstStyle/>
                    <a:p>
                      <a:pPr algn="ctr"/>
                      <a:r>
                        <a:rPr sz="1000" dirty="0"/>
                        <a:t>4.45W</a:t>
                      </a:r>
                    </a:p>
                  </a:txBody>
                  <a:tcPr anchor="ctr"/>
                </a:tc>
                <a:tc>
                  <a:txBody>
                    <a:bodyPr/>
                    <a:lstStyle/>
                    <a:p>
                      <a:pPr algn="ctr"/>
                      <a:r>
                        <a:rPr sz="1000"/>
                        <a:t>2.3</a:t>
                      </a:r>
                    </a:p>
                  </a:txBody>
                  <a:tcPr anchor="ctr"/>
                </a:tc>
                <a:tc>
                  <a:txBody>
                    <a:bodyPr/>
                    <a:lstStyle/>
                    <a:p>
                      <a:pPr algn="ctr"/>
                      <a:r>
                        <a:rPr sz="1000"/>
                        <a:t>60mL/3s/30s</a:t>
                      </a:r>
                    </a:p>
                  </a:txBody>
                  <a:tcPr anchor="ctr"/>
                </a:tc>
                <a:tc>
                  <a:txBody>
                    <a:bodyPr/>
                    <a:lstStyle/>
                    <a:p>
                      <a:pPr algn="ctr"/>
                      <a:r>
                        <a:rPr sz="1000"/>
                        <a:t>2.49, 0.12</a:t>
                      </a:r>
                    </a:p>
                  </a:txBody>
                  <a:tcPr anchor="ctr"/>
                </a:tc>
                <a:tc>
                  <a:txBody>
                    <a:bodyPr/>
                    <a:lstStyle/>
                    <a:p>
                      <a:pPr algn="ctr"/>
                      <a:r>
                        <a:rPr lang="en-US" sz="1000" dirty="0"/>
                        <a:t>0.608</a:t>
                      </a:r>
                      <a:endParaRPr sz="1000" dirty="0"/>
                    </a:p>
                  </a:txBody>
                  <a:tcPr anchor="ctr"/>
                </a:tc>
                <a:tc>
                  <a:txBody>
                    <a:bodyPr/>
                    <a:lstStyle/>
                    <a:p>
                      <a:pPr algn="ctr"/>
                      <a:r>
                        <a:rPr lang="en-US" sz="1000" dirty="0"/>
                        <a:t>Pass</a:t>
                      </a:r>
                      <a:endParaRPr sz="1000" dirty="0"/>
                    </a:p>
                  </a:txBody>
                  <a:tcPr anchor="ctr"/>
                </a:tc>
                <a:extLst>
                  <a:ext uri="{0D108BD9-81ED-4DB2-BD59-A6C34878D82A}">
                    <a16:rowId xmlns:a16="http://schemas.microsoft.com/office/drawing/2014/main" val="10003"/>
                  </a:ext>
                </a:extLst>
              </a:tr>
              <a:tr h="982980">
                <a:tc>
                  <a:txBody>
                    <a:bodyPr/>
                    <a:lstStyle/>
                    <a:p>
                      <a:pPr algn="ctr"/>
                      <a:r>
                        <a:rPr sz="1000" dirty="0"/>
                        <a:t>Gembox BHHT-4 800kcp D8</a:t>
                      </a:r>
                    </a:p>
                  </a:txBody>
                  <a:tcPr anchor="ctr"/>
                </a:tc>
                <a:tc>
                  <a:txBody>
                    <a:bodyPr/>
                    <a:lstStyle/>
                    <a:p>
                      <a:pPr algn="ctr"/>
                      <a:r>
                        <a:rPr sz="1000" dirty="0"/>
                        <a:t>4.45W</a:t>
                      </a:r>
                    </a:p>
                  </a:txBody>
                  <a:tcPr anchor="ctr"/>
                </a:tc>
                <a:tc>
                  <a:txBody>
                    <a:bodyPr/>
                    <a:lstStyle/>
                    <a:p>
                      <a:pPr algn="ctr"/>
                      <a:r>
                        <a:rPr sz="1000"/>
                        <a:t>2.3</a:t>
                      </a:r>
                    </a:p>
                  </a:txBody>
                  <a:tcPr anchor="ctr"/>
                </a:tc>
                <a:tc>
                  <a:txBody>
                    <a:bodyPr/>
                    <a:lstStyle/>
                    <a:p>
                      <a:pPr algn="ctr"/>
                      <a:r>
                        <a:rPr sz="1000"/>
                        <a:t>60mL/3s/30s</a:t>
                      </a:r>
                    </a:p>
                  </a:txBody>
                  <a:tcPr anchor="ctr"/>
                </a:tc>
                <a:tc>
                  <a:txBody>
                    <a:bodyPr/>
                    <a:lstStyle/>
                    <a:p>
                      <a:pPr algn="ctr"/>
                      <a:r>
                        <a:rPr sz="1000"/>
                        <a:t>1.73, 0.24</a:t>
                      </a:r>
                    </a:p>
                  </a:txBody>
                  <a:tcPr anchor="ctr"/>
                </a:tc>
                <a:tc>
                  <a:txBody>
                    <a:bodyPr/>
                    <a:lstStyle/>
                    <a:p>
                      <a:pPr algn="ctr"/>
                      <a:r>
                        <a:rPr lang="en-US" sz="1000" dirty="0"/>
                        <a:t>0.802</a:t>
                      </a:r>
                      <a:endParaRPr sz="1000" dirty="0"/>
                    </a:p>
                  </a:txBody>
                  <a:tcPr anchor="ctr"/>
                </a:tc>
                <a:tc>
                  <a:txBody>
                    <a:bodyPr/>
                    <a:lstStyle/>
                    <a:p>
                      <a:pPr algn="ctr"/>
                      <a:r>
                        <a:rPr lang="en-US" sz="1000" dirty="0"/>
                        <a:t>Pass</a:t>
                      </a:r>
                      <a:endParaRPr sz="1000" dirty="0"/>
                    </a:p>
                  </a:txBody>
                  <a:tcPr anchor="ctr"/>
                </a:tc>
                <a:extLst>
                  <a:ext uri="{0D108BD9-81ED-4DB2-BD59-A6C34878D82A}">
                    <a16:rowId xmlns:a16="http://schemas.microsoft.com/office/drawing/2014/main" val="10004"/>
                  </a:ext>
                </a:extLst>
              </a:tr>
              <a:tr h="982980">
                <a:tc>
                  <a:txBody>
                    <a:bodyPr/>
                    <a:lstStyle/>
                    <a:p>
                      <a:pPr algn="ctr"/>
                      <a:r>
                        <a:rPr sz="1000" dirty="0"/>
                        <a:t>Gembox BHHT-5 800kcp D8</a:t>
                      </a:r>
                    </a:p>
                  </a:txBody>
                  <a:tcPr anchor="ctr"/>
                </a:tc>
                <a:tc>
                  <a:txBody>
                    <a:bodyPr/>
                    <a:lstStyle/>
                    <a:p>
                      <a:pPr algn="ctr"/>
                      <a:r>
                        <a:rPr sz="1000" dirty="0"/>
                        <a:t>4.45W</a:t>
                      </a:r>
                    </a:p>
                  </a:txBody>
                  <a:tcPr anchor="ctr"/>
                </a:tc>
                <a:tc>
                  <a:txBody>
                    <a:bodyPr/>
                    <a:lstStyle/>
                    <a:p>
                      <a:pPr algn="ctr"/>
                      <a:r>
                        <a:rPr sz="1000"/>
                        <a:t>2.3</a:t>
                      </a:r>
                    </a:p>
                  </a:txBody>
                  <a:tcPr anchor="ctr"/>
                </a:tc>
                <a:tc>
                  <a:txBody>
                    <a:bodyPr/>
                    <a:lstStyle/>
                    <a:p>
                      <a:pPr algn="ctr"/>
                      <a:r>
                        <a:rPr sz="1000"/>
                        <a:t>60mL/3s/30s</a:t>
                      </a:r>
                    </a:p>
                  </a:txBody>
                  <a:tcPr anchor="ctr"/>
                </a:tc>
                <a:tc>
                  <a:txBody>
                    <a:bodyPr/>
                    <a:lstStyle/>
                    <a:p>
                      <a:pPr algn="ctr"/>
                      <a:r>
                        <a:rPr sz="1000"/>
                        <a:t>1.98, 0.17</a:t>
                      </a:r>
                    </a:p>
                  </a:txBody>
                  <a:tcPr anchor="ctr"/>
                </a:tc>
                <a:tc>
                  <a:txBody>
                    <a:bodyPr/>
                    <a:lstStyle/>
                    <a:p>
                      <a:pPr algn="ctr"/>
                      <a:r>
                        <a:rPr lang="en-US" sz="1000" dirty="0"/>
                        <a:t>0.628</a:t>
                      </a:r>
                      <a:endParaRPr sz="1000" dirty="0"/>
                    </a:p>
                  </a:txBody>
                  <a:tcPr anchor="ctr"/>
                </a:tc>
                <a:tc>
                  <a:txBody>
                    <a:bodyPr/>
                    <a:lstStyle/>
                    <a:p>
                      <a:pPr algn="ctr"/>
                      <a:r>
                        <a:rPr lang="en-US" sz="1000" dirty="0"/>
                        <a:t>Pass</a:t>
                      </a:r>
                      <a:endParaRPr sz="1000" dirty="0"/>
                    </a:p>
                  </a:txBody>
                  <a:tcPr anchor="ctr"/>
                </a:tc>
                <a:extLst>
                  <a:ext uri="{0D108BD9-81ED-4DB2-BD59-A6C34878D82A}">
                    <a16:rowId xmlns:a16="http://schemas.microsoft.com/office/drawing/2014/main" val="10005"/>
                  </a:ext>
                </a:extLst>
              </a:tr>
            </a:tbl>
          </a:graphicData>
        </a:graphic>
      </p:graphicFrame>
      <p:pic>
        <p:nvPicPr>
          <p:cNvPr id="5" name="Picture 4" descr="TPM_overlay.png">
            <a:extLst>
              <a:ext uri="{FF2B5EF4-FFF2-40B4-BE49-F238E27FC236}">
                <a16:creationId xmlns:a16="http://schemas.microsoft.com/office/drawing/2014/main" id="{B99D0FBE-3685-6EDC-9568-89D55EC2086E}"/>
              </a:ext>
            </a:extLst>
          </p:cNvPr>
          <p:cNvPicPr>
            <a:picLocks noChangeAspect="1"/>
          </p:cNvPicPr>
          <p:nvPr/>
        </p:nvPicPr>
        <p:blipFill>
          <a:blip r:embed="rId5"/>
          <a:stretch>
            <a:fillRect/>
          </a:stretch>
        </p:blipFill>
        <p:spPr>
          <a:xfrm>
            <a:off x="6336792" y="685800"/>
            <a:ext cx="2980944" cy="2980944"/>
          </a:xfrm>
          <a:prstGeom prst="rect">
            <a:avLst/>
          </a:prstGeom>
        </p:spPr>
      </p:pic>
      <p:pic>
        <p:nvPicPr>
          <p:cNvPr id="6" name="Picture 5" descr="TPM_bar.png">
            <a:extLst>
              <a:ext uri="{FF2B5EF4-FFF2-40B4-BE49-F238E27FC236}">
                <a16:creationId xmlns:a16="http://schemas.microsoft.com/office/drawing/2014/main" id="{49597473-8895-97FF-3DAF-39F347A9F52F}"/>
              </a:ext>
            </a:extLst>
          </p:cNvPr>
          <p:cNvPicPr>
            <a:picLocks noChangeAspect="1"/>
          </p:cNvPicPr>
          <p:nvPr/>
        </p:nvPicPr>
        <p:blipFill>
          <a:blip r:embed="rId6"/>
          <a:stretch>
            <a:fillRect/>
          </a:stretch>
        </p:blipFill>
        <p:spPr>
          <a:xfrm>
            <a:off x="9125712" y="667512"/>
            <a:ext cx="2980944" cy="2980944"/>
          </a:xfrm>
          <a:prstGeom prst="rect">
            <a:avLst/>
          </a:prstGeom>
        </p:spPr>
      </p:pic>
      <p:pic>
        <p:nvPicPr>
          <p:cNvPr id="7" name="Picture 6" descr="TPM_density.png">
            <a:extLst>
              <a:ext uri="{FF2B5EF4-FFF2-40B4-BE49-F238E27FC236}">
                <a16:creationId xmlns:a16="http://schemas.microsoft.com/office/drawing/2014/main" id="{D801D8BF-11DA-77F4-1B68-4C187E263D43}"/>
              </a:ext>
            </a:extLst>
          </p:cNvPr>
          <p:cNvPicPr>
            <a:picLocks noChangeAspect="1"/>
          </p:cNvPicPr>
          <p:nvPr/>
        </p:nvPicPr>
        <p:blipFill>
          <a:blip r:embed="rId7"/>
          <a:stretch>
            <a:fillRect/>
          </a:stretch>
        </p:blipFill>
        <p:spPr>
          <a:xfrm>
            <a:off x="9125712" y="3648456"/>
            <a:ext cx="2980944" cy="2980944"/>
          </a:xfrm>
          <a:prstGeom prst="rect">
            <a:avLst/>
          </a:prstGeom>
        </p:spPr>
      </p:pic>
      <p:pic>
        <p:nvPicPr>
          <p:cNvPr id="10" name="Picture 9" descr="A close-up of a car part&#10;&#10;Description automatically generated">
            <a:extLst>
              <a:ext uri="{FF2B5EF4-FFF2-40B4-BE49-F238E27FC236}">
                <a16:creationId xmlns:a16="http://schemas.microsoft.com/office/drawing/2014/main" id="{843831C2-6086-A060-22B2-8ABC80613F8A}"/>
              </a:ext>
            </a:extLst>
          </p:cNvPr>
          <p:cNvPicPr>
            <a:picLocks noChangeAspect="1"/>
          </p:cNvPicPr>
          <p:nvPr/>
        </p:nvPicPr>
        <p:blipFill>
          <a:blip r:embed="rId8"/>
          <a:srcRect t="11974" r="13787" b="-1147"/>
          <a:stretch/>
        </p:blipFill>
        <p:spPr>
          <a:xfrm>
            <a:off x="6336793" y="5241642"/>
            <a:ext cx="2814904" cy="1369470"/>
          </a:xfrm>
          <a:prstGeom prst="rect">
            <a:avLst/>
          </a:prstGeom>
        </p:spPr>
      </p:pic>
      <p:pic>
        <p:nvPicPr>
          <p:cNvPr id="12" name="Picture 11" descr="A close-up of a device&#10;&#10;Description automatically generated">
            <a:extLst>
              <a:ext uri="{FF2B5EF4-FFF2-40B4-BE49-F238E27FC236}">
                <a16:creationId xmlns:a16="http://schemas.microsoft.com/office/drawing/2014/main" id="{BE12F00A-C70D-9F4B-8FEF-BB15ABED1CDF}"/>
              </a:ext>
            </a:extLst>
          </p:cNvPr>
          <p:cNvPicPr>
            <a:picLocks noChangeAspect="1"/>
          </p:cNvPicPr>
          <p:nvPr/>
        </p:nvPicPr>
        <p:blipFill>
          <a:blip r:embed="rId9"/>
          <a:srcRect t="14419" b="18238"/>
          <a:stretch/>
        </p:blipFill>
        <p:spPr>
          <a:xfrm>
            <a:off x="6336793" y="3844371"/>
            <a:ext cx="2788919" cy="1408588"/>
          </a:xfrm>
          <a:prstGeom prst="rect">
            <a:avLst/>
          </a:prstGeom>
        </p:spPr>
      </p:pic>
      <p:cxnSp>
        <p:nvCxnSpPr>
          <p:cNvPr id="14" name="Straight Arrow Connector 13">
            <a:extLst>
              <a:ext uri="{FF2B5EF4-FFF2-40B4-BE49-F238E27FC236}">
                <a16:creationId xmlns:a16="http://schemas.microsoft.com/office/drawing/2014/main" id="{341C2C90-89D0-AA6E-2914-C054931D3D4B}"/>
              </a:ext>
            </a:extLst>
          </p:cNvPr>
          <p:cNvCxnSpPr/>
          <p:nvPr/>
        </p:nvCxnSpPr>
        <p:spPr>
          <a:xfrm flipH="1">
            <a:off x="6323800" y="6044184"/>
            <a:ext cx="475352" cy="101323"/>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C5E2D5B8-6B1C-2C8B-3142-7760ACB39F3C}"/>
              </a:ext>
            </a:extLst>
          </p:cNvPr>
          <p:cNvCxnSpPr>
            <a:cxnSpLocks/>
          </p:cNvCxnSpPr>
          <p:nvPr/>
        </p:nvCxnSpPr>
        <p:spPr>
          <a:xfrm flipH="1">
            <a:off x="6323800" y="4929584"/>
            <a:ext cx="737903" cy="1129636"/>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 name="Oval 7">
            <a:extLst>
              <a:ext uri="{FF2B5EF4-FFF2-40B4-BE49-F238E27FC236}">
                <a16:creationId xmlns:a16="http://schemas.microsoft.com/office/drawing/2014/main" id="{808E385E-1348-9C07-0FF0-E6EBE2931FA1}"/>
              </a:ext>
            </a:extLst>
          </p:cNvPr>
          <p:cNvSpPr/>
          <p:nvPr/>
        </p:nvSpPr>
        <p:spPr>
          <a:xfrm>
            <a:off x="8184333" y="4010685"/>
            <a:ext cx="1133403" cy="1129636"/>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8414AC5D-71B2-3FE1-DE85-EAD3AB807CC7}"/>
              </a:ext>
            </a:extLst>
          </p:cNvPr>
          <p:cNvSpPr txBox="1"/>
          <p:nvPr/>
        </p:nvSpPr>
        <p:spPr>
          <a:xfrm>
            <a:off x="6350327" y="3882665"/>
            <a:ext cx="1358576" cy="646331"/>
          </a:xfrm>
          <a:prstGeom prst="rect">
            <a:avLst/>
          </a:prstGeom>
          <a:noFill/>
        </p:spPr>
        <p:txBody>
          <a:bodyPr wrap="square" rtlCol="0">
            <a:normAutofit/>
          </a:bodyPr>
          <a:lstStyle/>
          <a:p>
            <a:r>
              <a:rPr lang="zh-CN" altLang="en-US" sz="900" dirty="0">
                <a:solidFill>
                  <a:schemeClr val="bg1"/>
                </a:solidFill>
              </a:rPr>
              <a:t>Due to the slope here, oil accumulates above the inlet - remove it!</a:t>
            </a:r>
            <a:r>
              <a:rPr lang="en-US" altLang="zh-CN" sz="1200" dirty="0">
                <a:solidFill>
                  <a:schemeClr val="bg1"/>
                </a:solidFill>
              </a:rPr>
              <a:t/>
            </a:r>
            <a:r>
              <a:rPr lang="zh-CN" altLang="en-US" sz="1200" dirty="0">
                <a:solidFill>
                  <a:schemeClr val="bg1"/>
                </a:solidFill>
              </a:rPr>
              <a:t/>
            </a:r>
            <a:endParaRPr lang="en-US" sz="1200" dirty="0">
              <a:solidFill>
                <a:schemeClr val="bg1"/>
              </a:solidFill>
            </a:endParaRPr>
          </a:p>
        </p:txBody>
      </p:sp>
      <p:cxnSp>
        <p:nvCxnSpPr>
          <p:cNvPr id="16" name="Straight Arrow Connector 15">
            <a:extLst>
              <a:ext uri="{FF2B5EF4-FFF2-40B4-BE49-F238E27FC236}">
                <a16:creationId xmlns:a16="http://schemas.microsoft.com/office/drawing/2014/main" id="{105F6AF2-57B0-8C5C-CE3F-976BEE8CEAAC}"/>
              </a:ext>
            </a:extLst>
          </p:cNvPr>
          <p:cNvCxnSpPr/>
          <p:nvPr/>
        </p:nvCxnSpPr>
        <p:spPr>
          <a:xfrm>
            <a:off x="7744245" y="3971479"/>
            <a:ext cx="643565" cy="3920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535185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857AD3-1299-06C7-352B-40E91B75D384}"/>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8E9AC1BE-16D6-F9D0-63AC-1895CC12AB64}"/>
              </a:ext>
            </a:extLst>
          </p:cNvPr>
          <p:cNvPicPr>
            <a:picLocks noChangeAspect="1"/>
          </p:cNvPicPr>
          <p:nvPr/>
        </p:nvPicPr>
        <p:blipFill>
          <a:blip r:embed="rId3" cstate="screen">
            <a:alphaModFix amt="60000"/>
            <a:extLst>
              <a:ext uri="{28A0092B-C50C-407E-A947-70E740481C1C}">
                <a14:useLocalDpi xmlns:a14="http://schemas.microsoft.com/office/drawing/2010/main"/>
              </a:ext>
            </a:extLst>
          </a:blip>
          <a:stretch>
            <a:fillRect/>
          </a:stretch>
        </p:blipFill>
        <p:spPr>
          <a:xfrm>
            <a:off x="-361" y="13947"/>
            <a:ext cx="12192361" cy="6857797"/>
          </a:xfrm>
          <a:prstGeom prst="rect">
            <a:avLst/>
          </a:prstGeom>
        </p:spPr>
      </p:pic>
      <p:pic>
        <p:nvPicPr>
          <p:cNvPr id="4" name="Picture 3">
            <a:extLst>
              <a:ext uri="{FF2B5EF4-FFF2-40B4-BE49-F238E27FC236}">
                <a16:creationId xmlns:a16="http://schemas.microsoft.com/office/drawing/2014/main" id="{A64815EF-995C-350E-1BB0-0C773FB4DC24}"/>
              </a:ext>
            </a:extLst>
          </p:cNvPr>
          <p:cNvPicPr>
            <a:picLocks noChangeAspect="1"/>
          </p:cNvPicPr>
          <p:nvPr/>
        </p:nvPicPr>
        <p:blipFill>
          <a:blip r:embed="rId4"/>
          <a:stretch>
            <a:fillRect/>
          </a:stretch>
        </p:blipFill>
        <p:spPr>
          <a:xfrm>
            <a:off x="10201998" y="91033"/>
            <a:ext cx="1436172" cy="485446"/>
          </a:xfrm>
          <a:prstGeom prst="rect">
            <a:avLst/>
          </a:prstGeom>
        </p:spPr>
      </p:pic>
      <p:sp>
        <p:nvSpPr>
          <p:cNvPr id="2" name="矩形 4">
            <a:extLst>
              <a:ext uri="{FF2B5EF4-FFF2-40B4-BE49-F238E27FC236}">
                <a16:creationId xmlns:a16="http://schemas.microsoft.com/office/drawing/2014/main" id="{4CA66DF1-1E9E-A30B-9D4A-BB0C06C628FD}"/>
              </a:ext>
            </a:extLst>
          </p:cNvPr>
          <p:cNvSpPr/>
          <p:nvPr/>
        </p:nvSpPr>
        <p:spPr>
          <a:xfrm>
            <a:off x="640080" y="146304"/>
            <a:ext cx="5418791" cy="523220"/>
          </a:xfrm>
          <a:prstGeom prst="rect">
            <a:avLst/>
          </a:prstGeom>
        </p:spPr>
        <p:txBody>
          <a:bodyPr wrap="none">
            <a:spAutoFit/>
          </a:bodyPr>
          <a:lstStyle/>
          <a:p>
            <a:pPr lvl="0">
              <a:defRPr/>
            </a:pPr>
            <a:r>
              <a:rPr lang="en-US" altLang="zh-CN" sz="2800" dirty="0">
                <a:latin typeface="微软雅黑" panose="020B0503020204020204" pitchFamily="34" charset="-122"/>
                <a:ea typeface="微软雅黑" panose="020B0503020204020204" pitchFamily="34" charset="-122"/>
                <a:cs typeface="+mn-ea"/>
                <a:sym typeface="+mn-lt"/>
              </a:rPr>
              <a:t>Gembox 1-22 Intense </a:t>
            </a:r>
            <a:r>
              <a:rPr lang="zh-CN" altLang="en-US" sz="2800" dirty="0">
                <a:latin typeface="微软雅黑" panose="020B0503020204020204" pitchFamily="34" charset="-122"/>
                <a:ea typeface="微软雅黑" panose="020B0503020204020204" pitchFamily="34" charset="-122"/>
                <a:cs typeface="+mn-ea"/>
                <a:sym typeface="+mn-lt"/>
              </a:rPr>
              <a:t>测试结果</a:t>
            </a:r>
            <a:endParaRPr kumimoji="0" lang="zh-CN" altLang="en-US" sz="2800" i="0" u="none" strike="noStrike" kern="1200" cap="none" spc="0" normalizeH="0" baseline="0" noProof="0" dirty="0">
              <a:ln>
                <a:noFill/>
              </a:ln>
              <a:effectLst/>
              <a:uLnTx/>
              <a:uFillTx/>
              <a:latin typeface="Calibri" panose="020F0502020204030204"/>
              <a:ea typeface="宋体" panose="02010600030101010101" pitchFamily="2" charset="-122"/>
              <a:cs typeface="+mn-ea"/>
              <a:sym typeface="+mn-lt"/>
            </a:endParaRPr>
          </a:p>
        </p:txBody>
      </p:sp>
      <p:graphicFrame>
        <p:nvGraphicFramePr>
          <p:cNvPr id="3" name="Table 2">
            <a:extLst>
              <a:ext uri="{FF2B5EF4-FFF2-40B4-BE49-F238E27FC236}">
                <a16:creationId xmlns:a16="http://schemas.microsoft.com/office/drawing/2014/main" id="{5894CC77-3161-D7AB-545C-4C5EECBA18DF}"/>
              </a:ext>
            </a:extLst>
          </p:cNvPr>
          <p:cNvGraphicFramePr>
            <a:graphicFrameLocks noGrp="1"/>
          </p:cNvGraphicFramePr>
          <p:nvPr/>
        </p:nvGraphicFramePr>
        <p:xfrm>
          <a:off x="347472" y="813816"/>
          <a:ext cx="5748526" cy="5897880"/>
        </p:xfrm>
        <a:graphic>
          <a:graphicData uri="http://schemas.openxmlformats.org/drawingml/2006/table">
            <a:tbl>
              <a:tblPr firstRow="1" bandRow="1">
                <a:tableStyleId>{5C22544A-7EE6-4342-B048-85BDC9FD1C3A}</a:tableStyleId>
              </a:tblPr>
              <a:tblGrid>
                <a:gridCol w="821218">
                  <a:extLst>
                    <a:ext uri="{9D8B030D-6E8A-4147-A177-3AD203B41FA5}">
                      <a16:colId xmlns:a16="http://schemas.microsoft.com/office/drawing/2014/main" val="20000"/>
                    </a:ext>
                  </a:extLst>
                </a:gridCol>
                <a:gridCol w="821218">
                  <a:extLst>
                    <a:ext uri="{9D8B030D-6E8A-4147-A177-3AD203B41FA5}">
                      <a16:colId xmlns:a16="http://schemas.microsoft.com/office/drawing/2014/main" val="20001"/>
                    </a:ext>
                  </a:extLst>
                </a:gridCol>
                <a:gridCol w="821218">
                  <a:extLst>
                    <a:ext uri="{9D8B030D-6E8A-4147-A177-3AD203B41FA5}">
                      <a16:colId xmlns:a16="http://schemas.microsoft.com/office/drawing/2014/main" val="20002"/>
                    </a:ext>
                  </a:extLst>
                </a:gridCol>
                <a:gridCol w="821218">
                  <a:extLst>
                    <a:ext uri="{9D8B030D-6E8A-4147-A177-3AD203B41FA5}">
                      <a16:colId xmlns:a16="http://schemas.microsoft.com/office/drawing/2014/main" val="20003"/>
                    </a:ext>
                  </a:extLst>
                </a:gridCol>
                <a:gridCol w="821218">
                  <a:extLst>
                    <a:ext uri="{9D8B030D-6E8A-4147-A177-3AD203B41FA5}">
                      <a16:colId xmlns:a16="http://schemas.microsoft.com/office/drawing/2014/main" val="20004"/>
                    </a:ext>
                  </a:extLst>
                </a:gridCol>
                <a:gridCol w="821218">
                  <a:extLst>
                    <a:ext uri="{9D8B030D-6E8A-4147-A177-3AD203B41FA5}">
                      <a16:colId xmlns:a16="http://schemas.microsoft.com/office/drawing/2014/main" val="20006"/>
                    </a:ext>
                  </a:extLst>
                </a:gridCol>
                <a:gridCol w="821218">
                  <a:extLst>
                    <a:ext uri="{9D8B030D-6E8A-4147-A177-3AD203B41FA5}">
                      <a16:colId xmlns:a16="http://schemas.microsoft.com/office/drawing/2014/main" val="20007"/>
                    </a:ext>
                  </a:extLst>
                </a:gridCol>
              </a:tblGrid>
              <a:tr h="982980">
                <a:tc>
                  <a:txBody>
                    <a:bodyPr/>
                    <a:lstStyle/>
                    <a:p>
                      <a:pPr algn="ctr"/>
                      <a:r>
                        <a:rPr sz="1000"/>
                        <a:t>Design and Oil</a:t>
                      </a:r>
                    </a:p>
                  </a:txBody>
                  <a:tcPr anchor="ctr"/>
                </a:tc>
                <a:tc>
                  <a:txBody>
                    <a:bodyPr/>
                    <a:lstStyle/>
                    <a:p>
                      <a:pPr algn="ctr"/>
                      <a:r>
                        <a:rPr sz="1000"/>
                        <a:t>Power</a:t>
                      </a:r>
                    </a:p>
                  </a:txBody>
                  <a:tcPr anchor="ctr"/>
                </a:tc>
                <a:tc>
                  <a:txBody>
                    <a:bodyPr/>
                    <a:lstStyle/>
                    <a:p>
                      <a:pPr algn="ctr"/>
                      <a:r>
                        <a:rPr sz="1000"/>
                        <a:t>Resistance</a:t>
                      </a:r>
                    </a:p>
                  </a:txBody>
                  <a:tcPr anchor="ctr"/>
                </a:tc>
                <a:tc>
                  <a:txBody>
                    <a:bodyPr/>
                    <a:lstStyle/>
                    <a:p>
                      <a:pPr algn="ctr"/>
                      <a:r>
                        <a:rPr sz="1000"/>
                        <a:t>Regime</a:t>
                      </a:r>
                    </a:p>
                  </a:txBody>
                  <a:tcPr anchor="ctr"/>
                </a:tc>
                <a:tc>
                  <a:txBody>
                    <a:bodyPr/>
                    <a:lstStyle/>
                    <a:p>
                      <a:pPr algn="ctr"/>
                      <a:r>
                        <a:rPr sz="1000"/>
                        <a:t>TPM (mg/puff) and Standard Deviation</a:t>
                      </a:r>
                    </a:p>
                  </a:txBody>
                  <a:tcPr anchor="ctr"/>
                </a:tc>
                <a:tc>
                  <a:txBody>
                    <a:bodyPr/>
                    <a:lstStyle/>
                    <a:p>
                      <a:pPr algn="ctr"/>
                      <a:r>
                        <a:rPr sz="1000"/>
                        <a:t>SDR Result</a:t>
                      </a:r>
                    </a:p>
                  </a:txBody>
                  <a:tcPr anchor="ctr"/>
                </a:tc>
                <a:tc>
                  <a:txBody>
                    <a:bodyPr/>
                    <a:lstStyle/>
                    <a:p>
                      <a:pPr algn="ctr"/>
                      <a:r>
                        <a:rPr sz="1000"/>
                        <a:t>Notes</a:t>
                      </a:r>
                    </a:p>
                  </a:txBody>
                  <a:tcPr anchor="ctr"/>
                </a:tc>
                <a:extLst>
                  <a:ext uri="{0D108BD9-81ED-4DB2-BD59-A6C34878D82A}">
                    <a16:rowId xmlns:a16="http://schemas.microsoft.com/office/drawing/2014/main" val="10000"/>
                  </a:ext>
                </a:extLst>
              </a:tr>
              <a:tr h="982980">
                <a:tc>
                  <a:txBody>
                    <a:bodyPr/>
                    <a:lstStyle/>
                    <a:p>
                      <a:pPr algn="ctr"/>
                      <a:r>
                        <a:rPr sz="1000"/>
                        <a:t>Gembox Intense-1 800kcp D8</a:t>
                      </a:r>
                    </a:p>
                  </a:txBody>
                  <a:tcPr anchor="ctr"/>
                </a:tc>
                <a:tc>
                  <a:txBody>
                    <a:bodyPr/>
                    <a:lstStyle/>
                    <a:p>
                      <a:pPr algn="ctr"/>
                      <a:r>
                        <a:rPr sz="1000" dirty="0"/>
                        <a:t>4.</a:t>
                      </a:r>
                      <a:r>
                        <a:rPr lang="en-US" sz="1000" dirty="0"/>
                        <a:t>45</a:t>
                      </a:r>
                      <a:r>
                        <a:rPr sz="1000" dirty="0"/>
                        <a:t>W</a:t>
                      </a:r>
                    </a:p>
                  </a:txBody>
                  <a:tcPr anchor="ctr"/>
                </a:tc>
                <a:tc>
                  <a:txBody>
                    <a:bodyPr/>
                    <a:lstStyle/>
                    <a:p>
                      <a:pPr algn="ctr"/>
                      <a:r>
                        <a:rPr sz="1000" dirty="0"/>
                        <a:t>2.</a:t>
                      </a:r>
                      <a:r>
                        <a:rPr lang="en-US" sz="1000" dirty="0"/>
                        <a:t>3</a:t>
                      </a:r>
                      <a:endParaRPr sz="1000" dirty="0"/>
                    </a:p>
                  </a:txBody>
                  <a:tcPr anchor="ctr"/>
                </a:tc>
                <a:tc>
                  <a:txBody>
                    <a:bodyPr/>
                    <a:lstStyle/>
                    <a:p>
                      <a:pPr algn="ctr"/>
                      <a:r>
                        <a:rPr sz="1000" dirty="0"/>
                        <a:t>200mL/3s/30s</a:t>
                      </a:r>
                    </a:p>
                  </a:txBody>
                  <a:tcPr anchor="ctr"/>
                </a:tc>
                <a:tc>
                  <a:txBody>
                    <a:bodyPr/>
                    <a:lstStyle/>
                    <a:p>
                      <a:pPr algn="ctr"/>
                      <a:r>
                        <a:rPr sz="1000" dirty="0"/>
                        <a:t>2.5, 0.69</a:t>
                      </a:r>
                    </a:p>
                  </a:txBody>
                  <a:tcPr anchor="ctr"/>
                </a:tc>
                <a:tc>
                  <a:txBody>
                    <a:bodyPr/>
                    <a:lstStyle/>
                    <a:p>
                      <a:pPr algn="ctr"/>
                      <a:r>
                        <a:rPr lang="en-US" sz="1000" dirty="0"/>
                        <a:t>Ongoing</a:t>
                      </a:r>
                      <a:endParaRPr sz="1000" dirty="0"/>
                    </a:p>
                  </a:txBody>
                  <a:tcPr anchor="ctr"/>
                </a:tc>
                <a:tc rowSpan="5">
                  <a:txBody>
                    <a:bodyPr/>
                    <a:lstStyle/>
                    <a:p>
                      <a:pPr algn="ctr"/>
                      <a:r>
                        <a:rPr lang="zh-CN" altLang="en-US" sz="1000" dirty="0"/>
                        <a:t>Testing is still in progress. Efficiency will be reported next week.</a:t>
                      </a:r>
                      <a:endParaRPr sz="1000" dirty="0"/>
                    </a:p>
                  </a:txBody>
                  <a:tcPr anchor="ctr"/>
                </a:tc>
                <a:extLst>
                  <a:ext uri="{0D108BD9-81ED-4DB2-BD59-A6C34878D82A}">
                    <a16:rowId xmlns:a16="http://schemas.microsoft.com/office/drawing/2014/main" val="10001"/>
                  </a:ext>
                </a:extLst>
              </a:tr>
              <a:tr h="982980">
                <a:tc>
                  <a:txBody>
                    <a:bodyPr/>
                    <a:lstStyle/>
                    <a:p>
                      <a:pPr algn="ctr"/>
                      <a:r>
                        <a:rPr sz="1000" dirty="0"/>
                        <a:t>Gembox Intense-2 800kcp D8</a:t>
                      </a:r>
                    </a:p>
                  </a:txBody>
                  <a:tcPr anchor="ctr"/>
                </a:tc>
                <a:tc>
                  <a:txBody>
                    <a:bodyPr/>
                    <a:lstStyle/>
                    <a:p>
                      <a:pPr algn="ctr"/>
                      <a:r>
                        <a:rPr sz="1000" dirty="0"/>
                        <a:t>4.</a:t>
                      </a:r>
                      <a:r>
                        <a:rPr lang="en-US" sz="1000" dirty="0"/>
                        <a:t>45</a:t>
                      </a:r>
                      <a:r>
                        <a:rPr sz="1000" dirty="0"/>
                        <a:t>W</a:t>
                      </a:r>
                    </a:p>
                  </a:txBody>
                  <a:tcPr anchor="ctr"/>
                </a:tc>
                <a:tc>
                  <a:txBody>
                    <a:bodyPr/>
                    <a:lstStyle/>
                    <a:p>
                      <a:pPr algn="ctr"/>
                      <a:r>
                        <a:rPr sz="1000" dirty="0"/>
                        <a:t>2.</a:t>
                      </a:r>
                      <a:r>
                        <a:rPr lang="en-US" sz="1000" dirty="0"/>
                        <a:t>3</a:t>
                      </a:r>
                      <a:endParaRPr sz="1000" dirty="0"/>
                    </a:p>
                  </a:txBody>
                  <a:tcPr anchor="ctr"/>
                </a:tc>
                <a:tc>
                  <a:txBody>
                    <a:bodyPr/>
                    <a:lstStyle/>
                    <a:p>
                      <a:pPr algn="ctr"/>
                      <a:r>
                        <a:rPr sz="1000"/>
                        <a:t>200mL/3s/30s</a:t>
                      </a:r>
                    </a:p>
                  </a:txBody>
                  <a:tcPr anchor="ctr"/>
                </a:tc>
                <a:tc>
                  <a:txBody>
                    <a:bodyPr/>
                    <a:lstStyle/>
                    <a:p>
                      <a:pPr algn="ctr"/>
                      <a:r>
                        <a:rPr sz="1000" dirty="0"/>
                        <a:t>3.05, 0.96</a:t>
                      </a:r>
                    </a:p>
                  </a:txBody>
                  <a:tcPr anchor="ctr"/>
                </a:tc>
                <a:tc>
                  <a:txBody>
                    <a:bodyPr/>
                    <a:lstStyle/>
                    <a:p>
                      <a:pPr algn="ctr"/>
                      <a:r>
                        <a:rPr lang="en-US" sz="1000" dirty="0"/>
                        <a:t>Ongoing</a:t>
                      </a:r>
                      <a:endParaRPr sz="1000" dirty="0"/>
                    </a:p>
                  </a:txBody>
                  <a:tcPr anchor="ctr"/>
                </a:tc>
                <a:tc vMerge="1">
                  <a:txBody>
                    <a:bodyPr/>
                    <a:lstStyle/>
                    <a:p>
                      <a:pPr algn="ctr"/>
                      <a:endParaRPr sz="1000" dirty="0"/>
                    </a:p>
                  </a:txBody>
                  <a:tcPr anchor="ctr"/>
                </a:tc>
                <a:extLst>
                  <a:ext uri="{0D108BD9-81ED-4DB2-BD59-A6C34878D82A}">
                    <a16:rowId xmlns:a16="http://schemas.microsoft.com/office/drawing/2014/main" val="10002"/>
                  </a:ext>
                </a:extLst>
              </a:tr>
              <a:tr h="982980">
                <a:tc>
                  <a:txBody>
                    <a:bodyPr/>
                    <a:lstStyle/>
                    <a:p>
                      <a:pPr algn="ctr"/>
                      <a:r>
                        <a:rPr sz="1000" dirty="0"/>
                        <a:t>Gembox Intense-3 800kcp D8</a:t>
                      </a:r>
                    </a:p>
                  </a:txBody>
                  <a:tcPr anchor="ctr"/>
                </a:tc>
                <a:tc>
                  <a:txBody>
                    <a:bodyPr/>
                    <a:lstStyle/>
                    <a:p>
                      <a:pPr algn="ctr"/>
                      <a:r>
                        <a:rPr sz="1000" dirty="0"/>
                        <a:t>4.</a:t>
                      </a:r>
                      <a:r>
                        <a:rPr lang="en-US" sz="1000" dirty="0"/>
                        <a:t>45</a:t>
                      </a:r>
                      <a:r>
                        <a:rPr sz="1000" dirty="0"/>
                        <a:t>W</a:t>
                      </a:r>
                    </a:p>
                  </a:txBody>
                  <a:tcPr anchor="ctr"/>
                </a:tc>
                <a:tc>
                  <a:txBody>
                    <a:bodyPr/>
                    <a:lstStyle/>
                    <a:p>
                      <a:pPr algn="ctr"/>
                      <a:r>
                        <a:rPr sz="1000" dirty="0"/>
                        <a:t>2.</a:t>
                      </a:r>
                      <a:r>
                        <a:rPr lang="en-US" sz="1000" dirty="0"/>
                        <a:t>3</a:t>
                      </a:r>
                      <a:endParaRPr sz="1000" dirty="0"/>
                    </a:p>
                  </a:txBody>
                  <a:tcPr anchor="ctr"/>
                </a:tc>
                <a:tc>
                  <a:txBody>
                    <a:bodyPr/>
                    <a:lstStyle/>
                    <a:p>
                      <a:pPr algn="ctr"/>
                      <a:r>
                        <a:rPr sz="1000"/>
                        <a:t>200mL/3s/30s</a:t>
                      </a:r>
                    </a:p>
                  </a:txBody>
                  <a:tcPr anchor="ctr"/>
                </a:tc>
                <a:tc>
                  <a:txBody>
                    <a:bodyPr/>
                    <a:lstStyle/>
                    <a:p>
                      <a:pPr algn="ctr"/>
                      <a:r>
                        <a:rPr sz="1000"/>
                        <a:t>2.98, 0.88</a:t>
                      </a:r>
                    </a:p>
                  </a:txBody>
                  <a:tcPr anchor="ctr"/>
                </a:tc>
                <a:tc>
                  <a:txBody>
                    <a:bodyPr/>
                    <a:lstStyle/>
                    <a:p>
                      <a:pPr algn="ctr"/>
                      <a:r>
                        <a:rPr lang="en-US" sz="1000" dirty="0"/>
                        <a:t>Ongoing</a:t>
                      </a:r>
                      <a:endParaRPr sz="1000" dirty="0"/>
                    </a:p>
                  </a:txBody>
                  <a:tcPr anchor="ctr"/>
                </a:tc>
                <a:tc vMerge="1">
                  <a:txBody>
                    <a:bodyPr/>
                    <a:lstStyle/>
                    <a:p>
                      <a:pPr algn="ctr"/>
                      <a:endParaRPr sz="1000" dirty="0"/>
                    </a:p>
                  </a:txBody>
                  <a:tcPr anchor="ctr"/>
                </a:tc>
                <a:extLst>
                  <a:ext uri="{0D108BD9-81ED-4DB2-BD59-A6C34878D82A}">
                    <a16:rowId xmlns:a16="http://schemas.microsoft.com/office/drawing/2014/main" val="10003"/>
                  </a:ext>
                </a:extLst>
              </a:tr>
              <a:tr h="982980">
                <a:tc>
                  <a:txBody>
                    <a:bodyPr/>
                    <a:lstStyle/>
                    <a:p>
                      <a:pPr algn="ctr"/>
                      <a:r>
                        <a:rPr sz="1000" dirty="0"/>
                        <a:t>Gembox Intense-4 800kcp D8</a:t>
                      </a:r>
                    </a:p>
                  </a:txBody>
                  <a:tcPr anchor="ctr"/>
                </a:tc>
                <a:tc>
                  <a:txBody>
                    <a:bodyPr/>
                    <a:lstStyle/>
                    <a:p>
                      <a:pPr algn="ctr"/>
                      <a:r>
                        <a:rPr sz="1000" dirty="0"/>
                        <a:t>4.</a:t>
                      </a:r>
                      <a:r>
                        <a:rPr lang="en-US" sz="1000" dirty="0"/>
                        <a:t>45</a:t>
                      </a:r>
                      <a:r>
                        <a:rPr sz="1000" dirty="0"/>
                        <a:t>W</a:t>
                      </a:r>
                    </a:p>
                  </a:txBody>
                  <a:tcPr anchor="ctr"/>
                </a:tc>
                <a:tc>
                  <a:txBody>
                    <a:bodyPr/>
                    <a:lstStyle/>
                    <a:p>
                      <a:pPr algn="ctr"/>
                      <a:r>
                        <a:rPr sz="1000" dirty="0"/>
                        <a:t>2.</a:t>
                      </a:r>
                      <a:r>
                        <a:rPr lang="en-US" sz="1000" dirty="0"/>
                        <a:t>3</a:t>
                      </a:r>
                      <a:endParaRPr sz="1000" dirty="0"/>
                    </a:p>
                  </a:txBody>
                  <a:tcPr anchor="ctr"/>
                </a:tc>
                <a:tc>
                  <a:txBody>
                    <a:bodyPr/>
                    <a:lstStyle/>
                    <a:p>
                      <a:pPr algn="ctr"/>
                      <a:r>
                        <a:rPr sz="1000"/>
                        <a:t>200mL/3s/30s</a:t>
                      </a:r>
                    </a:p>
                  </a:txBody>
                  <a:tcPr anchor="ctr"/>
                </a:tc>
                <a:tc>
                  <a:txBody>
                    <a:bodyPr/>
                    <a:lstStyle/>
                    <a:p>
                      <a:pPr algn="ctr"/>
                      <a:r>
                        <a:rPr sz="1000"/>
                        <a:t>3.37, 0.93</a:t>
                      </a:r>
                    </a:p>
                  </a:txBody>
                  <a:tcPr anchor="ctr"/>
                </a:tc>
                <a:tc>
                  <a:txBody>
                    <a:bodyPr/>
                    <a:lstStyle/>
                    <a:p>
                      <a:pPr algn="ctr"/>
                      <a:r>
                        <a:rPr lang="en-US" sz="1000" dirty="0"/>
                        <a:t>Ongoing</a:t>
                      </a:r>
                      <a:endParaRPr sz="1000" dirty="0"/>
                    </a:p>
                  </a:txBody>
                  <a:tcPr anchor="ctr"/>
                </a:tc>
                <a:tc vMerge="1">
                  <a:txBody>
                    <a:bodyPr/>
                    <a:lstStyle/>
                    <a:p>
                      <a:pPr algn="ctr"/>
                      <a:endParaRPr sz="1000" dirty="0"/>
                    </a:p>
                  </a:txBody>
                  <a:tcPr anchor="ctr"/>
                </a:tc>
                <a:extLst>
                  <a:ext uri="{0D108BD9-81ED-4DB2-BD59-A6C34878D82A}">
                    <a16:rowId xmlns:a16="http://schemas.microsoft.com/office/drawing/2014/main" val="10004"/>
                  </a:ext>
                </a:extLst>
              </a:tr>
              <a:tr h="982980">
                <a:tc>
                  <a:txBody>
                    <a:bodyPr/>
                    <a:lstStyle/>
                    <a:p>
                      <a:pPr algn="ctr"/>
                      <a:r>
                        <a:rPr sz="1000" dirty="0"/>
                        <a:t>Gembox Intense-5 800kcp D8</a:t>
                      </a:r>
                    </a:p>
                  </a:txBody>
                  <a:tcPr anchor="ctr"/>
                </a:tc>
                <a:tc>
                  <a:txBody>
                    <a:bodyPr/>
                    <a:lstStyle/>
                    <a:p>
                      <a:pPr algn="ctr"/>
                      <a:r>
                        <a:rPr sz="1000" dirty="0"/>
                        <a:t>4.</a:t>
                      </a:r>
                      <a:r>
                        <a:rPr lang="en-US" sz="1000" dirty="0"/>
                        <a:t>45</a:t>
                      </a:r>
                      <a:r>
                        <a:rPr sz="1000" dirty="0"/>
                        <a:t>W</a:t>
                      </a:r>
                    </a:p>
                  </a:txBody>
                  <a:tcPr anchor="ctr"/>
                </a:tc>
                <a:tc>
                  <a:txBody>
                    <a:bodyPr/>
                    <a:lstStyle/>
                    <a:p>
                      <a:pPr algn="ctr"/>
                      <a:r>
                        <a:rPr sz="1000" dirty="0"/>
                        <a:t>2.</a:t>
                      </a:r>
                      <a:r>
                        <a:rPr lang="en-US" sz="1000" dirty="0"/>
                        <a:t>3</a:t>
                      </a:r>
                      <a:endParaRPr sz="1000" dirty="0"/>
                    </a:p>
                  </a:txBody>
                  <a:tcPr anchor="ctr"/>
                </a:tc>
                <a:tc>
                  <a:txBody>
                    <a:bodyPr/>
                    <a:lstStyle/>
                    <a:p>
                      <a:pPr algn="ctr"/>
                      <a:r>
                        <a:rPr sz="1000"/>
                        <a:t>200mL/3s/30s</a:t>
                      </a:r>
                    </a:p>
                  </a:txBody>
                  <a:tcPr anchor="ctr"/>
                </a:tc>
                <a:tc>
                  <a:txBody>
                    <a:bodyPr/>
                    <a:lstStyle/>
                    <a:p>
                      <a:pPr algn="ctr"/>
                      <a:r>
                        <a:rPr sz="1000"/>
                        <a:t>2.94, 0.96</a:t>
                      </a:r>
                    </a:p>
                  </a:txBody>
                  <a:tcPr anchor="ctr"/>
                </a:tc>
                <a:tc>
                  <a:txBody>
                    <a:bodyPr/>
                    <a:lstStyle/>
                    <a:p>
                      <a:pPr algn="ctr"/>
                      <a:r>
                        <a:rPr lang="en-US" sz="1000" dirty="0"/>
                        <a:t>Ongoing</a:t>
                      </a:r>
                      <a:endParaRPr sz="1000" dirty="0"/>
                    </a:p>
                  </a:txBody>
                  <a:tcPr anchor="ctr"/>
                </a:tc>
                <a:tc vMerge="1">
                  <a:txBody>
                    <a:bodyPr/>
                    <a:lstStyle/>
                    <a:p>
                      <a:pPr algn="ctr"/>
                      <a:endParaRPr sz="1000" dirty="0"/>
                    </a:p>
                  </a:txBody>
                  <a:tcPr anchor="ctr"/>
                </a:tc>
                <a:extLst>
                  <a:ext uri="{0D108BD9-81ED-4DB2-BD59-A6C34878D82A}">
                    <a16:rowId xmlns:a16="http://schemas.microsoft.com/office/drawing/2014/main" val="10005"/>
                  </a:ext>
                </a:extLst>
              </a:tr>
            </a:tbl>
          </a:graphicData>
        </a:graphic>
      </p:graphicFrame>
      <p:pic>
        <p:nvPicPr>
          <p:cNvPr id="5" name="Picture 4" descr="TPM_overlay.png">
            <a:extLst>
              <a:ext uri="{FF2B5EF4-FFF2-40B4-BE49-F238E27FC236}">
                <a16:creationId xmlns:a16="http://schemas.microsoft.com/office/drawing/2014/main" id="{2D31CF5C-F3A5-8961-5D57-AAE650238413}"/>
              </a:ext>
            </a:extLst>
          </p:cNvPr>
          <p:cNvPicPr>
            <a:picLocks noChangeAspect="1"/>
          </p:cNvPicPr>
          <p:nvPr/>
        </p:nvPicPr>
        <p:blipFill>
          <a:blip r:embed="rId5"/>
          <a:stretch>
            <a:fillRect/>
          </a:stretch>
        </p:blipFill>
        <p:spPr>
          <a:xfrm>
            <a:off x="6336792" y="685800"/>
            <a:ext cx="2980944" cy="2980944"/>
          </a:xfrm>
          <a:prstGeom prst="rect">
            <a:avLst/>
          </a:prstGeom>
        </p:spPr>
      </p:pic>
      <p:pic>
        <p:nvPicPr>
          <p:cNvPr id="6" name="Picture 5" descr="TPM_bar.png">
            <a:extLst>
              <a:ext uri="{FF2B5EF4-FFF2-40B4-BE49-F238E27FC236}">
                <a16:creationId xmlns:a16="http://schemas.microsoft.com/office/drawing/2014/main" id="{9AC6062E-067A-2989-A9A8-95444FCF54D6}"/>
              </a:ext>
            </a:extLst>
          </p:cNvPr>
          <p:cNvPicPr>
            <a:picLocks noChangeAspect="1"/>
          </p:cNvPicPr>
          <p:nvPr/>
        </p:nvPicPr>
        <p:blipFill>
          <a:blip r:embed="rId6"/>
          <a:stretch>
            <a:fillRect/>
          </a:stretch>
        </p:blipFill>
        <p:spPr>
          <a:xfrm>
            <a:off x="9125712" y="667512"/>
            <a:ext cx="2980944" cy="2980944"/>
          </a:xfrm>
          <a:prstGeom prst="rect">
            <a:avLst/>
          </a:prstGeom>
        </p:spPr>
      </p:pic>
      <p:pic>
        <p:nvPicPr>
          <p:cNvPr id="7" name="Picture 6" descr="TPM_density.png">
            <a:extLst>
              <a:ext uri="{FF2B5EF4-FFF2-40B4-BE49-F238E27FC236}">
                <a16:creationId xmlns:a16="http://schemas.microsoft.com/office/drawing/2014/main" id="{C56C1C03-E563-94FA-53AB-A5E6B8BA00AE}"/>
              </a:ext>
            </a:extLst>
          </p:cNvPr>
          <p:cNvPicPr>
            <a:picLocks noChangeAspect="1"/>
          </p:cNvPicPr>
          <p:nvPr/>
        </p:nvPicPr>
        <p:blipFill>
          <a:blip r:embed="rId7"/>
          <a:stretch>
            <a:fillRect/>
          </a:stretch>
        </p:blipFill>
        <p:spPr>
          <a:xfrm>
            <a:off x="9125712" y="3648456"/>
            <a:ext cx="2980944" cy="2980944"/>
          </a:xfrm>
          <a:prstGeom prst="rect">
            <a:avLst/>
          </a:prstGeom>
        </p:spPr>
      </p:pic>
      <p:sp>
        <p:nvSpPr>
          <p:cNvPr id="8" name="TextBox 7">
            <a:extLst>
              <a:ext uri="{FF2B5EF4-FFF2-40B4-BE49-F238E27FC236}">
                <a16:creationId xmlns:a16="http://schemas.microsoft.com/office/drawing/2014/main" id="{B0F93525-C126-9223-74B3-D506A5E76D3B}"/>
              </a:ext>
            </a:extLst>
          </p:cNvPr>
          <p:cNvSpPr txBox="1"/>
          <p:nvPr/>
        </p:nvSpPr>
        <p:spPr>
          <a:xfrm>
            <a:off x="6476696" y="3829616"/>
            <a:ext cx="2408222" cy="1200329"/>
          </a:xfrm>
          <a:prstGeom prst="rect">
            <a:avLst/>
          </a:prstGeom>
          <a:noFill/>
        </p:spPr>
        <p:txBody>
          <a:bodyPr wrap="square" rtlCol="0">
            <a:spAutoFit/>
          </a:bodyPr>
          <a:lstStyle/>
          <a:p>
            <a:r>
              <a:rPr lang="zh-CN" altLang="en-US" dirty="0"/>
              <a:t>So far, performance looks good. The initial low TPM was due to the impactor issue.</a:t>
            </a:r>
            <a:r>
              <a:rPr lang="en-US" altLang="zh-CN" dirty="0"/>
              <a:t/>
            </a:r>
            <a:r>
              <a:rPr lang="zh-CN" altLang="en-US" dirty="0"/>
              <a:t/>
            </a:r>
            <a:endParaRPr lang="en-US" dirty="0"/>
          </a:p>
        </p:txBody>
      </p:sp>
    </p:spTree>
    <p:extLst>
      <p:ext uri="{BB962C8B-B14F-4D97-AF65-F5344CB8AC3E}">
        <p14:creationId xmlns:p14="http://schemas.microsoft.com/office/powerpoint/2010/main" val="25010353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FC4511-9443-5FEA-A3C0-117699860A42}"/>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29FB2806-883A-F433-D0CD-5C77CF64C81D}"/>
              </a:ext>
            </a:extLst>
          </p:cNvPr>
          <p:cNvPicPr>
            <a:picLocks noChangeAspect="1"/>
          </p:cNvPicPr>
          <p:nvPr/>
        </p:nvPicPr>
        <p:blipFill>
          <a:blip r:embed="rId3" cstate="screen">
            <a:alphaModFix amt="60000"/>
            <a:extLst>
              <a:ext uri="{28A0092B-C50C-407E-A947-70E740481C1C}">
                <a14:useLocalDpi xmlns:a14="http://schemas.microsoft.com/office/drawing/2010/main"/>
              </a:ext>
            </a:extLst>
          </a:blip>
          <a:stretch>
            <a:fillRect/>
          </a:stretch>
        </p:blipFill>
        <p:spPr>
          <a:xfrm>
            <a:off x="-361" y="13947"/>
            <a:ext cx="12192361" cy="6857797"/>
          </a:xfrm>
          <a:prstGeom prst="rect">
            <a:avLst/>
          </a:prstGeom>
        </p:spPr>
      </p:pic>
      <p:pic>
        <p:nvPicPr>
          <p:cNvPr id="4" name="Picture 3">
            <a:extLst>
              <a:ext uri="{FF2B5EF4-FFF2-40B4-BE49-F238E27FC236}">
                <a16:creationId xmlns:a16="http://schemas.microsoft.com/office/drawing/2014/main" id="{C1FDC75B-5405-27C8-DB63-42F9CF257509}"/>
              </a:ext>
            </a:extLst>
          </p:cNvPr>
          <p:cNvPicPr>
            <a:picLocks noChangeAspect="1"/>
          </p:cNvPicPr>
          <p:nvPr/>
        </p:nvPicPr>
        <p:blipFill>
          <a:blip r:embed="rId4"/>
          <a:stretch>
            <a:fillRect/>
          </a:stretch>
        </p:blipFill>
        <p:spPr>
          <a:xfrm>
            <a:off x="10201998" y="91033"/>
            <a:ext cx="1436172" cy="485446"/>
          </a:xfrm>
          <a:prstGeom prst="rect">
            <a:avLst/>
          </a:prstGeom>
        </p:spPr>
      </p:pic>
      <p:sp>
        <p:nvSpPr>
          <p:cNvPr id="2" name="矩形 4">
            <a:extLst>
              <a:ext uri="{FF2B5EF4-FFF2-40B4-BE49-F238E27FC236}">
                <a16:creationId xmlns:a16="http://schemas.microsoft.com/office/drawing/2014/main" id="{5127BB8A-80D9-7117-DE53-2923317BBB53}"/>
              </a:ext>
            </a:extLst>
          </p:cNvPr>
          <p:cNvSpPr/>
          <p:nvPr/>
        </p:nvSpPr>
        <p:spPr>
          <a:xfrm>
            <a:off x="640080" y="146304"/>
            <a:ext cx="5856155" cy="523220"/>
          </a:xfrm>
          <a:prstGeom prst="rect">
            <a:avLst/>
          </a:prstGeom>
        </p:spPr>
        <p:txBody>
          <a:bodyPr wrap="none">
            <a:normAutofit/>
          </a:bodyPr>
          <a:lstStyle/>
          <a:p>
            <a:pPr lvl="0">
              <a:defRPr/>
            </a:pPr>
            <a:r>
              <a:rPr lang="en-US" altLang="zh-CN" sz="1800" dirty="0">
                <a:latin typeface="微软雅黑" panose="020B0503020204020204" pitchFamily="34" charset="-122"/>
                <a:ea typeface="微软雅黑" panose="020B0503020204020204" pitchFamily="34" charset="-122"/>
                <a:cs typeface="+mn-ea"/>
                <a:sym typeface="+mn-lt"/>
              </a:rPr>
              <a:t>Gembox 1-22 Viscosity Compatibility Test Results</a:t>
            </a:r>
            <a:r>
              <a:rPr lang="zh-CN" altLang="en-US" sz="2800" dirty="0">
                <a:latin typeface="微软雅黑" panose="020B0503020204020204" pitchFamily="34" charset="-122"/>
                <a:ea typeface="微软雅黑" panose="020B0503020204020204" pitchFamily="34" charset="-122"/>
                <a:cs typeface="+mn-ea"/>
                <a:sym typeface="+mn-lt"/>
              </a:rPr>
              <a:t/>
            </a:r>
            <a:endParaRPr kumimoji="0" lang="zh-CN" altLang="en-US" sz="2800" i="0" u="none" strike="noStrike" kern="1200" cap="none" spc="0" normalizeH="0" baseline="0" noProof="0" dirty="0">
              <a:ln>
                <a:noFill/>
              </a:ln>
              <a:effectLst/>
              <a:uLnTx/>
              <a:uFillTx/>
              <a:latin typeface="Calibri" panose="020F0502020204030204"/>
              <a:ea typeface="宋体" panose="02010600030101010101" pitchFamily="2" charset="-122"/>
              <a:cs typeface="+mn-ea"/>
              <a:sym typeface="+mn-lt"/>
            </a:endParaRPr>
          </a:p>
        </p:txBody>
      </p:sp>
      <p:graphicFrame>
        <p:nvGraphicFramePr>
          <p:cNvPr id="3" name="Table 2">
            <a:extLst>
              <a:ext uri="{FF2B5EF4-FFF2-40B4-BE49-F238E27FC236}">
                <a16:creationId xmlns:a16="http://schemas.microsoft.com/office/drawing/2014/main" id="{A104689C-E2B1-C8EE-4CA8-1D7CE0793A08}"/>
              </a:ext>
            </a:extLst>
          </p:cNvPr>
          <p:cNvGraphicFramePr>
            <a:graphicFrameLocks noGrp="1"/>
          </p:cNvGraphicFramePr>
          <p:nvPr/>
        </p:nvGraphicFramePr>
        <p:xfrm>
          <a:off x="316255" y="774720"/>
          <a:ext cx="5730109" cy="4303611"/>
        </p:xfrm>
        <a:graphic>
          <a:graphicData uri="http://schemas.openxmlformats.org/drawingml/2006/table">
            <a:tbl>
              <a:tblPr firstRow="1" bandRow="1">
                <a:tableStyleId>{5C22544A-7EE6-4342-B048-85BDC9FD1C3A}</a:tableStyleId>
              </a:tblPr>
              <a:tblGrid>
                <a:gridCol w="818587">
                  <a:extLst>
                    <a:ext uri="{9D8B030D-6E8A-4147-A177-3AD203B41FA5}">
                      <a16:colId xmlns:a16="http://schemas.microsoft.com/office/drawing/2014/main" val="20000"/>
                    </a:ext>
                  </a:extLst>
                </a:gridCol>
                <a:gridCol w="818587">
                  <a:extLst>
                    <a:ext uri="{9D8B030D-6E8A-4147-A177-3AD203B41FA5}">
                      <a16:colId xmlns:a16="http://schemas.microsoft.com/office/drawing/2014/main" val="20001"/>
                    </a:ext>
                  </a:extLst>
                </a:gridCol>
                <a:gridCol w="818587">
                  <a:extLst>
                    <a:ext uri="{9D8B030D-6E8A-4147-A177-3AD203B41FA5}">
                      <a16:colId xmlns:a16="http://schemas.microsoft.com/office/drawing/2014/main" val="20002"/>
                    </a:ext>
                  </a:extLst>
                </a:gridCol>
                <a:gridCol w="818587">
                  <a:extLst>
                    <a:ext uri="{9D8B030D-6E8A-4147-A177-3AD203B41FA5}">
                      <a16:colId xmlns:a16="http://schemas.microsoft.com/office/drawing/2014/main" val="20003"/>
                    </a:ext>
                  </a:extLst>
                </a:gridCol>
                <a:gridCol w="818587">
                  <a:extLst>
                    <a:ext uri="{9D8B030D-6E8A-4147-A177-3AD203B41FA5}">
                      <a16:colId xmlns:a16="http://schemas.microsoft.com/office/drawing/2014/main" val="20004"/>
                    </a:ext>
                  </a:extLst>
                </a:gridCol>
                <a:gridCol w="818587">
                  <a:extLst>
                    <a:ext uri="{9D8B030D-6E8A-4147-A177-3AD203B41FA5}">
                      <a16:colId xmlns:a16="http://schemas.microsoft.com/office/drawing/2014/main" val="20006"/>
                    </a:ext>
                  </a:extLst>
                </a:gridCol>
                <a:gridCol w="818587">
                  <a:extLst>
                    <a:ext uri="{9D8B030D-6E8A-4147-A177-3AD203B41FA5}">
                      <a16:colId xmlns:a16="http://schemas.microsoft.com/office/drawing/2014/main" val="20007"/>
                    </a:ext>
                  </a:extLst>
                </a:gridCol>
              </a:tblGrid>
              <a:tr h="581097">
                <a:tc>
                  <a:txBody>
                    <a:bodyPr/>
                    <a:lstStyle/>
                    <a:p>
                      <a:pPr algn="ctr"/>
                      <a:r>
                        <a:rPr sz="1000" dirty="0"/>
                        <a:t>Design and Oil</a:t>
                      </a:r>
                    </a:p>
                  </a:txBody>
                  <a:tcPr anchor="ctr"/>
                </a:tc>
                <a:tc>
                  <a:txBody>
                    <a:bodyPr/>
                    <a:lstStyle/>
                    <a:p>
                      <a:pPr algn="ctr"/>
                      <a:r>
                        <a:rPr sz="1000" dirty="0"/>
                        <a:t>Power</a:t>
                      </a:r>
                      <a:r>
                        <a:rPr lang="en-US" sz="1000" dirty="0"/>
                        <a:t> (voltage set to 3.2V)</a:t>
                      </a:r>
                      <a:endParaRPr sz="1000" dirty="0"/>
                    </a:p>
                  </a:txBody>
                  <a:tcPr anchor="ctr"/>
                </a:tc>
                <a:tc>
                  <a:txBody>
                    <a:bodyPr/>
                    <a:lstStyle/>
                    <a:p>
                      <a:pPr algn="ctr"/>
                      <a:r>
                        <a:rPr sz="1000"/>
                        <a:t>Resistance</a:t>
                      </a:r>
                    </a:p>
                  </a:txBody>
                  <a:tcPr anchor="ctr"/>
                </a:tc>
                <a:tc>
                  <a:txBody>
                    <a:bodyPr/>
                    <a:lstStyle/>
                    <a:p>
                      <a:pPr algn="ctr"/>
                      <a:r>
                        <a:rPr sz="1000"/>
                        <a:t>Regime</a:t>
                      </a:r>
                    </a:p>
                  </a:txBody>
                  <a:tcPr anchor="ctr"/>
                </a:tc>
                <a:tc>
                  <a:txBody>
                    <a:bodyPr/>
                    <a:lstStyle/>
                    <a:p>
                      <a:pPr algn="ctr"/>
                      <a:r>
                        <a:rPr sz="1000"/>
                        <a:t>TPM (mg/puff) and Standard Deviation</a:t>
                      </a:r>
                    </a:p>
                  </a:txBody>
                  <a:tcPr anchor="ctr"/>
                </a:tc>
                <a:tc>
                  <a:txBody>
                    <a:bodyPr/>
                    <a:lstStyle/>
                    <a:p>
                      <a:pPr algn="ctr"/>
                      <a:r>
                        <a:rPr sz="1000" dirty="0"/>
                        <a:t>SDR Result</a:t>
                      </a:r>
                    </a:p>
                  </a:txBody>
                  <a:tcPr anchor="ctr"/>
                </a:tc>
                <a:tc>
                  <a:txBody>
                    <a:bodyPr/>
                    <a:lstStyle/>
                    <a:p>
                      <a:pPr algn="ctr"/>
                      <a:r>
                        <a:rPr sz="1000"/>
                        <a:t>Notes</a:t>
                      </a:r>
                    </a:p>
                  </a:txBody>
                  <a:tcPr anchor="ctr"/>
                </a:tc>
                <a:extLst>
                  <a:ext uri="{0D108BD9-81ED-4DB2-BD59-A6C34878D82A}">
                    <a16:rowId xmlns:a16="http://schemas.microsoft.com/office/drawing/2014/main" val="10000"/>
                  </a:ext>
                </a:extLst>
              </a:tr>
              <a:tr h="581097">
                <a:tc>
                  <a:txBody>
                    <a:bodyPr/>
                    <a:lstStyle/>
                    <a:p>
                      <a:pPr algn="ctr"/>
                      <a:r>
                        <a:rPr sz="1000" dirty="0"/>
                        <a:t>Gembox 43kcp D8</a:t>
                      </a:r>
                    </a:p>
                  </a:txBody>
                  <a:tcPr anchor="ctr"/>
                </a:tc>
                <a:tc>
                  <a:txBody>
                    <a:bodyPr/>
                    <a:lstStyle/>
                    <a:p>
                      <a:pPr algn="ctr"/>
                      <a:r>
                        <a:rPr sz="1000" dirty="0"/>
                        <a:t>4.45W</a:t>
                      </a:r>
                    </a:p>
                  </a:txBody>
                  <a:tcPr anchor="ctr"/>
                </a:tc>
                <a:tc>
                  <a:txBody>
                    <a:bodyPr/>
                    <a:lstStyle/>
                    <a:p>
                      <a:pPr algn="ctr"/>
                      <a:r>
                        <a:rPr sz="1000"/>
                        <a:t>2.3</a:t>
                      </a:r>
                    </a:p>
                  </a:txBody>
                  <a:tcPr anchor="ctr"/>
                </a:tc>
                <a:tc>
                  <a:txBody>
                    <a:bodyPr/>
                    <a:lstStyle/>
                    <a:p>
                      <a:pPr algn="ctr"/>
                      <a:r>
                        <a:rPr sz="1000"/>
                        <a:t>60mL/3s/30s</a:t>
                      </a:r>
                    </a:p>
                  </a:txBody>
                  <a:tcPr anchor="ctr"/>
                </a:tc>
                <a:tc>
                  <a:txBody>
                    <a:bodyPr/>
                    <a:lstStyle/>
                    <a:p>
                      <a:pPr algn="ctr"/>
                      <a:r>
                        <a:rPr sz="1000"/>
                        <a:t>2.9, 0.38</a:t>
                      </a:r>
                    </a:p>
                  </a:txBody>
                  <a:tcPr anchor="ctr"/>
                </a:tc>
                <a:tc>
                  <a:txBody>
                    <a:bodyPr/>
                    <a:lstStyle/>
                    <a:p>
                      <a:pPr algn="ctr"/>
                      <a:r>
                        <a:rPr lang="en-US" sz="1000" dirty="0"/>
                        <a:t>Pass</a:t>
                      </a:r>
                      <a:endParaRPr sz="1000" dirty="0"/>
                    </a:p>
                  </a:txBody>
                  <a:tcPr anchor="ctr"/>
                </a:tc>
                <a:tc>
                  <a:txBody>
                    <a:bodyPr/>
                    <a:lstStyle/>
                    <a:p>
                      <a:pPr algn="ctr"/>
                      <a:endParaRPr sz="1000" dirty="0"/>
                    </a:p>
                  </a:txBody>
                  <a:tcPr anchor="ctr"/>
                </a:tc>
                <a:extLst>
                  <a:ext uri="{0D108BD9-81ED-4DB2-BD59-A6C34878D82A}">
                    <a16:rowId xmlns:a16="http://schemas.microsoft.com/office/drawing/2014/main" val="10001"/>
                  </a:ext>
                </a:extLst>
              </a:tr>
              <a:tr h="581097">
                <a:tc>
                  <a:txBody>
                    <a:bodyPr/>
                    <a:lstStyle/>
                    <a:p>
                      <a:pPr algn="ctr"/>
                      <a:r>
                        <a:rPr sz="1000" dirty="0"/>
                        <a:t>Gembox 136kcp D8</a:t>
                      </a:r>
                    </a:p>
                  </a:txBody>
                  <a:tcPr anchor="ctr"/>
                </a:tc>
                <a:tc>
                  <a:txBody>
                    <a:bodyPr/>
                    <a:lstStyle/>
                    <a:p>
                      <a:pPr algn="ctr"/>
                      <a:r>
                        <a:rPr sz="1000" dirty="0"/>
                        <a:t>4.45W</a:t>
                      </a:r>
                    </a:p>
                  </a:txBody>
                  <a:tcPr anchor="ctr"/>
                </a:tc>
                <a:tc>
                  <a:txBody>
                    <a:bodyPr/>
                    <a:lstStyle/>
                    <a:p>
                      <a:pPr algn="ctr"/>
                      <a:r>
                        <a:rPr sz="1000"/>
                        <a:t>2.3</a:t>
                      </a:r>
                    </a:p>
                  </a:txBody>
                  <a:tcPr anchor="ctr"/>
                </a:tc>
                <a:tc>
                  <a:txBody>
                    <a:bodyPr/>
                    <a:lstStyle/>
                    <a:p>
                      <a:pPr algn="ctr"/>
                      <a:r>
                        <a:rPr sz="1000"/>
                        <a:t>60mL/3s/30s</a:t>
                      </a:r>
                    </a:p>
                  </a:txBody>
                  <a:tcPr anchor="ctr"/>
                </a:tc>
                <a:tc>
                  <a:txBody>
                    <a:bodyPr/>
                    <a:lstStyle/>
                    <a:p>
                      <a:pPr algn="ctr"/>
                      <a:r>
                        <a:rPr sz="1000"/>
                        <a:t>2.49, 0.5</a:t>
                      </a:r>
                    </a:p>
                  </a:txBody>
                  <a:tcPr anchor="ctr"/>
                </a:tc>
                <a:tc>
                  <a:txBody>
                    <a:bodyPr/>
                    <a:lstStyle/>
                    <a:p>
                      <a:pPr algn="ctr"/>
                      <a:r>
                        <a:rPr lang="en-US" sz="1000" dirty="0"/>
                        <a:t>Pass</a:t>
                      </a:r>
                      <a:endParaRPr sz="1000" dirty="0"/>
                    </a:p>
                  </a:txBody>
                  <a:tcPr anchor="ctr"/>
                </a:tc>
                <a:tc>
                  <a:txBody>
                    <a:bodyPr/>
                    <a:lstStyle/>
                    <a:p>
                      <a:pPr algn="ctr"/>
                      <a:endParaRPr sz="1000" dirty="0"/>
                    </a:p>
                  </a:txBody>
                  <a:tcPr anchor="ctr"/>
                </a:tc>
                <a:extLst>
                  <a:ext uri="{0D108BD9-81ED-4DB2-BD59-A6C34878D82A}">
                    <a16:rowId xmlns:a16="http://schemas.microsoft.com/office/drawing/2014/main" val="10002"/>
                  </a:ext>
                </a:extLst>
              </a:tr>
              <a:tr h="581097">
                <a:tc>
                  <a:txBody>
                    <a:bodyPr/>
                    <a:lstStyle/>
                    <a:p>
                      <a:pPr algn="ctr"/>
                      <a:r>
                        <a:rPr sz="1000" dirty="0"/>
                        <a:t>Gembox 1.2mcp D8</a:t>
                      </a:r>
                    </a:p>
                  </a:txBody>
                  <a:tcPr anchor="ctr"/>
                </a:tc>
                <a:tc>
                  <a:txBody>
                    <a:bodyPr/>
                    <a:lstStyle/>
                    <a:p>
                      <a:pPr algn="ctr"/>
                      <a:r>
                        <a:rPr sz="1000" dirty="0"/>
                        <a:t>4.45W</a:t>
                      </a:r>
                    </a:p>
                  </a:txBody>
                  <a:tcPr anchor="ctr"/>
                </a:tc>
                <a:tc>
                  <a:txBody>
                    <a:bodyPr/>
                    <a:lstStyle/>
                    <a:p>
                      <a:pPr algn="ctr"/>
                      <a:r>
                        <a:rPr sz="1000"/>
                        <a:t>2.3</a:t>
                      </a:r>
                    </a:p>
                  </a:txBody>
                  <a:tcPr anchor="ctr"/>
                </a:tc>
                <a:tc>
                  <a:txBody>
                    <a:bodyPr/>
                    <a:lstStyle/>
                    <a:p>
                      <a:pPr algn="ctr"/>
                      <a:r>
                        <a:rPr sz="1000"/>
                        <a:t>60mL/3s/30s</a:t>
                      </a:r>
                    </a:p>
                  </a:txBody>
                  <a:tcPr anchor="ctr"/>
                </a:tc>
                <a:tc>
                  <a:txBody>
                    <a:bodyPr/>
                    <a:lstStyle/>
                    <a:p>
                      <a:pPr algn="ctr"/>
                      <a:r>
                        <a:rPr sz="1000"/>
                        <a:t>2.17, 0.26</a:t>
                      </a:r>
                    </a:p>
                  </a:txBody>
                  <a:tcPr anchor="ctr"/>
                </a:tc>
                <a:tc>
                  <a:txBody>
                    <a:bodyPr/>
                    <a:lstStyle/>
                    <a:p>
                      <a:pPr algn="ctr"/>
                      <a:r>
                        <a:rPr lang="en-US" sz="1000" dirty="0"/>
                        <a:t>Pass</a:t>
                      </a:r>
                      <a:endParaRPr sz="1000" dirty="0"/>
                    </a:p>
                  </a:txBody>
                  <a:tcPr anchor="ctr"/>
                </a:tc>
                <a:tc>
                  <a:txBody>
                    <a:bodyPr/>
                    <a:lstStyle/>
                    <a:p>
                      <a:pPr algn="ctr"/>
                      <a:endParaRPr sz="1000"/>
                    </a:p>
                  </a:txBody>
                  <a:tcPr anchor="ctr"/>
                </a:tc>
                <a:extLst>
                  <a:ext uri="{0D108BD9-81ED-4DB2-BD59-A6C34878D82A}">
                    <a16:rowId xmlns:a16="http://schemas.microsoft.com/office/drawing/2014/main" val="10003"/>
                  </a:ext>
                </a:extLst>
              </a:tr>
              <a:tr h="581097">
                <a:tc>
                  <a:txBody>
                    <a:bodyPr/>
                    <a:lstStyle/>
                    <a:p>
                      <a:pPr algn="ctr"/>
                      <a:r>
                        <a:rPr sz="1000" dirty="0"/>
                        <a:t>Gembox 4mcp D8</a:t>
                      </a:r>
                    </a:p>
                  </a:txBody>
                  <a:tcPr anchor="ctr"/>
                </a:tc>
                <a:tc>
                  <a:txBody>
                    <a:bodyPr/>
                    <a:lstStyle/>
                    <a:p>
                      <a:pPr algn="ctr"/>
                      <a:r>
                        <a:rPr sz="1000" dirty="0"/>
                        <a:t>4.45W</a:t>
                      </a:r>
                    </a:p>
                  </a:txBody>
                  <a:tcPr anchor="ctr"/>
                </a:tc>
                <a:tc>
                  <a:txBody>
                    <a:bodyPr/>
                    <a:lstStyle/>
                    <a:p>
                      <a:pPr algn="ctr"/>
                      <a:r>
                        <a:rPr sz="1000"/>
                        <a:t>2.3</a:t>
                      </a:r>
                    </a:p>
                  </a:txBody>
                  <a:tcPr anchor="ctr"/>
                </a:tc>
                <a:tc>
                  <a:txBody>
                    <a:bodyPr/>
                    <a:lstStyle/>
                    <a:p>
                      <a:pPr algn="ctr"/>
                      <a:r>
                        <a:rPr sz="1000"/>
                        <a:t>60mL/3s/30s</a:t>
                      </a:r>
                    </a:p>
                  </a:txBody>
                  <a:tcPr anchor="ctr"/>
                </a:tc>
                <a:tc>
                  <a:txBody>
                    <a:bodyPr/>
                    <a:lstStyle/>
                    <a:p>
                      <a:pPr algn="ctr"/>
                      <a:r>
                        <a:rPr sz="1000"/>
                        <a:t>1.12, 0.6</a:t>
                      </a:r>
                    </a:p>
                  </a:txBody>
                  <a:tcPr anchor="ctr"/>
                </a:tc>
                <a:tc>
                  <a:txBody>
                    <a:bodyPr/>
                    <a:lstStyle/>
                    <a:p>
                      <a:pPr algn="ctr"/>
                      <a:r>
                        <a:rPr lang="en-US" sz="1000" dirty="0"/>
                        <a:t>Tentative Pass</a:t>
                      </a:r>
                      <a:endParaRPr sz="1000" dirty="0"/>
                    </a:p>
                  </a:txBody>
                  <a:tcPr anchor="ctr"/>
                </a:tc>
                <a:tc>
                  <a:txBody>
                    <a:bodyPr>
                      <a:normAutofit/>
                    </a:bodyPr>
                    <a:lstStyle/>
                    <a:p>
                      <a:pPr algn="ctr"/>
                      <a:r>
                        <a:rPr lang="zh-CN" altLang="en-US" sz="500" dirty="0"/>
                        <a:t>Low TPM is mainly due to thicker bubbles. When adequately humidified, the TPM is ~2 mg/spray.</a:t>
                      </a:r>
                      <a:r>
                        <a:rPr lang="en-US" altLang="zh-CN" sz="1000" dirty="0"/>
                        <a:t/>
                      </a:r>
                      <a:r>
                        <a:rPr lang="zh-CN" altLang="en-US" sz="1000" dirty="0"/>
                        <a:t/>
                      </a:r>
                      <a:r>
                        <a:rPr lang="en-US" altLang="zh-CN" sz="1000" dirty="0"/>
                        <a:t/>
                      </a:r>
                      <a:r>
                        <a:rPr lang="zh-CN" altLang="en-US" sz="1000" dirty="0"/>
                        <a:t/>
                      </a:r>
                      <a:r>
                        <a:rPr lang="en-US" altLang="zh-CN" sz="1000" dirty="0"/>
                        <a:t/>
                      </a:r>
                      <a:r>
                        <a:rPr lang="zh-CN" altLang="en-US" sz="1000" dirty="0"/>
                        <a:t/>
                      </a:r>
                      <a:r>
                        <a:rPr lang="en-US" altLang="zh-CN" sz="1000" dirty="0"/>
                        <a:t/>
                      </a:r>
                      <a:r>
                        <a:rPr lang="zh-CN" altLang="en-US" sz="1000" dirty="0"/>
                        <a:t/>
                      </a:r>
                      <a:endParaRPr sz="1000" dirty="0"/>
                    </a:p>
                  </a:txBody>
                  <a:tcPr anchor="ctr"/>
                </a:tc>
                <a:extLst>
                  <a:ext uri="{0D108BD9-81ED-4DB2-BD59-A6C34878D82A}">
                    <a16:rowId xmlns:a16="http://schemas.microsoft.com/office/drawing/2014/main" val="10004"/>
                  </a:ext>
                </a:extLst>
              </a:tr>
              <a:tr h="581097">
                <a:tc>
                  <a:txBody>
                    <a:bodyPr/>
                    <a:lstStyle/>
                    <a:p>
                      <a:pPr algn="ctr"/>
                      <a:r>
                        <a:rPr sz="1000" dirty="0"/>
                        <a:t>Gembox (From QS-1</a:t>
                      </a:r>
                      <a:r>
                        <a:rPr lang="en-US" sz="1000" dirty="0"/>
                        <a:t>, 3.4V</a:t>
                      </a:r>
                      <a:r>
                        <a:rPr sz="1000" dirty="0"/>
                        <a:t>) 800kcp D8</a:t>
                      </a:r>
                    </a:p>
                  </a:txBody>
                  <a:tcPr anchor="ctr"/>
                </a:tc>
                <a:tc>
                  <a:txBody>
                    <a:bodyPr/>
                    <a:lstStyle/>
                    <a:p>
                      <a:pPr algn="ctr"/>
                      <a:r>
                        <a:rPr lang="en-US" sz="1000" dirty="0"/>
                        <a:t>5</a:t>
                      </a:r>
                      <a:r>
                        <a:rPr sz="1000" dirty="0"/>
                        <a:t>W</a:t>
                      </a:r>
                      <a:r>
                        <a:rPr lang="en-US" sz="1000" dirty="0"/>
                        <a:t> (3.4V*)</a:t>
                      </a:r>
                      <a:endParaRPr sz="1000" dirty="0"/>
                    </a:p>
                  </a:txBody>
                  <a:tcPr anchor="ctr"/>
                </a:tc>
                <a:tc>
                  <a:txBody>
                    <a:bodyPr/>
                    <a:lstStyle/>
                    <a:p>
                      <a:pPr algn="ctr"/>
                      <a:r>
                        <a:rPr sz="1000"/>
                        <a:t>2.3</a:t>
                      </a:r>
                    </a:p>
                  </a:txBody>
                  <a:tcPr anchor="ctr"/>
                </a:tc>
                <a:tc>
                  <a:txBody>
                    <a:bodyPr/>
                    <a:lstStyle/>
                    <a:p>
                      <a:pPr algn="ctr"/>
                      <a:r>
                        <a:rPr sz="1000"/>
                        <a:t>60mL/3s/30s</a:t>
                      </a:r>
                    </a:p>
                  </a:txBody>
                  <a:tcPr anchor="ctr"/>
                </a:tc>
                <a:tc>
                  <a:txBody>
                    <a:bodyPr/>
                    <a:lstStyle/>
                    <a:p>
                      <a:pPr algn="ctr"/>
                      <a:r>
                        <a:rPr sz="1000"/>
                        <a:t>3.39, 0.4</a:t>
                      </a:r>
                    </a:p>
                  </a:txBody>
                  <a:tcPr anchor="ctr"/>
                </a:tc>
                <a:tc>
                  <a:txBody>
                    <a:bodyPr/>
                    <a:lstStyle/>
                    <a:p>
                      <a:pPr algn="ctr"/>
                      <a:r>
                        <a:rPr lang="en-US" sz="1000" dirty="0"/>
                        <a:t>Pass</a:t>
                      </a:r>
                      <a:endParaRPr sz="1000" dirty="0"/>
                    </a:p>
                  </a:txBody>
                  <a:tcPr anchor="ctr"/>
                </a:tc>
                <a:tc>
                  <a:txBody>
                    <a:bodyPr/>
                    <a:lstStyle/>
                    <a:p>
                      <a:pPr algn="ctr"/>
                      <a:endParaRPr sz="1000" dirty="0"/>
                    </a:p>
                  </a:txBody>
                  <a:tcPr anchor="ctr"/>
                </a:tc>
                <a:extLst>
                  <a:ext uri="{0D108BD9-81ED-4DB2-BD59-A6C34878D82A}">
                    <a16:rowId xmlns:a16="http://schemas.microsoft.com/office/drawing/2014/main" val="10005"/>
                  </a:ext>
                </a:extLst>
              </a:tr>
            </a:tbl>
          </a:graphicData>
        </a:graphic>
      </p:graphicFrame>
      <p:pic>
        <p:nvPicPr>
          <p:cNvPr id="5" name="Picture 4" descr="TPM_overlay.png">
            <a:extLst>
              <a:ext uri="{FF2B5EF4-FFF2-40B4-BE49-F238E27FC236}">
                <a16:creationId xmlns:a16="http://schemas.microsoft.com/office/drawing/2014/main" id="{4EA0B682-77AA-5E6A-8B92-46F103BB75B4}"/>
              </a:ext>
            </a:extLst>
          </p:cNvPr>
          <p:cNvPicPr>
            <a:picLocks noChangeAspect="1"/>
          </p:cNvPicPr>
          <p:nvPr/>
        </p:nvPicPr>
        <p:blipFill>
          <a:blip r:embed="rId5"/>
          <a:stretch>
            <a:fillRect/>
          </a:stretch>
        </p:blipFill>
        <p:spPr>
          <a:xfrm>
            <a:off x="6336792" y="685800"/>
            <a:ext cx="2980944" cy="2980944"/>
          </a:xfrm>
          <a:prstGeom prst="rect">
            <a:avLst/>
          </a:prstGeom>
        </p:spPr>
      </p:pic>
      <p:pic>
        <p:nvPicPr>
          <p:cNvPr id="6" name="Picture 5" descr="TPM_bar.png">
            <a:extLst>
              <a:ext uri="{FF2B5EF4-FFF2-40B4-BE49-F238E27FC236}">
                <a16:creationId xmlns:a16="http://schemas.microsoft.com/office/drawing/2014/main" id="{F74DBA6F-5B94-9511-059C-C42DE51F5AF2}"/>
              </a:ext>
            </a:extLst>
          </p:cNvPr>
          <p:cNvPicPr>
            <a:picLocks noChangeAspect="1"/>
          </p:cNvPicPr>
          <p:nvPr/>
        </p:nvPicPr>
        <p:blipFill>
          <a:blip r:embed="rId6"/>
          <a:stretch>
            <a:fillRect/>
          </a:stretch>
        </p:blipFill>
        <p:spPr>
          <a:xfrm>
            <a:off x="9125712" y="667512"/>
            <a:ext cx="2980944" cy="2980944"/>
          </a:xfrm>
          <a:prstGeom prst="rect">
            <a:avLst/>
          </a:prstGeom>
        </p:spPr>
      </p:pic>
      <p:pic>
        <p:nvPicPr>
          <p:cNvPr id="7" name="Picture 6" descr="TPM_density.png">
            <a:extLst>
              <a:ext uri="{FF2B5EF4-FFF2-40B4-BE49-F238E27FC236}">
                <a16:creationId xmlns:a16="http://schemas.microsoft.com/office/drawing/2014/main" id="{050CF680-8D4C-7556-CC51-0C3C0E3C2E50}"/>
              </a:ext>
            </a:extLst>
          </p:cNvPr>
          <p:cNvPicPr>
            <a:picLocks noChangeAspect="1"/>
          </p:cNvPicPr>
          <p:nvPr/>
        </p:nvPicPr>
        <p:blipFill>
          <a:blip r:embed="rId7"/>
          <a:stretch>
            <a:fillRect/>
          </a:stretch>
        </p:blipFill>
        <p:spPr>
          <a:xfrm>
            <a:off x="9125712" y="3648456"/>
            <a:ext cx="2980944" cy="2980944"/>
          </a:xfrm>
          <a:prstGeom prst="rect">
            <a:avLst/>
          </a:prstGeom>
        </p:spPr>
      </p:pic>
      <p:sp>
        <p:nvSpPr>
          <p:cNvPr id="8" name="Oval 7">
            <a:extLst>
              <a:ext uri="{FF2B5EF4-FFF2-40B4-BE49-F238E27FC236}">
                <a16:creationId xmlns:a16="http://schemas.microsoft.com/office/drawing/2014/main" id="{5E064CBC-5101-BDF2-F180-43FB91A34906}"/>
              </a:ext>
            </a:extLst>
          </p:cNvPr>
          <p:cNvSpPr/>
          <p:nvPr/>
        </p:nvSpPr>
        <p:spPr>
          <a:xfrm>
            <a:off x="7179398" y="2806574"/>
            <a:ext cx="1511929" cy="622426"/>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8768FCF2-24AF-1517-C81C-28FAC4E60355}"/>
              </a:ext>
            </a:extLst>
          </p:cNvPr>
          <p:cNvSpPr txBox="1"/>
          <p:nvPr/>
        </p:nvSpPr>
        <p:spPr>
          <a:xfrm>
            <a:off x="6770299" y="1023678"/>
            <a:ext cx="1606748" cy="954107"/>
          </a:xfrm>
          <a:prstGeom prst="rect">
            <a:avLst/>
          </a:prstGeom>
          <a:noFill/>
        </p:spPr>
        <p:txBody>
          <a:bodyPr wrap="square" rtlCol="0">
            <a:normAutofit/>
          </a:bodyPr>
          <a:lstStyle/>
          <a:p>
            <a:r>
              <a:rPr lang="zh-CN" altLang="en-US" sz="1100" dirty="0"/>
              <a:t>The TPM of 4mcp oil decreased because thick bubbles on the heater obstructed capillary action.</a:t>
            </a:r>
            <a:r>
              <a:rPr lang="en-US" altLang="zh-CN" sz="1400" dirty="0"/>
              <a:t/>
            </a:r>
            <a:r>
              <a:rPr lang="en-US" sz="1400" dirty="0"/>
              <a:t/>
            </a:r>
            <a:r>
              <a:rPr lang="zh-CN" altLang="en-US" sz="1400" dirty="0"/>
              <a:t/>
            </a:r>
            <a:r>
              <a:rPr lang="en-US" sz="1400" dirty="0"/>
              <a:t/>
            </a:r>
            <a:r>
              <a:rPr lang="zh-CN" altLang="en-US" sz="1400" dirty="0"/>
              <a:t/>
            </a:r>
            <a:endParaRPr lang="en-US" sz="1400" dirty="0"/>
          </a:p>
        </p:txBody>
      </p:sp>
      <p:pic>
        <p:nvPicPr>
          <p:cNvPr id="12" name="Picture 11" descr="A close-up of a computer chip&#10;&#10;Description automatically generated">
            <a:extLst>
              <a:ext uri="{FF2B5EF4-FFF2-40B4-BE49-F238E27FC236}">
                <a16:creationId xmlns:a16="http://schemas.microsoft.com/office/drawing/2014/main" id="{FF23641B-6236-7F94-1224-4247B38952DB}"/>
              </a:ext>
            </a:extLst>
          </p:cNvPr>
          <p:cNvPicPr>
            <a:picLocks noChangeAspect="1"/>
          </p:cNvPicPr>
          <p:nvPr/>
        </p:nvPicPr>
        <p:blipFill>
          <a:blip r:embed="rId8"/>
          <a:srcRect l="8962" t="22276" b="22135"/>
          <a:stretch/>
        </p:blipFill>
        <p:spPr>
          <a:xfrm>
            <a:off x="6362979" y="3692588"/>
            <a:ext cx="2713783" cy="1242830"/>
          </a:xfrm>
          <a:prstGeom prst="rect">
            <a:avLst/>
          </a:prstGeom>
        </p:spPr>
      </p:pic>
      <p:pic>
        <p:nvPicPr>
          <p:cNvPr id="14" name="Picture 13" descr="Close-up of a machine&#10;&#10;Description automatically generated">
            <a:extLst>
              <a:ext uri="{FF2B5EF4-FFF2-40B4-BE49-F238E27FC236}">
                <a16:creationId xmlns:a16="http://schemas.microsoft.com/office/drawing/2014/main" id="{3E14A8CF-AE16-A84F-DD36-8354E1EB914B}"/>
              </a:ext>
            </a:extLst>
          </p:cNvPr>
          <p:cNvPicPr>
            <a:picLocks noChangeAspect="1"/>
          </p:cNvPicPr>
          <p:nvPr/>
        </p:nvPicPr>
        <p:blipFill>
          <a:blip r:embed="rId9"/>
          <a:srcRect l="9430" t="12915" b="12087"/>
          <a:stretch/>
        </p:blipFill>
        <p:spPr>
          <a:xfrm>
            <a:off x="6120035" y="4949424"/>
            <a:ext cx="2980945" cy="1286972"/>
          </a:xfrm>
          <a:prstGeom prst="rect">
            <a:avLst/>
          </a:prstGeom>
        </p:spPr>
      </p:pic>
      <p:sp>
        <p:nvSpPr>
          <p:cNvPr id="15" name="TextBox 14">
            <a:extLst>
              <a:ext uri="{FF2B5EF4-FFF2-40B4-BE49-F238E27FC236}">
                <a16:creationId xmlns:a16="http://schemas.microsoft.com/office/drawing/2014/main" id="{81A40035-72BB-C50E-3E39-D685403E0B07}"/>
              </a:ext>
            </a:extLst>
          </p:cNvPr>
          <p:cNvSpPr txBox="1"/>
          <p:nvPr/>
        </p:nvSpPr>
        <p:spPr>
          <a:xfrm>
            <a:off x="85344" y="5592910"/>
            <a:ext cx="6034691" cy="1015663"/>
          </a:xfrm>
          <a:prstGeom prst="rect">
            <a:avLst/>
          </a:prstGeom>
          <a:noFill/>
        </p:spPr>
        <p:txBody>
          <a:bodyPr wrap="square" rtlCol="0">
            <a:normAutofit/>
          </a:bodyPr>
          <a:lstStyle/>
          <a:p>
            <a:r>
              <a:rPr lang="en-US" altLang="zh-CN" sz="1200"/>
              <a:t>The heater for the 43kcp D8 sample seems to be cracked. Oil was observed above the air inlet, which can ultimately cause clogging. The side walls of the air inlet should minimize this issue.</a:t>
            </a:r>
            <a:r>
              <a:rPr lang="zh-CN" altLang="en-US" sz="1500"/>
              <a:t/>
            </a:r>
            <a:endParaRPr lang="en-US" sz="1500" dirty="0"/>
            <a:br/>
            <a:r>
              <a:rPr lang="en-US" altLang="zh-CN" sz="1200"/>
              <a:t>Leakage behind the heater indicates a risk of further clogging. We should study increasing the distance between the air inlet and the heater.</a:t>
            </a:r>
          </a:p>
        </p:txBody>
      </p:sp>
      <p:cxnSp>
        <p:nvCxnSpPr>
          <p:cNvPr id="17" name="Straight Arrow Connector 16">
            <a:extLst>
              <a:ext uri="{FF2B5EF4-FFF2-40B4-BE49-F238E27FC236}">
                <a16:creationId xmlns:a16="http://schemas.microsoft.com/office/drawing/2014/main" id="{1B9588F2-7840-6C0B-29AB-649DB0C153B4}"/>
              </a:ext>
            </a:extLst>
          </p:cNvPr>
          <p:cNvCxnSpPr>
            <a:cxnSpLocks/>
          </p:cNvCxnSpPr>
          <p:nvPr/>
        </p:nvCxnSpPr>
        <p:spPr>
          <a:xfrm>
            <a:off x="6095303" y="2018923"/>
            <a:ext cx="1129398" cy="210873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9C4057E5-7C4B-F9F4-A00D-F3F1F43DF804}"/>
              </a:ext>
            </a:extLst>
          </p:cNvPr>
          <p:cNvCxnSpPr>
            <a:cxnSpLocks/>
          </p:cNvCxnSpPr>
          <p:nvPr/>
        </p:nvCxnSpPr>
        <p:spPr>
          <a:xfrm>
            <a:off x="6100321" y="2044767"/>
            <a:ext cx="427228" cy="2735463"/>
          </a:xfrm>
          <a:prstGeom prst="straightConnector1">
            <a:avLst/>
          </a:prstGeom>
          <a:ln>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22" name="Straight Arrow Connector 21">
            <a:extLst>
              <a:ext uri="{FF2B5EF4-FFF2-40B4-BE49-F238E27FC236}">
                <a16:creationId xmlns:a16="http://schemas.microsoft.com/office/drawing/2014/main" id="{44673132-CF31-DC72-366C-8ECEF9C8E3F0}"/>
              </a:ext>
            </a:extLst>
          </p:cNvPr>
          <p:cNvCxnSpPr/>
          <p:nvPr/>
        </p:nvCxnSpPr>
        <p:spPr>
          <a:xfrm flipV="1">
            <a:off x="5866646" y="4780230"/>
            <a:ext cx="1520982" cy="92449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Oval 10">
            <a:extLst>
              <a:ext uri="{FF2B5EF4-FFF2-40B4-BE49-F238E27FC236}">
                <a16:creationId xmlns:a16="http://schemas.microsoft.com/office/drawing/2014/main" id="{FC94EC7B-D8F3-3959-77F1-9CC5DB94F395}"/>
              </a:ext>
            </a:extLst>
          </p:cNvPr>
          <p:cNvSpPr/>
          <p:nvPr/>
        </p:nvSpPr>
        <p:spPr>
          <a:xfrm>
            <a:off x="8155236" y="3801500"/>
            <a:ext cx="1133403" cy="1129636"/>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725564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2AB0A-0A67-94AD-AE87-9E68B339FF4D}"/>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425A4605-E415-756A-53E1-956B31C7D675}"/>
              </a:ext>
            </a:extLst>
          </p:cNvPr>
          <p:cNvPicPr>
            <a:picLocks noChangeAspect="1"/>
          </p:cNvPicPr>
          <p:nvPr/>
        </p:nvPicPr>
        <p:blipFill>
          <a:blip r:embed="rId3" cstate="screen">
            <a:alphaModFix amt="60000"/>
            <a:extLst>
              <a:ext uri="{28A0092B-C50C-407E-A947-70E740481C1C}">
                <a14:useLocalDpi xmlns:a14="http://schemas.microsoft.com/office/drawing/2010/main"/>
              </a:ext>
            </a:extLst>
          </a:blip>
          <a:stretch>
            <a:fillRect/>
          </a:stretch>
        </p:blipFill>
        <p:spPr>
          <a:xfrm>
            <a:off x="-361" y="-4159"/>
            <a:ext cx="12192361" cy="6857797"/>
          </a:xfrm>
          <a:prstGeom prst="rect">
            <a:avLst/>
          </a:prstGeom>
        </p:spPr>
      </p:pic>
      <p:sp>
        <p:nvSpPr>
          <p:cNvPr id="2" name="矩形 4">
            <a:extLst>
              <a:ext uri="{FF2B5EF4-FFF2-40B4-BE49-F238E27FC236}">
                <a16:creationId xmlns:a16="http://schemas.microsoft.com/office/drawing/2014/main" id="{7D2F868C-7B99-70FA-8022-8F0813E5C2E3}"/>
              </a:ext>
            </a:extLst>
          </p:cNvPr>
          <p:cNvSpPr/>
          <p:nvPr/>
        </p:nvSpPr>
        <p:spPr>
          <a:xfrm>
            <a:off x="640080" y="146304"/>
            <a:ext cx="5825697" cy="523220"/>
          </a:xfrm>
          <a:prstGeom prst="rect">
            <a:avLst/>
          </a:prstGeom>
        </p:spPr>
        <p:txBody>
          <a:bodyPr wrap="none">
            <a:spAutoFit/>
          </a:bodyPr>
          <a:lstStyle/>
          <a:p>
            <a:pPr lvl="0">
              <a:defRPr/>
            </a:pPr>
            <a:r>
              <a:rPr lang="en-US" altLang="zh-CN" sz="2800" dirty="0">
                <a:latin typeface="微软雅黑" panose="020B0503020204020204" pitchFamily="34" charset="-122"/>
                <a:ea typeface="微软雅黑" panose="020B0503020204020204" pitchFamily="34" charset="-122"/>
                <a:cs typeface="+mn-ea"/>
                <a:sym typeface="+mn-lt"/>
              </a:rPr>
              <a:t>Gembox 1-22 Long Puff </a:t>
            </a:r>
            <a:r>
              <a:rPr lang="zh-CN" altLang="en-US" sz="2800" dirty="0">
                <a:latin typeface="微软雅黑" panose="020B0503020204020204" pitchFamily="34" charset="-122"/>
                <a:ea typeface="微软雅黑" panose="020B0503020204020204" pitchFamily="34" charset="-122"/>
                <a:cs typeface="+mn-ea"/>
                <a:sym typeface="+mn-lt"/>
              </a:rPr>
              <a:t>测试结果</a:t>
            </a:r>
            <a:endParaRPr kumimoji="0" lang="zh-CN" altLang="en-US" sz="2800" i="0" u="none" strike="noStrike" kern="1200" cap="none" spc="0" normalizeH="0" baseline="0" noProof="0" dirty="0">
              <a:ln>
                <a:noFill/>
              </a:ln>
              <a:effectLst/>
              <a:uLnTx/>
              <a:uFillTx/>
              <a:latin typeface="Calibri" panose="020F0502020204030204"/>
              <a:ea typeface="宋体" panose="02010600030101010101" pitchFamily="2" charset="-122"/>
              <a:cs typeface="+mn-ea"/>
              <a:sym typeface="+mn-lt"/>
            </a:endParaRPr>
          </a:p>
        </p:txBody>
      </p:sp>
      <p:pic>
        <p:nvPicPr>
          <p:cNvPr id="4" name="Picture 3" descr="TPM_overlay.png">
            <a:extLst>
              <a:ext uri="{FF2B5EF4-FFF2-40B4-BE49-F238E27FC236}">
                <a16:creationId xmlns:a16="http://schemas.microsoft.com/office/drawing/2014/main" id="{C199AEFE-485D-E0B1-E40E-EBC5FA296C42}"/>
              </a:ext>
            </a:extLst>
          </p:cNvPr>
          <p:cNvPicPr>
            <a:picLocks noChangeAspect="1"/>
          </p:cNvPicPr>
          <p:nvPr/>
        </p:nvPicPr>
        <p:blipFill>
          <a:blip r:embed="rId4"/>
          <a:stretch>
            <a:fillRect/>
          </a:stretch>
        </p:blipFill>
        <p:spPr>
          <a:xfrm>
            <a:off x="6861893" y="813816"/>
            <a:ext cx="4982635" cy="4982635"/>
          </a:xfrm>
          <a:prstGeom prst="rect">
            <a:avLst/>
          </a:prstGeom>
        </p:spPr>
      </p:pic>
      <p:pic>
        <p:nvPicPr>
          <p:cNvPr id="7" name="Picture 6">
            <a:extLst>
              <a:ext uri="{FF2B5EF4-FFF2-40B4-BE49-F238E27FC236}">
                <a16:creationId xmlns:a16="http://schemas.microsoft.com/office/drawing/2014/main" id="{AA628942-310A-0B29-F697-D403CD5F741A}"/>
              </a:ext>
            </a:extLst>
          </p:cNvPr>
          <p:cNvPicPr>
            <a:picLocks noChangeAspect="1"/>
          </p:cNvPicPr>
          <p:nvPr/>
        </p:nvPicPr>
        <p:blipFill>
          <a:blip r:embed="rId5"/>
          <a:stretch>
            <a:fillRect/>
          </a:stretch>
        </p:blipFill>
        <p:spPr>
          <a:xfrm>
            <a:off x="10201998" y="91033"/>
            <a:ext cx="1436172" cy="485446"/>
          </a:xfrm>
          <a:prstGeom prst="rect">
            <a:avLst/>
          </a:prstGeom>
        </p:spPr>
      </p:pic>
      <p:graphicFrame>
        <p:nvGraphicFramePr>
          <p:cNvPr id="8" name="Table 7">
            <a:extLst>
              <a:ext uri="{FF2B5EF4-FFF2-40B4-BE49-F238E27FC236}">
                <a16:creationId xmlns:a16="http://schemas.microsoft.com/office/drawing/2014/main" id="{6A8369D9-CDD0-4F34-04E5-9F0D651310CF}"/>
              </a:ext>
            </a:extLst>
          </p:cNvPr>
          <p:cNvGraphicFramePr>
            <a:graphicFrameLocks noGrp="1"/>
          </p:cNvGraphicFramePr>
          <p:nvPr/>
        </p:nvGraphicFramePr>
        <p:xfrm>
          <a:off x="347472" y="813816"/>
          <a:ext cx="6243454" cy="5897880"/>
        </p:xfrm>
        <a:graphic>
          <a:graphicData uri="http://schemas.openxmlformats.org/drawingml/2006/table">
            <a:tbl>
              <a:tblPr firstRow="1" bandRow="1">
                <a:tableStyleId>{5C22544A-7EE6-4342-B048-85BDC9FD1C3A}</a:tableStyleId>
              </a:tblPr>
              <a:tblGrid>
                <a:gridCol w="891922">
                  <a:extLst>
                    <a:ext uri="{9D8B030D-6E8A-4147-A177-3AD203B41FA5}">
                      <a16:colId xmlns:a16="http://schemas.microsoft.com/office/drawing/2014/main" val="20000"/>
                    </a:ext>
                  </a:extLst>
                </a:gridCol>
                <a:gridCol w="891922">
                  <a:extLst>
                    <a:ext uri="{9D8B030D-6E8A-4147-A177-3AD203B41FA5}">
                      <a16:colId xmlns:a16="http://schemas.microsoft.com/office/drawing/2014/main" val="20001"/>
                    </a:ext>
                  </a:extLst>
                </a:gridCol>
                <a:gridCol w="891922">
                  <a:extLst>
                    <a:ext uri="{9D8B030D-6E8A-4147-A177-3AD203B41FA5}">
                      <a16:colId xmlns:a16="http://schemas.microsoft.com/office/drawing/2014/main" val="20002"/>
                    </a:ext>
                  </a:extLst>
                </a:gridCol>
                <a:gridCol w="891922">
                  <a:extLst>
                    <a:ext uri="{9D8B030D-6E8A-4147-A177-3AD203B41FA5}">
                      <a16:colId xmlns:a16="http://schemas.microsoft.com/office/drawing/2014/main" val="20003"/>
                    </a:ext>
                  </a:extLst>
                </a:gridCol>
                <a:gridCol w="891922">
                  <a:extLst>
                    <a:ext uri="{9D8B030D-6E8A-4147-A177-3AD203B41FA5}">
                      <a16:colId xmlns:a16="http://schemas.microsoft.com/office/drawing/2014/main" val="2056890"/>
                    </a:ext>
                  </a:extLst>
                </a:gridCol>
                <a:gridCol w="891922">
                  <a:extLst>
                    <a:ext uri="{9D8B030D-6E8A-4147-A177-3AD203B41FA5}">
                      <a16:colId xmlns:a16="http://schemas.microsoft.com/office/drawing/2014/main" val="20006"/>
                    </a:ext>
                  </a:extLst>
                </a:gridCol>
                <a:gridCol w="891922">
                  <a:extLst>
                    <a:ext uri="{9D8B030D-6E8A-4147-A177-3AD203B41FA5}">
                      <a16:colId xmlns:a16="http://schemas.microsoft.com/office/drawing/2014/main" val="20007"/>
                    </a:ext>
                  </a:extLst>
                </a:gridCol>
              </a:tblGrid>
              <a:tr h="1179576">
                <a:tc>
                  <a:txBody>
                    <a:bodyPr/>
                    <a:lstStyle/>
                    <a:p>
                      <a:pPr algn="ctr"/>
                      <a:r>
                        <a:rPr sz="1000"/>
                        <a:t>Design and Oil</a:t>
                      </a:r>
                    </a:p>
                  </a:txBody>
                  <a:tcPr anchor="ctr"/>
                </a:tc>
                <a:tc>
                  <a:txBody>
                    <a:bodyPr/>
                    <a:lstStyle/>
                    <a:p>
                      <a:pPr algn="ctr"/>
                      <a:r>
                        <a:rPr sz="1000"/>
                        <a:t>Power</a:t>
                      </a:r>
                    </a:p>
                  </a:txBody>
                  <a:tcPr anchor="ctr"/>
                </a:tc>
                <a:tc>
                  <a:txBody>
                    <a:bodyPr/>
                    <a:lstStyle/>
                    <a:p>
                      <a:pPr algn="ctr"/>
                      <a:r>
                        <a:rPr sz="1000"/>
                        <a:t>Resistance</a:t>
                      </a:r>
                    </a:p>
                  </a:txBody>
                  <a:tcPr anchor="ctr"/>
                </a:tc>
                <a:tc>
                  <a:txBody>
                    <a:bodyPr/>
                    <a:lstStyle/>
                    <a:p>
                      <a:pPr algn="ctr"/>
                      <a:r>
                        <a:rPr sz="1000"/>
                        <a:t>Regime</a:t>
                      </a:r>
                    </a:p>
                  </a:txBody>
                  <a:tcPr anchor="ctr"/>
                </a:tc>
                <a:tc>
                  <a:txBody>
                    <a:bodyPr/>
                    <a:lstStyle/>
                    <a:p>
                      <a:pPr algn="ctr"/>
                      <a:r>
                        <a:rPr lang="en-US" sz="1000" dirty="0"/>
                        <a:t>Draw Resistance</a:t>
                      </a:r>
                      <a:endParaRPr sz="1000" dirty="0"/>
                    </a:p>
                  </a:txBody>
                  <a:tcPr anchor="ctr"/>
                </a:tc>
                <a:tc>
                  <a:txBody>
                    <a:bodyPr/>
                    <a:lstStyle/>
                    <a:p>
                      <a:pPr algn="ctr"/>
                      <a:r>
                        <a:rPr sz="1000" dirty="0"/>
                        <a:t>SDR Result</a:t>
                      </a:r>
                    </a:p>
                  </a:txBody>
                  <a:tcPr anchor="ctr"/>
                </a:tc>
                <a:tc>
                  <a:txBody>
                    <a:bodyPr/>
                    <a:lstStyle/>
                    <a:p>
                      <a:pPr algn="ctr"/>
                      <a:r>
                        <a:rPr sz="1000" dirty="0"/>
                        <a:t>Notes</a:t>
                      </a:r>
                    </a:p>
                  </a:txBody>
                  <a:tcPr anchor="ctr"/>
                </a:tc>
                <a:extLst>
                  <a:ext uri="{0D108BD9-81ED-4DB2-BD59-A6C34878D82A}">
                    <a16:rowId xmlns:a16="http://schemas.microsoft.com/office/drawing/2014/main" val="10000"/>
                  </a:ext>
                </a:extLst>
              </a:tr>
              <a:tr h="1179576">
                <a:tc>
                  <a:txBody>
                    <a:bodyPr/>
                    <a:lstStyle/>
                    <a:p>
                      <a:pPr algn="ctr"/>
                      <a:r>
                        <a:rPr sz="1000" dirty="0"/>
                        <a:t>Gemb</a:t>
                      </a:r>
                      <a:r>
                        <a:rPr lang="en-US" sz="1000" dirty="0"/>
                        <a:t>ox</a:t>
                      </a:r>
                      <a:r>
                        <a:rPr sz="1000" dirty="0"/>
                        <a:t> Long-1 700kcp D8</a:t>
                      </a:r>
                    </a:p>
                  </a:txBody>
                  <a:tcPr anchor="ctr"/>
                </a:tc>
                <a:tc>
                  <a:txBody>
                    <a:bodyPr/>
                    <a:lstStyle/>
                    <a:p>
                      <a:pPr algn="ctr"/>
                      <a:r>
                        <a:rPr sz="1000" dirty="0"/>
                        <a:t>4.45W</a:t>
                      </a:r>
                    </a:p>
                  </a:txBody>
                  <a:tcPr anchor="ctr"/>
                </a:tc>
                <a:tc>
                  <a:txBody>
                    <a:bodyPr/>
                    <a:lstStyle/>
                    <a:p>
                      <a:pPr algn="ctr"/>
                      <a:r>
                        <a:rPr sz="1000"/>
                        <a:t>2.3</a:t>
                      </a:r>
                    </a:p>
                  </a:txBody>
                  <a:tcPr anchor="ctr"/>
                </a:tc>
                <a:tc rowSpan="4">
                  <a:txBody>
                    <a:bodyPr/>
                    <a:lstStyle/>
                    <a:p>
                      <a:pPr algn="ctr"/>
                      <a:r>
                        <a:rPr lang="en-US" sz="1000" dirty="0"/>
                        <a:t>100mL/5s, 160mL/8s, 200mL/10s</a:t>
                      </a:r>
                    </a:p>
                  </a:txBody>
                  <a:tcPr anchor="ctr"/>
                </a:tc>
                <a:tc>
                  <a:txBody>
                    <a:bodyPr/>
                    <a:lstStyle/>
                    <a:p>
                      <a:pPr algn="ctr"/>
                      <a:r>
                        <a:rPr lang="en-US" sz="1000" dirty="0"/>
                        <a:t>0.842</a:t>
                      </a:r>
                      <a:endParaRPr sz="1000" dirty="0"/>
                    </a:p>
                  </a:txBody>
                  <a:tcPr anchor="ctr"/>
                </a:tc>
                <a:tc>
                  <a:txBody>
                    <a:bodyPr/>
                    <a:lstStyle/>
                    <a:p>
                      <a:pPr algn="ctr"/>
                      <a:r>
                        <a:rPr lang="zh-CN" altLang="en-US" sz="1000" dirty="0"/>
                        <a:t>No problem</a:t>
                      </a:r>
                      <a:endParaRPr sz="1000" dirty="0"/>
                    </a:p>
                  </a:txBody>
                  <a:tcPr anchor="ctr"/>
                </a:tc>
                <a:tc>
                  <a:txBody>
                    <a:bodyPr/>
                    <a:lstStyle/>
                    <a:p>
                      <a:pPr algn="ctr"/>
                      <a:endParaRPr sz="1000" dirty="0"/>
                    </a:p>
                  </a:txBody>
                  <a:tcPr anchor="ctr"/>
                </a:tc>
                <a:extLst>
                  <a:ext uri="{0D108BD9-81ED-4DB2-BD59-A6C34878D82A}">
                    <a16:rowId xmlns:a16="http://schemas.microsoft.com/office/drawing/2014/main" val="10001"/>
                  </a:ext>
                </a:extLst>
              </a:tr>
              <a:tr h="1179576">
                <a:tc>
                  <a:txBody>
                    <a:bodyPr/>
                    <a:lstStyle/>
                    <a:p>
                      <a:pPr algn="ctr"/>
                      <a:r>
                        <a:rPr sz="1000" dirty="0"/>
                        <a:t>Gemb</a:t>
                      </a:r>
                      <a:r>
                        <a:rPr lang="en-US" sz="1000" dirty="0"/>
                        <a:t>ox</a:t>
                      </a:r>
                      <a:r>
                        <a:rPr sz="1000" dirty="0"/>
                        <a:t> Long-2 700kcp D8</a:t>
                      </a:r>
                    </a:p>
                  </a:txBody>
                  <a:tcPr anchor="ctr"/>
                </a:tc>
                <a:tc>
                  <a:txBody>
                    <a:bodyPr/>
                    <a:lstStyle/>
                    <a:p>
                      <a:pPr algn="ctr"/>
                      <a:r>
                        <a:rPr sz="1000" dirty="0"/>
                        <a:t>4.45W</a:t>
                      </a:r>
                    </a:p>
                  </a:txBody>
                  <a:tcPr anchor="ctr"/>
                </a:tc>
                <a:tc>
                  <a:txBody>
                    <a:bodyPr/>
                    <a:lstStyle/>
                    <a:p>
                      <a:pPr algn="ctr"/>
                      <a:r>
                        <a:rPr sz="1000"/>
                        <a:t>2.3</a:t>
                      </a:r>
                    </a:p>
                  </a:txBody>
                  <a:tcPr anchor="ctr"/>
                </a:tc>
                <a:tc vMerge="1">
                  <a:txBody>
                    <a:bodyPr/>
                    <a:lstStyle/>
                    <a:p>
                      <a:pPr algn="ctr"/>
                      <a:endParaRPr sz="1000" dirty="0"/>
                    </a:p>
                  </a:txBody>
                  <a:tcPr anchor="ctr"/>
                </a:tc>
                <a:tc>
                  <a:txBody>
                    <a:bodyPr/>
                    <a:lstStyle/>
                    <a:p>
                      <a:pPr algn="ctr"/>
                      <a:r>
                        <a:rPr lang="en-US" sz="1000" dirty="0"/>
                        <a:t>0.528</a:t>
                      </a:r>
                      <a:endParaRPr sz="1000" dirty="0"/>
                    </a:p>
                  </a:txBody>
                  <a:tcPr anchor="ctr"/>
                </a:tc>
                <a:tc>
                  <a:txBody>
                    <a:bodyPr/>
                    <a:lstStyle/>
                    <a:p>
                      <a:pPr algn="ctr"/>
                      <a:r>
                        <a:rPr lang="zh-CN" altLang="en-US" sz="1000" dirty="0"/>
                        <a:t>No problem</a:t>
                      </a:r>
                      <a:endParaRPr sz="1000" dirty="0"/>
                    </a:p>
                  </a:txBody>
                  <a:tcPr anchor="ctr"/>
                </a:tc>
                <a:tc>
                  <a:txBody>
                    <a:bodyPr/>
                    <a:lstStyle/>
                    <a:p>
                      <a:pPr algn="ctr"/>
                      <a:endParaRPr sz="1000" dirty="0"/>
                    </a:p>
                  </a:txBody>
                  <a:tcPr anchor="ctr"/>
                </a:tc>
                <a:extLst>
                  <a:ext uri="{0D108BD9-81ED-4DB2-BD59-A6C34878D82A}">
                    <a16:rowId xmlns:a16="http://schemas.microsoft.com/office/drawing/2014/main" val="10002"/>
                  </a:ext>
                </a:extLst>
              </a:tr>
              <a:tr h="1179576">
                <a:tc>
                  <a:txBody>
                    <a:bodyPr/>
                    <a:lstStyle/>
                    <a:p>
                      <a:pPr algn="ctr"/>
                      <a:r>
                        <a:rPr sz="1000" dirty="0"/>
                        <a:t>Gemb</a:t>
                      </a:r>
                      <a:r>
                        <a:rPr lang="en-US" sz="1000" dirty="0"/>
                        <a:t>ox</a:t>
                      </a:r>
                      <a:r>
                        <a:rPr sz="1000" dirty="0"/>
                        <a:t> Long-3 700kcp D8</a:t>
                      </a:r>
                    </a:p>
                  </a:txBody>
                  <a:tcPr anchor="ctr"/>
                </a:tc>
                <a:tc>
                  <a:txBody>
                    <a:bodyPr/>
                    <a:lstStyle/>
                    <a:p>
                      <a:pPr algn="ctr"/>
                      <a:r>
                        <a:rPr sz="1000" dirty="0"/>
                        <a:t>4.45W</a:t>
                      </a:r>
                    </a:p>
                  </a:txBody>
                  <a:tcPr anchor="ctr"/>
                </a:tc>
                <a:tc>
                  <a:txBody>
                    <a:bodyPr/>
                    <a:lstStyle/>
                    <a:p>
                      <a:pPr algn="ctr"/>
                      <a:r>
                        <a:rPr sz="1000"/>
                        <a:t>2.3</a:t>
                      </a:r>
                    </a:p>
                  </a:txBody>
                  <a:tcPr anchor="ctr"/>
                </a:tc>
                <a:tc vMerge="1">
                  <a:txBody>
                    <a:bodyPr/>
                    <a:lstStyle/>
                    <a:p>
                      <a:pPr algn="ctr"/>
                      <a:endParaRPr sz="1000" dirty="0"/>
                    </a:p>
                  </a:txBody>
                  <a:tcPr anchor="ctr"/>
                </a:tc>
                <a:tc>
                  <a:txBody>
                    <a:bodyPr/>
                    <a:lstStyle/>
                    <a:p>
                      <a:pPr algn="ctr"/>
                      <a:r>
                        <a:rPr lang="en-US" sz="1000" dirty="0"/>
                        <a:t>1.032</a:t>
                      </a:r>
                      <a:endParaRPr sz="1000" dirty="0"/>
                    </a:p>
                  </a:txBody>
                  <a:tcPr anchor="ctr"/>
                </a:tc>
                <a:tc>
                  <a:txBody>
                    <a:bodyPr/>
                    <a:lstStyle/>
                    <a:p>
                      <a:pPr algn="ctr"/>
                      <a:r>
                        <a:rPr lang="zh-CN" altLang="en-US" sz="1000" dirty="0"/>
                        <a:t>No problem</a:t>
                      </a:r>
                      <a:endParaRPr sz="1000" dirty="0"/>
                    </a:p>
                  </a:txBody>
                  <a:tcPr anchor="ctr"/>
                </a:tc>
                <a:tc>
                  <a:txBody>
                    <a:bodyPr/>
                    <a:lstStyle/>
                    <a:p>
                      <a:pPr algn="ctr"/>
                      <a:endParaRPr sz="1000" dirty="0"/>
                    </a:p>
                  </a:txBody>
                  <a:tcPr anchor="ctr"/>
                </a:tc>
                <a:extLst>
                  <a:ext uri="{0D108BD9-81ED-4DB2-BD59-A6C34878D82A}">
                    <a16:rowId xmlns:a16="http://schemas.microsoft.com/office/drawing/2014/main" val="10003"/>
                  </a:ext>
                </a:extLst>
              </a:tr>
              <a:tr h="1179576">
                <a:tc>
                  <a:txBody>
                    <a:bodyPr/>
                    <a:lstStyle/>
                    <a:p>
                      <a:pPr algn="ctr"/>
                      <a:r>
                        <a:rPr sz="1000" dirty="0"/>
                        <a:t>Gemb</a:t>
                      </a:r>
                      <a:r>
                        <a:rPr lang="en-US" sz="1000" dirty="0"/>
                        <a:t>ox</a:t>
                      </a:r>
                      <a:r>
                        <a:rPr sz="1000" dirty="0"/>
                        <a:t> Long-4 700kcp D8</a:t>
                      </a:r>
                    </a:p>
                  </a:txBody>
                  <a:tcPr anchor="ctr"/>
                </a:tc>
                <a:tc>
                  <a:txBody>
                    <a:bodyPr/>
                    <a:lstStyle/>
                    <a:p>
                      <a:pPr algn="ctr"/>
                      <a:r>
                        <a:rPr sz="1000" dirty="0"/>
                        <a:t>4.45W</a:t>
                      </a:r>
                    </a:p>
                  </a:txBody>
                  <a:tcPr anchor="ctr"/>
                </a:tc>
                <a:tc>
                  <a:txBody>
                    <a:bodyPr/>
                    <a:lstStyle/>
                    <a:p>
                      <a:pPr algn="ctr"/>
                      <a:r>
                        <a:rPr sz="1000"/>
                        <a:t>2.3</a:t>
                      </a:r>
                    </a:p>
                  </a:txBody>
                  <a:tcPr anchor="ctr"/>
                </a:tc>
                <a:tc vMerge="1">
                  <a:txBody>
                    <a:bodyPr/>
                    <a:lstStyle/>
                    <a:p>
                      <a:pPr algn="ctr"/>
                      <a:endParaRPr sz="1000" dirty="0"/>
                    </a:p>
                  </a:txBody>
                  <a:tcPr anchor="ctr"/>
                </a:tc>
                <a:tc>
                  <a:txBody>
                    <a:bodyPr/>
                    <a:lstStyle/>
                    <a:p>
                      <a:pPr algn="ctr"/>
                      <a:r>
                        <a:rPr lang="en-US" sz="1000" dirty="0"/>
                        <a:t>0.392</a:t>
                      </a:r>
                      <a:endParaRPr sz="1000" dirty="0"/>
                    </a:p>
                  </a:txBody>
                  <a:tcPr anchor="ctr"/>
                </a:tc>
                <a:tc>
                  <a:txBody>
                    <a:bodyPr/>
                    <a:lstStyle/>
                    <a:p>
                      <a:pPr algn="ctr"/>
                      <a:r>
                        <a:rPr lang="en-US" sz="1000" dirty="0"/>
                        <a:t>Draw Resistance </a:t>
                      </a:r>
                      <a:r>
                        <a:rPr lang="zh-CN" altLang="en-US" sz="1000" dirty="0"/>
                        <a:t>很低</a:t>
                      </a:r>
                      <a:endParaRPr sz="1000" dirty="0"/>
                    </a:p>
                  </a:txBody>
                  <a:tcPr anchor="ctr"/>
                </a:tc>
                <a:tc>
                  <a:txBody>
                    <a:bodyPr/>
                    <a:lstStyle/>
                    <a:p>
                      <a:pPr algn="ctr"/>
                      <a:r>
                        <a:rPr lang="zh-CN" altLang="en-US" sz="1000" dirty="0"/>
                        <a:t>No activation issues even at low tensile strength</a:t>
                      </a:r>
                      <a:endParaRPr sz="1000" dirty="0"/>
                    </a:p>
                  </a:txBody>
                  <a:tcPr anchor="ctr"/>
                </a:tc>
                <a:extLst>
                  <a:ext uri="{0D108BD9-81ED-4DB2-BD59-A6C34878D82A}">
                    <a16:rowId xmlns:a16="http://schemas.microsoft.com/office/drawing/2014/main" val="10004"/>
                  </a:ext>
                </a:extLst>
              </a:tr>
            </a:tbl>
          </a:graphicData>
        </a:graphic>
      </p:graphicFrame>
      <p:cxnSp>
        <p:nvCxnSpPr>
          <p:cNvPr id="10" name="Straight Connector 9">
            <a:extLst>
              <a:ext uri="{FF2B5EF4-FFF2-40B4-BE49-F238E27FC236}">
                <a16:creationId xmlns:a16="http://schemas.microsoft.com/office/drawing/2014/main" id="{7BE63357-F311-8523-3482-195CEB623907}"/>
              </a:ext>
            </a:extLst>
          </p:cNvPr>
          <p:cNvCxnSpPr>
            <a:cxnSpLocks/>
          </p:cNvCxnSpPr>
          <p:nvPr/>
        </p:nvCxnSpPr>
        <p:spPr>
          <a:xfrm flipV="1">
            <a:off x="8393393" y="1421394"/>
            <a:ext cx="0" cy="3838669"/>
          </a:xfrm>
          <a:prstGeom prst="line">
            <a:avLst/>
          </a:prstGeom>
          <a:ln w="19050" cap="flat" cmpd="sng" algn="ctr">
            <a:solidFill>
              <a:srgbClr val="FF0000"/>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1" name="Straight Connector 10">
            <a:extLst>
              <a:ext uri="{FF2B5EF4-FFF2-40B4-BE49-F238E27FC236}">
                <a16:creationId xmlns:a16="http://schemas.microsoft.com/office/drawing/2014/main" id="{D0AE0B73-5338-1FB5-C168-D0D3D944B570}"/>
              </a:ext>
            </a:extLst>
          </p:cNvPr>
          <p:cNvCxnSpPr>
            <a:cxnSpLocks/>
          </p:cNvCxnSpPr>
          <p:nvPr/>
        </p:nvCxnSpPr>
        <p:spPr>
          <a:xfrm flipV="1">
            <a:off x="9797397" y="1421394"/>
            <a:ext cx="0" cy="3838669"/>
          </a:xfrm>
          <a:prstGeom prst="line">
            <a:avLst/>
          </a:prstGeom>
          <a:ln w="19050" cap="flat" cmpd="sng" algn="ctr">
            <a:solidFill>
              <a:srgbClr val="FF0000"/>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2" name="TextBox 11">
            <a:extLst>
              <a:ext uri="{FF2B5EF4-FFF2-40B4-BE49-F238E27FC236}">
                <a16:creationId xmlns:a16="http://schemas.microsoft.com/office/drawing/2014/main" id="{C132079E-054C-ADAD-EE69-A3587D3BCB8C}"/>
              </a:ext>
            </a:extLst>
          </p:cNvPr>
          <p:cNvSpPr txBox="1"/>
          <p:nvPr/>
        </p:nvSpPr>
        <p:spPr>
          <a:xfrm>
            <a:off x="7729726" y="4605836"/>
            <a:ext cx="632389" cy="584775"/>
          </a:xfrm>
          <a:prstGeom prst="rect">
            <a:avLst/>
          </a:prstGeom>
          <a:noFill/>
        </p:spPr>
        <p:txBody>
          <a:bodyPr wrap="square" rtlCol="0">
            <a:spAutoFit/>
          </a:bodyPr>
          <a:lstStyle/>
          <a:p>
            <a:r>
              <a:rPr lang="en-US" sz="1600" dirty="0"/>
              <a:t>5s Puff</a:t>
            </a:r>
            <a:r>
              <a:rPr lang="zh-CN" altLang="en-US" sz="1600" dirty="0"/>
              <a:t/>
            </a:r>
            <a:endParaRPr lang="en-US" sz="1600" dirty="0"/>
          </a:p>
        </p:txBody>
      </p:sp>
      <p:sp>
        <p:nvSpPr>
          <p:cNvPr id="13" name="TextBox 12">
            <a:extLst>
              <a:ext uri="{FF2B5EF4-FFF2-40B4-BE49-F238E27FC236}">
                <a16:creationId xmlns:a16="http://schemas.microsoft.com/office/drawing/2014/main" id="{96BE7DBA-C6C9-2B54-27E0-0C8F80890416}"/>
              </a:ext>
            </a:extLst>
          </p:cNvPr>
          <p:cNvSpPr txBox="1"/>
          <p:nvPr/>
        </p:nvSpPr>
        <p:spPr>
          <a:xfrm>
            <a:off x="8827570" y="4568144"/>
            <a:ext cx="632389" cy="338554"/>
          </a:xfrm>
          <a:prstGeom prst="rect">
            <a:avLst/>
          </a:prstGeom>
          <a:noFill/>
        </p:spPr>
        <p:txBody>
          <a:bodyPr wrap="square" rtlCol="0">
            <a:normAutofit/>
          </a:bodyPr>
          <a:lstStyle/>
          <a:p>
            <a:r>
              <a:rPr lang="en-US" sz="1000" dirty="0"/>
              <a:t>8s Blow</a:t>
            </a:r>
            <a:r>
              <a:rPr lang="zh-CN" altLang="en-US" sz="1600" dirty="0"/>
              <a:t/>
            </a:r>
            <a:endParaRPr lang="en-US" sz="1600" dirty="0"/>
          </a:p>
        </p:txBody>
      </p:sp>
      <p:sp>
        <p:nvSpPr>
          <p:cNvPr id="14" name="TextBox 13">
            <a:extLst>
              <a:ext uri="{FF2B5EF4-FFF2-40B4-BE49-F238E27FC236}">
                <a16:creationId xmlns:a16="http://schemas.microsoft.com/office/drawing/2014/main" id="{062AB89E-6B86-EE27-B6B4-8768992A3A7F}"/>
              </a:ext>
            </a:extLst>
          </p:cNvPr>
          <p:cNvSpPr txBox="1"/>
          <p:nvPr/>
        </p:nvSpPr>
        <p:spPr>
          <a:xfrm>
            <a:off x="10287695" y="4558191"/>
            <a:ext cx="632389" cy="584775"/>
          </a:xfrm>
          <a:prstGeom prst="rect">
            <a:avLst/>
          </a:prstGeom>
          <a:noFill/>
        </p:spPr>
        <p:txBody>
          <a:bodyPr wrap="square" rtlCol="0">
            <a:spAutoFit/>
          </a:bodyPr>
          <a:lstStyle/>
          <a:p>
            <a:r>
              <a:rPr lang="en-US" sz="1600" dirty="0"/>
              <a:t>10s </a:t>
            </a:r>
            <a:r>
              <a:rPr lang="zh-CN" altLang="en-US" sz="1600" dirty="0"/>
              <a:t>吹</a:t>
            </a:r>
            <a:endParaRPr lang="en-US" sz="1600" dirty="0"/>
          </a:p>
        </p:txBody>
      </p:sp>
    </p:spTree>
    <p:extLst>
      <p:ext uri="{BB962C8B-B14F-4D97-AF65-F5344CB8AC3E}">
        <p14:creationId xmlns:p14="http://schemas.microsoft.com/office/powerpoint/2010/main" val="4811846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56BE1E-8BBB-0C4D-59A6-F28FF0E0EBC9}"/>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4981D2DB-BAB9-1949-0374-CA2F7BB17C8A}"/>
              </a:ext>
            </a:extLst>
          </p:cNvPr>
          <p:cNvPicPr>
            <a:picLocks noChangeAspect="1"/>
          </p:cNvPicPr>
          <p:nvPr/>
        </p:nvPicPr>
        <p:blipFill>
          <a:blip r:embed="rId3" cstate="screen">
            <a:alphaModFix amt="60000"/>
            <a:extLst>
              <a:ext uri="{28A0092B-C50C-407E-A947-70E740481C1C}">
                <a14:useLocalDpi xmlns:a14="http://schemas.microsoft.com/office/drawing/2010/main"/>
              </a:ext>
            </a:extLst>
          </a:blip>
          <a:stretch>
            <a:fillRect/>
          </a:stretch>
        </p:blipFill>
        <p:spPr>
          <a:xfrm>
            <a:off x="-361" y="13947"/>
            <a:ext cx="12192361" cy="6857797"/>
          </a:xfrm>
          <a:prstGeom prst="rect">
            <a:avLst/>
          </a:prstGeom>
        </p:spPr>
      </p:pic>
      <p:pic>
        <p:nvPicPr>
          <p:cNvPr id="4" name="Picture 3">
            <a:extLst>
              <a:ext uri="{FF2B5EF4-FFF2-40B4-BE49-F238E27FC236}">
                <a16:creationId xmlns:a16="http://schemas.microsoft.com/office/drawing/2014/main" id="{03218219-6114-F1E9-AF52-84548EBBE50A}"/>
              </a:ext>
            </a:extLst>
          </p:cNvPr>
          <p:cNvPicPr>
            <a:picLocks noChangeAspect="1"/>
          </p:cNvPicPr>
          <p:nvPr/>
        </p:nvPicPr>
        <p:blipFill>
          <a:blip r:embed="rId4"/>
          <a:stretch>
            <a:fillRect/>
          </a:stretch>
        </p:blipFill>
        <p:spPr>
          <a:xfrm>
            <a:off x="10201998" y="91033"/>
            <a:ext cx="1436172" cy="485446"/>
          </a:xfrm>
          <a:prstGeom prst="rect">
            <a:avLst/>
          </a:prstGeom>
        </p:spPr>
      </p:pic>
      <p:sp>
        <p:nvSpPr>
          <p:cNvPr id="2" name="矩形 4">
            <a:extLst>
              <a:ext uri="{FF2B5EF4-FFF2-40B4-BE49-F238E27FC236}">
                <a16:creationId xmlns:a16="http://schemas.microsoft.com/office/drawing/2014/main" id="{B4A10F04-DB65-ED82-12A9-15FE4CCB41B2}"/>
              </a:ext>
            </a:extLst>
          </p:cNvPr>
          <p:cNvSpPr/>
          <p:nvPr/>
        </p:nvSpPr>
        <p:spPr>
          <a:xfrm>
            <a:off x="640080" y="146304"/>
            <a:ext cx="4778937" cy="523220"/>
          </a:xfrm>
          <a:prstGeom prst="rect">
            <a:avLst/>
          </a:prstGeom>
        </p:spPr>
        <p:txBody>
          <a:bodyPr wrap="none">
            <a:normAutofit/>
          </a:bodyPr>
          <a:lstStyle/>
          <a:p>
            <a:pPr lvl="0">
              <a:defRPr/>
            </a:pPr>
            <a:r>
              <a:rPr lang="en-US" altLang="zh-CN" sz="1400">
                <a:latin typeface="微软雅黑" panose="020B0503020204020204" pitchFamily="34" charset="-122"/>
                <a:ea typeface="微软雅黑" panose="020B0503020204020204" pitchFamily="34" charset="-122"/>
                <a:cs typeface="+mn-ea"/>
                <a:sym typeface="+mn-lt"/>
              </a:rPr>
              <a:t>Gembox 1-22 High Temperature and Humidity Results</a:t>
            </a:r>
            <a:r>
              <a:rPr lang="zh-CN" altLang="en-US" sz="2800">
                <a:latin typeface="微软雅黑" panose="020B0503020204020204" pitchFamily="34" charset="-122"/>
                <a:ea typeface="微软雅黑" panose="020B0503020204020204" pitchFamily="34" charset="-122"/>
                <a:cs typeface="+mn-ea"/>
                <a:sym typeface="+mn-lt"/>
              </a:rPr>
              <a:t/>
            </a:r>
            <a:endParaRPr kumimoji="0" lang="zh-CN" altLang="en-US" sz="2800" i="0" u="none" strike="noStrike" kern="1200" cap="none" spc="0" normalizeH="0" baseline="0" noProof="0" dirty="0">
              <a:ln>
                <a:noFill/>
              </a:ln>
              <a:effectLst/>
              <a:uLnTx/>
              <a:uFillTx/>
              <a:latin typeface="Calibri" panose="020F0502020204030204"/>
              <a:ea typeface="宋体" panose="02010600030101010101" pitchFamily="2" charset="-122"/>
              <a:cs typeface="+mn-ea"/>
              <a:sym typeface="+mn-lt"/>
            </a:endParaRPr>
          </a:p>
        </p:txBody>
      </p:sp>
      <p:pic>
        <p:nvPicPr>
          <p:cNvPr id="12" name="Picture 11">
            <a:extLst>
              <a:ext uri="{FF2B5EF4-FFF2-40B4-BE49-F238E27FC236}">
                <a16:creationId xmlns:a16="http://schemas.microsoft.com/office/drawing/2014/main" id="{23570754-6716-C284-101F-2C60D161C098}"/>
              </a:ext>
            </a:extLst>
          </p:cNvPr>
          <p:cNvPicPr>
            <a:picLocks noChangeAspect="1"/>
          </p:cNvPicPr>
          <p:nvPr/>
        </p:nvPicPr>
        <p:blipFill>
          <a:blip r:embed="rId5"/>
          <a:stretch>
            <a:fillRect/>
          </a:stretch>
        </p:blipFill>
        <p:spPr>
          <a:xfrm>
            <a:off x="23631" y="724795"/>
            <a:ext cx="12144375" cy="3886200"/>
          </a:xfrm>
          <a:prstGeom prst="rect">
            <a:avLst/>
          </a:prstGeom>
        </p:spPr>
      </p:pic>
      <p:sp>
        <p:nvSpPr>
          <p:cNvPr id="11" name="TextBox 10">
            <a:extLst>
              <a:ext uri="{FF2B5EF4-FFF2-40B4-BE49-F238E27FC236}">
                <a16:creationId xmlns:a16="http://schemas.microsoft.com/office/drawing/2014/main" id="{444AAF21-4AC9-698A-177A-0EB3AAB6E419}"/>
              </a:ext>
            </a:extLst>
          </p:cNvPr>
          <p:cNvSpPr txBox="1"/>
          <p:nvPr/>
        </p:nvSpPr>
        <p:spPr>
          <a:xfrm>
            <a:off x="23631" y="4759311"/>
            <a:ext cx="3627945" cy="646331"/>
          </a:xfrm>
          <a:prstGeom prst="rect">
            <a:avLst/>
          </a:prstGeom>
          <a:noFill/>
        </p:spPr>
        <p:txBody>
          <a:bodyPr wrap="square" rtlCol="0">
            <a:normAutofit/>
          </a:bodyPr>
          <a:lstStyle/>
          <a:p>
            <a:r>
              <a:rPr lang="zh-CN" altLang="en-US" sz="1400"/>
              <a:t>Leakage only behind the steam path. This indicates the slope on the silicon diaphragm</a:t>
            </a:r>
            <a:endParaRPr lang="en-US" dirty="0"/>
          </a:p>
        </p:txBody>
      </p:sp>
      <p:pic>
        <p:nvPicPr>
          <p:cNvPr id="14" name="Picture 13" descr="A close-up of a computer chip&#10;&#10;Description automatically generated">
            <a:extLst>
              <a:ext uri="{FF2B5EF4-FFF2-40B4-BE49-F238E27FC236}">
                <a16:creationId xmlns:a16="http://schemas.microsoft.com/office/drawing/2014/main" id="{4B3D6E7C-5A1C-5D1C-CEA1-3A053E8F4557}"/>
              </a:ext>
            </a:extLst>
          </p:cNvPr>
          <p:cNvPicPr>
            <a:picLocks noChangeAspect="1"/>
          </p:cNvPicPr>
          <p:nvPr/>
        </p:nvPicPr>
        <p:blipFill>
          <a:blip r:embed="rId6"/>
          <a:srcRect l="15835" t="14107" b="23299"/>
          <a:stretch/>
        </p:blipFill>
        <p:spPr>
          <a:xfrm>
            <a:off x="4052819" y="4564747"/>
            <a:ext cx="4086363" cy="2279306"/>
          </a:xfrm>
          <a:prstGeom prst="rect">
            <a:avLst/>
          </a:prstGeom>
        </p:spPr>
      </p:pic>
      <p:pic>
        <p:nvPicPr>
          <p:cNvPr id="16" name="Picture 15" descr="Close-up of a car battery&#10;&#10;Description automatically generated">
            <a:extLst>
              <a:ext uri="{FF2B5EF4-FFF2-40B4-BE49-F238E27FC236}">
                <a16:creationId xmlns:a16="http://schemas.microsoft.com/office/drawing/2014/main" id="{BC2684B6-494F-7DE2-46D8-033753D4470B}"/>
              </a:ext>
            </a:extLst>
          </p:cNvPr>
          <p:cNvPicPr>
            <a:picLocks noChangeAspect="1"/>
          </p:cNvPicPr>
          <p:nvPr/>
        </p:nvPicPr>
        <p:blipFill>
          <a:blip r:embed="rId7"/>
          <a:srcRect l="17415" t="22041" r="5096" b="19592"/>
          <a:stretch/>
        </p:blipFill>
        <p:spPr>
          <a:xfrm>
            <a:off x="8139182" y="4568061"/>
            <a:ext cx="4028824" cy="2275992"/>
          </a:xfrm>
          <a:prstGeom prst="rect">
            <a:avLst/>
          </a:prstGeom>
        </p:spPr>
      </p:pic>
      <p:sp>
        <p:nvSpPr>
          <p:cNvPr id="17" name="TextBox 16">
            <a:extLst>
              <a:ext uri="{FF2B5EF4-FFF2-40B4-BE49-F238E27FC236}">
                <a16:creationId xmlns:a16="http://schemas.microsoft.com/office/drawing/2014/main" id="{F7644FDD-D939-B847-3F7B-A005F057A3A3}"/>
              </a:ext>
            </a:extLst>
          </p:cNvPr>
          <p:cNvSpPr txBox="1"/>
          <p:nvPr/>
        </p:nvSpPr>
        <p:spPr>
          <a:xfrm>
            <a:off x="7652554" y="4613776"/>
            <a:ext cx="936827" cy="369332"/>
          </a:xfrm>
          <a:prstGeom prst="rect">
            <a:avLst/>
          </a:prstGeom>
          <a:solidFill>
            <a:schemeClr val="bg1"/>
          </a:solidFill>
        </p:spPr>
        <p:txBody>
          <a:bodyPr wrap="square" rtlCol="0">
            <a:spAutoFit/>
          </a:bodyPr>
          <a:lstStyle/>
          <a:p>
            <a:r>
              <a:rPr lang="en-US" dirty="0"/>
              <a:t>HTHH-6</a:t>
            </a:r>
          </a:p>
        </p:txBody>
      </p:sp>
      <p:sp>
        <p:nvSpPr>
          <p:cNvPr id="3" name="Oval 2">
            <a:extLst>
              <a:ext uri="{FF2B5EF4-FFF2-40B4-BE49-F238E27FC236}">
                <a16:creationId xmlns:a16="http://schemas.microsoft.com/office/drawing/2014/main" id="{820F7921-A82F-FB38-7D56-64C617EF9201}"/>
              </a:ext>
            </a:extLst>
          </p:cNvPr>
          <p:cNvSpPr/>
          <p:nvPr/>
        </p:nvSpPr>
        <p:spPr>
          <a:xfrm>
            <a:off x="6649805" y="4976649"/>
            <a:ext cx="1489377" cy="1550900"/>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313386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551581-176D-4859-1C00-2764A42FC62B}"/>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4833944A-9C45-9DD3-5C89-07C7ABBD6C6E}"/>
              </a:ext>
            </a:extLst>
          </p:cNvPr>
          <p:cNvPicPr>
            <a:picLocks noChangeAspect="1"/>
          </p:cNvPicPr>
          <p:nvPr/>
        </p:nvPicPr>
        <p:blipFill>
          <a:blip r:embed="rId3" cstate="screen">
            <a:alphaModFix amt="60000"/>
            <a:extLst>
              <a:ext uri="{28A0092B-C50C-407E-A947-70E740481C1C}">
                <a14:useLocalDpi xmlns:a14="http://schemas.microsoft.com/office/drawing/2010/main"/>
              </a:ext>
            </a:extLst>
          </a:blip>
          <a:stretch>
            <a:fillRect/>
          </a:stretch>
        </p:blipFill>
        <p:spPr>
          <a:xfrm>
            <a:off x="-361" y="203"/>
            <a:ext cx="12192361" cy="6857797"/>
          </a:xfrm>
          <a:prstGeom prst="rect">
            <a:avLst/>
          </a:prstGeom>
        </p:spPr>
      </p:pic>
      <p:pic>
        <p:nvPicPr>
          <p:cNvPr id="4" name="Picture 3">
            <a:extLst>
              <a:ext uri="{FF2B5EF4-FFF2-40B4-BE49-F238E27FC236}">
                <a16:creationId xmlns:a16="http://schemas.microsoft.com/office/drawing/2014/main" id="{3201DA53-EA98-799C-AB72-09727190F624}"/>
              </a:ext>
            </a:extLst>
          </p:cNvPr>
          <p:cNvPicPr>
            <a:picLocks noChangeAspect="1"/>
          </p:cNvPicPr>
          <p:nvPr/>
        </p:nvPicPr>
        <p:blipFill>
          <a:blip r:embed="rId4"/>
          <a:stretch>
            <a:fillRect/>
          </a:stretch>
        </p:blipFill>
        <p:spPr>
          <a:xfrm>
            <a:off x="10201998" y="91033"/>
            <a:ext cx="1436172" cy="485446"/>
          </a:xfrm>
          <a:prstGeom prst="rect">
            <a:avLst/>
          </a:prstGeom>
        </p:spPr>
      </p:pic>
      <p:sp>
        <p:nvSpPr>
          <p:cNvPr id="2" name="矩形 4">
            <a:extLst>
              <a:ext uri="{FF2B5EF4-FFF2-40B4-BE49-F238E27FC236}">
                <a16:creationId xmlns:a16="http://schemas.microsoft.com/office/drawing/2014/main" id="{5EC2BBE8-680D-B606-7D4C-624999554D09}"/>
              </a:ext>
            </a:extLst>
          </p:cNvPr>
          <p:cNvSpPr/>
          <p:nvPr/>
        </p:nvSpPr>
        <p:spPr>
          <a:xfrm>
            <a:off x="640080" y="146304"/>
            <a:ext cx="4134465" cy="523220"/>
          </a:xfrm>
          <a:prstGeom prst="rect">
            <a:avLst/>
          </a:prstGeom>
        </p:spPr>
        <p:txBody>
          <a:bodyPr wrap="none">
            <a:normAutofit/>
          </a:bodyPr>
          <a:lstStyle/>
          <a:p>
            <a:pPr lvl="0">
              <a:defRPr/>
            </a:pPr>
            <a:r>
              <a:rPr lang="zh-CN" altLang="en-US" sz="1400">
                <a:latin typeface="微软雅黑" panose="020B0503020204020204" pitchFamily="34" charset="-122"/>
                <a:ea typeface="微软雅黑" panose="020B0503020204020204" pitchFamily="34" charset="-122"/>
                <a:cs typeface="+mn-ea"/>
                <a:sym typeface="+mn-lt"/>
              </a:rPr>
              <a:t>Sensory comparison of new and old coils for musk sticks</a:t>
            </a:r>
            <a:endParaRPr kumimoji="0" lang="zh-CN" altLang="en-US" sz="2800" i="0" u="none" strike="noStrike" kern="1200" cap="none" spc="0" normalizeH="0" baseline="0" noProof="0" dirty="0">
              <a:ln>
                <a:noFill/>
              </a:ln>
              <a:effectLst/>
              <a:uLnTx/>
              <a:uFillTx/>
              <a:latin typeface="Calibri" panose="020F0502020204030204"/>
              <a:ea typeface="宋体" panose="02010600030101010101" pitchFamily="2" charset="-122"/>
              <a:cs typeface="+mn-ea"/>
              <a:sym typeface="+mn-lt"/>
            </a:endParaRPr>
          </a:p>
        </p:txBody>
      </p:sp>
      <p:graphicFrame>
        <p:nvGraphicFramePr>
          <p:cNvPr id="3" name="Table 2">
            <a:extLst>
              <a:ext uri="{FF2B5EF4-FFF2-40B4-BE49-F238E27FC236}">
                <a16:creationId xmlns:a16="http://schemas.microsoft.com/office/drawing/2014/main" id="{7981C4A3-583C-3677-D81C-C9E816B0D8F9}"/>
              </a:ext>
            </a:extLst>
          </p:cNvPr>
          <p:cNvGraphicFramePr>
            <a:graphicFrameLocks noGrp="1"/>
          </p:cNvGraphicFramePr>
          <p:nvPr/>
        </p:nvGraphicFramePr>
        <p:xfrm>
          <a:off x="2696564" y="965218"/>
          <a:ext cx="6798510" cy="2892060"/>
        </p:xfrm>
        <a:graphic>
          <a:graphicData uri="http://schemas.openxmlformats.org/drawingml/2006/table">
            <a:tbl>
              <a:tblPr firstRow="1" bandRow="1">
                <a:tableStyleId>{5C22544A-7EE6-4342-B048-85BDC9FD1C3A}</a:tableStyleId>
              </a:tblPr>
              <a:tblGrid>
                <a:gridCol w="1359702">
                  <a:extLst>
                    <a:ext uri="{9D8B030D-6E8A-4147-A177-3AD203B41FA5}">
                      <a16:colId xmlns:a16="http://schemas.microsoft.com/office/drawing/2014/main" val="20000"/>
                    </a:ext>
                  </a:extLst>
                </a:gridCol>
                <a:gridCol w="1359702">
                  <a:extLst>
                    <a:ext uri="{9D8B030D-6E8A-4147-A177-3AD203B41FA5}">
                      <a16:colId xmlns:a16="http://schemas.microsoft.com/office/drawing/2014/main" val="20001"/>
                    </a:ext>
                  </a:extLst>
                </a:gridCol>
                <a:gridCol w="1359702">
                  <a:extLst>
                    <a:ext uri="{9D8B030D-6E8A-4147-A177-3AD203B41FA5}">
                      <a16:colId xmlns:a16="http://schemas.microsoft.com/office/drawing/2014/main" val="20002"/>
                    </a:ext>
                  </a:extLst>
                </a:gridCol>
                <a:gridCol w="1359702">
                  <a:extLst>
                    <a:ext uri="{9D8B030D-6E8A-4147-A177-3AD203B41FA5}">
                      <a16:colId xmlns:a16="http://schemas.microsoft.com/office/drawing/2014/main" val="20003"/>
                    </a:ext>
                  </a:extLst>
                </a:gridCol>
                <a:gridCol w="1359702">
                  <a:extLst>
                    <a:ext uri="{9D8B030D-6E8A-4147-A177-3AD203B41FA5}">
                      <a16:colId xmlns:a16="http://schemas.microsoft.com/office/drawing/2014/main" val="20004"/>
                    </a:ext>
                  </a:extLst>
                </a:gridCol>
              </a:tblGrid>
              <a:tr h="723015">
                <a:tc>
                  <a:txBody>
                    <a:bodyPr/>
                    <a:lstStyle/>
                    <a:p>
                      <a:pPr algn="ctr"/>
                      <a:r>
                        <a:rPr lang="en-US" sz="1400" dirty="0"/>
                        <a:t>User</a:t>
                      </a:r>
                      <a:endParaRPr sz="1400" dirty="0"/>
                    </a:p>
                  </a:txBody>
                  <a:tcPr anchor="ctr"/>
                </a:tc>
                <a:tc>
                  <a:txBody>
                    <a:bodyPr/>
                    <a:lstStyle/>
                    <a:p>
                      <a:pPr algn="ctr"/>
                      <a:r>
                        <a:rPr lang="en-US" sz="1400" dirty="0"/>
                        <a:t>1</a:t>
                      </a:r>
                      <a:endParaRPr sz="1400" dirty="0"/>
                    </a:p>
                  </a:txBody>
                  <a:tcPr anchor="ctr"/>
                </a:tc>
                <a:tc>
                  <a:txBody>
                    <a:bodyPr/>
                    <a:lstStyle/>
                    <a:p>
                      <a:pPr algn="ctr"/>
                      <a:r>
                        <a:rPr lang="en-US" sz="1400" dirty="0"/>
                        <a:t>2</a:t>
                      </a:r>
                      <a:endParaRPr sz="1400" dirty="0"/>
                    </a:p>
                  </a:txBody>
                  <a:tcPr anchor="ctr"/>
                </a:tc>
                <a:tc>
                  <a:txBody>
                    <a:bodyPr/>
                    <a:lstStyle/>
                    <a:p>
                      <a:pPr algn="ctr"/>
                      <a:r>
                        <a:rPr lang="en-US" sz="1400" dirty="0"/>
                        <a:t>3</a:t>
                      </a:r>
                      <a:endParaRPr sz="1400" dirty="0"/>
                    </a:p>
                  </a:txBody>
                  <a:tcPr anchor="ctr"/>
                </a:tc>
                <a:tc>
                  <a:txBody>
                    <a:bodyPr/>
                    <a:lstStyle/>
                    <a:p>
                      <a:pPr algn="ctr"/>
                      <a:r>
                        <a:rPr lang="en-US" sz="1400" dirty="0"/>
                        <a:t>4</a:t>
                      </a:r>
                      <a:endParaRPr sz="1400" dirty="0"/>
                    </a:p>
                  </a:txBody>
                  <a:tcPr anchor="ctr"/>
                </a:tc>
                <a:extLst>
                  <a:ext uri="{0D108BD9-81ED-4DB2-BD59-A6C34878D82A}">
                    <a16:rowId xmlns:a16="http://schemas.microsoft.com/office/drawing/2014/main" val="10000"/>
                  </a:ext>
                </a:extLst>
              </a:tr>
              <a:tr h="723015">
                <a:tc>
                  <a:txBody>
                    <a:bodyPr/>
                    <a:lstStyle/>
                    <a:p>
                      <a:pPr algn="ctr"/>
                      <a:r>
                        <a:rPr lang="en-US" sz="1400" dirty="0"/>
                        <a:t>Nellie</a:t>
                      </a:r>
                      <a:endParaRPr sz="1400" dirty="0"/>
                    </a:p>
                  </a:txBody>
                  <a:tcPr anchor="ctr"/>
                </a:tc>
                <a:tc>
                  <a:txBody>
                    <a:bodyPr/>
                    <a:lstStyle/>
                    <a:p>
                      <a:pPr algn="ctr"/>
                      <a:r>
                        <a:rPr lang="en-US" sz="1400" dirty="0"/>
                        <a:t>New Coil 2</a:t>
                      </a:r>
                      <a:endParaRPr sz="1400" dirty="0"/>
                    </a:p>
                  </a:txBody>
                  <a:tcPr anchor="ctr"/>
                </a:tc>
                <a:tc>
                  <a:txBody>
                    <a:bodyPr/>
                    <a:lstStyle/>
                    <a:p>
                      <a:pPr algn="ctr"/>
                      <a:r>
                        <a:rPr lang="en-US" sz="1400" dirty="0"/>
                        <a:t>New-Working-1</a:t>
                      </a:r>
                      <a:endParaRPr sz="1400" dirty="0"/>
                    </a:p>
                  </a:txBody>
                  <a:tcPr anchor="ctr"/>
                </a:tc>
                <a:tc>
                  <a:txBody>
                    <a:bodyPr/>
                    <a:lstStyle/>
                    <a:p>
                      <a:pPr algn="ctr"/>
                      <a:r>
                        <a:rPr lang="en-US" sz="1400" dirty="0"/>
                        <a:t>Old Coil 1</a:t>
                      </a:r>
                      <a:endParaRPr sz="1400" dirty="0"/>
                    </a:p>
                  </a:txBody>
                  <a:tcPr anchor="ctr"/>
                </a:tc>
                <a:tc>
                  <a:txBody>
                    <a:bodyPr/>
                    <a:lstStyle/>
                    <a:p>
                      <a:pPr algn="ctr"/>
                      <a:r>
                        <a:rPr lang="en-US" sz="1400" dirty="0"/>
                        <a:t>Old-Working-2</a:t>
                      </a:r>
                      <a:endParaRPr sz="1400" dirty="0"/>
                    </a:p>
                  </a:txBody>
                  <a:tcPr anchor="ctr"/>
                </a:tc>
                <a:extLst>
                  <a:ext uri="{0D108BD9-81ED-4DB2-BD59-A6C34878D82A}">
                    <a16:rowId xmlns:a16="http://schemas.microsoft.com/office/drawing/2014/main" val="10001"/>
                  </a:ext>
                </a:extLst>
              </a:tr>
              <a:tr h="723015">
                <a:tc>
                  <a:txBody>
                    <a:bodyPr/>
                    <a:lstStyle/>
                    <a:p>
                      <a:pPr algn="ctr"/>
                      <a:r>
                        <a:rPr lang="en-US" sz="1400" dirty="0"/>
                        <a:t>Leland</a:t>
                      </a:r>
                      <a:endParaRPr sz="1400" dirty="0"/>
                    </a:p>
                  </a:txBody>
                  <a:tcPr anchor="ctr"/>
                </a:tc>
                <a:tc>
                  <a:txBody>
                    <a:bodyPr/>
                    <a:lstStyle/>
                    <a:p>
                      <a:pPr algn="ctr"/>
                      <a:r>
                        <a:rPr lang="en-US" sz="1400" dirty="0"/>
                        <a:t>Old Coil 1</a:t>
                      </a:r>
                      <a:endParaRPr sz="1400" dirty="0"/>
                    </a:p>
                  </a:txBody>
                  <a:tcPr anchor="ctr"/>
                </a:tc>
                <a:tc>
                  <a:txBody>
                    <a:bodyPr/>
                    <a:lstStyle/>
                    <a:p>
                      <a:pPr algn="ctr"/>
                      <a:r>
                        <a:rPr lang="en-US" sz="1400" dirty="0"/>
                        <a:t>New-Working-1</a:t>
                      </a:r>
                      <a:endParaRPr sz="1400" dirty="0"/>
                    </a:p>
                  </a:txBody>
                  <a:tcPr anchor="ctr"/>
                </a:tc>
                <a:tc>
                  <a:txBody>
                    <a:bodyPr/>
                    <a:lstStyle/>
                    <a:p>
                      <a:pPr algn="ctr"/>
                      <a:r>
                        <a:rPr lang="en-US" sz="1400" dirty="0"/>
                        <a:t>New Coil 2</a:t>
                      </a:r>
                      <a:endParaRPr sz="1400" dirty="0"/>
                    </a:p>
                  </a:txBody>
                  <a:tcPr anchor="ctr"/>
                </a:tc>
                <a:tc>
                  <a:txBody>
                    <a:bodyPr/>
                    <a:lstStyle/>
                    <a:p>
                      <a:pPr algn="ctr"/>
                      <a:r>
                        <a:rPr lang="en-US" sz="1400" dirty="0"/>
                        <a:t>Old-Working-2</a:t>
                      </a:r>
                      <a:endParaRPr sz="1400" dirty="0"/>
                    </a:p>
                  </a:txBody>
                  <a:tcPr anchor="ctr"/>
                </a:tc>
                <a:extLst>
                  <a:ext uri="{0D108BD9-81ED-4DB2-BD59-A6C34878D82A}">
                    <a16:rowId xmlns:a16="http://schemas.microsoft.com/office/drawing/2014/main" val="10002"/>
                  </a:ext>
                </a:extLst>
              </a:tr>
              <a:tr h="723015">
                <a:tc>
                  <a:txBody>
                    <a:bodyPr/>
                    <a:lstStyle/>
                    <a:p>
                      <a:pPr algn="ctr"/>
                      <a:r>
                        <a:rPr lang="en-US" sz="1400" dirty="0"/>
                        <a:t>Charlie</a:t>
                      </a:r>
                      <a:endParaRPr sz="1400" dirty="0"/>
                    </a:p>
                  </a:txBody>
                  <a:tcPr anchor="ctr"/>
                </a:tc>
                <a:tc>
                  <a:txBody>
                    <a:bodyPr/>
                    <a:lstStyle/>
                    <a:p>
                      <a:pPr algn="ctr"/>
                      <a:r>
                        <a:rPr lang="en-US" sz="1400" dirty="0"/>
                        <a:t>Old Coil 1</a:t>
                      </a:r>
                      <a:endParaRPr sz="1400" dirty="0"/>
                    </a:p>
                  </a:txBody>
                  <a:tcPr anchor="ctr"/>
                </a:tc>
                <a:tc>
                  <a:txBody>
                    <a:bodyPr/>
                    <a:lstStyle/>
                    <a:p>
                      <a:pPr algn="ctr"/>
                      <a:r>
                        <a:rPr lang="en-US" sz="1400" dirty="0"/>
                        <a:t>New-Working-1</a:t>
                      </a:r>
                      <a:endParaRPr sz="1400" dirty="0"/>
                    </a:p>
                  </a:txBody>
                  <a:tcPr anchor="ctr"/>
                </a:tc>
                <a:tc>
                  <a:txBody>
                    <a:bodyPr/>
                    <a:lstStyle/>
                    <a:p>
                      <a:pPr algn="ctr"/>
                      <a:r>
                        <a:rPr lang="en-US" sz="1400" dirty="0"/>
                        <a:t>New Coil 2</a:t>
                      </a:r>
                      <a:endParaRPr sz="1400" dirty="0"/>
                    </a:p>
                  </a:txBody>
                  <a:tcPr anchor="ctr"/>
                </a:tc>
                <a:tc>
                  <a:txBody>
                    <a:bodyPr/>
                    <a:lstStyle/>
                    <a:p>
                      <a:pPr algn="ctr"/>
                      <a:r>
                        <a:rPr lang="en-US" sz="1400" dirty="0"/>
                        <a:t>Old-Working-2</a:t>
                      </a:r>
                      <a:endParaRPr sz="1400" dirty="0"/>
                    </a:p>
                  </a:txBody>
                  <a:tcPr anchor="ctr"/>
                </a:tc>
                <a:extLst>
                  <a:ext uri="{0D108BD9-81ED-4DB2-BD59-A6C34878D82A}">
                    <a16:rowId xmlns:a16="http://schemas.microsoft.com/office/drawing/2014/main" val="10003"/>
                  </a:ext>
                </a:extLst>
              </a:tr>
            </a:tbl>
          </a:graphicData>
        </a:graphic>
      </p:graphicFrame>
      <p:sp>
        <p:nvSpPr>
          <p:cNvPr id="5" name="TextBox 4">
            <a:extLst>
              <a:ext uri="{FF2B5EF4-FFF2-40B4-BE49-F238E27FC236}">
                <a16:creationId xmlns:a16="http://schemas.microsoft.com/office/drawing/2014/main" id="{A4DAFC33-A4C5-C442-1F56-462C36889116}"/>
              </a:ext>
            </a:extLst>
          </p:cNvPr>
          <p:cNvSpPr txBox="1"/>
          <p:nvPr/>
        </p:nvSpPr>
        <p:spPr>
          <a:xfrm>
            <a:off x="5159336" y="630959"/>
            <a:ext cx="2399168" cy="369332"/>
          </a:xfrm>
          <a:prstGeom prst="rect">
            <a:avLst/>
          </a:prstGeom>
          <a:noFill/>
        </p:spPr>
        <p:txBody>
          <a:bodyPr wrap="square" rtlCol="0">
            <a:spAutoFit/>
          </a:bodyPr>
          <a:lstStyle/>
          <a:p>
            <a:r>
              <a:rPr lang="en-US" dirty="0"/>
              <a:t>Ranking (1 is best)</a:t>
            </a:r>
          </a:p>
        </p:txBody>
      </p:sp>
      <p:pic>
        <p:nvPicPr>
          <p:cNvPr id="7" name="Picture 6" descr="A group of small tubes with yellow and black caps&#10;&#10;Description automatically generated">
            <a:extLst>
              <a:ext uri="{FF2B5EF4-FFF2-40B4-BE49-F238E27FC236}">
                <a16:creationId xmlns:a16="http://schemas.microsoft.com/office/drawing/2014/main" id="{335F9A62-8EEA-ED65-C710-43127671D6D3}"/>
              </a:ext>
            </a:extLst>
          </p:cNvPr>
          <p:cNvPicPr>
            <a:picLocks noChangeAspect="1"/>
          </p:cNvPicPr>
          <p:nvPr/>
        </p:nvPicPr>
        <p:blipFill>
          <a:blip r:embed="rId5"/>
          <a:srcRect t="12565" b="8161"/>
          <a:stretch/>
        </p:blipFill>
        <p:spPr>
          <a:xfrm>
            <a:off x="1228148" y="3941335"/>
            <a:ext cx="4659517" cy="2770361"/>
          </a:xfrm>
          <a:prstGeom prst="rect">
            <a:avLst/>
          </a:prstGeom>
        </p:spPr>
      </p:pic>
      <p:sp>
        <p:nvSpPr>
          <p:cNvPr id="8" name="TextBox 7">
            <a:extLst>
              <a:ext uri="{FF2B5EF4-FFF2-40B4-BE49-F238E27FC236}">
                <a16:creationId xmlns:a16="http://schemas.microsoft.com/office/drawing/2014/main" id="{408DF87A-8B24-3317-6CEC-8D835AC5C3FD}"/>
              </a:ext>
            </a:extLst>
          </p:cNvPr>
          <p:cNvSpPr txBox="1"/>
          <p:nvPr/>
        </p:nvSpPr>
        <p:spPr>
          <a:xfrm>
            <a:off x="7116174" y="4195716"/>
            <a:ext cx="3259248" cy="1477328"/>
          </a:xfrm>
          <a:prstGeom prst="rect">
            <a:avLst/>
          </a:prstGeom>
          <a:noFill/>
        </p:spPr>
        <p:txBody>
          <a:bodyPr wrap="square" rtlCol="0">
            <a:normAutofit/>
          </a:bodyPr>
          <a:lstStyle/>
          <a:p>
            <a:r>
              <a:rPr lang="zh-CN" altLang="en-US" dirty="0" sz="1500"/>
              <a:t>Based on 3 rapid sensory tests, there does not appear to be any significant difference between the new and old coils. Old-working-2 is consistently the worst, while new-working-1 is consistently second best.</a:t>
            </a:r>
            <a:r>
              <a:rPr lang="en-US" altLang="zh-CN" dirty="0"/>
              <a:t/>
            </a:r>
            <a:r>
              <a:rPr lang="zh-CN" altLang="en-US" dirty="0"/>
              <a:t/>
            </a:r>
            <a:r>
              <a:rPr lang="en-US" dirty="0"/>
              <a:t/>
            </a:r>
            <a:r>
              <a:rPr lang="zh-CN" altLang="en-US" dirty="0"/>
              <a:t/>
            </a:r>
            <a:r>
              <a:rPr lang="en-US" dirty="0"/>
              <a:t/>
            </a:r>
            <a:r>
              <a:rPr lang="zh-CN" altLang="en-US" dirty="0"/>
              <a:t/>
            </a:r>
            <a:endParaRPr lang="en-US" dirty="0"/>
          </a:p>
        </p:txBody>
      </p:sp>
      <p:sp>
        <p:nvSpPr>
          <p:cNvPr id="6" name="TextBox 5">
            <a:extLst>
              <a:ext uri="{FF2B5EF4-FFF2-40B4-BE49-F238E27FC236}">
                <a16:creationId xmlns:a16="http://schemas.microsoft.com/office/drawing/2014/main" id="{4321FB6F-7748-FF5F-8803-A4C5D9E03F36}"/>
              </a:ext>
            </a:extLst>
          </p:cNvPr>
          <p:cNvSpPr txBox="1"/>
          <p:nvPr/>
        </p:nvSpPr>
        <p:spPr>
          <a:xfrm>
            <a:off x="316871" y="1000291"/>
            <a:ext cx="2064190" cy="1200329"/>
          </a:xfrm>
          <a:prstGeom prst="rect">
            <a:avLst/>
          </a:prstGeom>
          <a:noFill/>
        </p:spPr>
        <p:txBody>
          <a:bodyPr wrap="square" rtlCol="0">
            <a:normAutofit/>
          </a:bodyPr>
          <a:lstStyle/>
          <a:p>
            <a:r>
              <a:rPr lang="zh-CN" altLang="en-US" sz="1400"/>
              <a:t>Objective: To identify any differences between the new and old coils. The test passes if the new coil is better than or equal to the old one.</a:t>
            </a:r>
            <a:endParaRPr lang="en-US" dirty="0"/>
          </a:p>
        </p:txBody>
      </p:sp>
    </p:spTree>
    <p:extLst>
      <p:ext uri="{BB962C8B-B14F-4D97-AF65-F5344CB8AC3E}">
        <p14:creationId xmlns:p14="http://schemas.microsoft.com/office/powerpoint/2010/main" val="13807239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93644E-91CD-7EDA-D90F-0EB5B2D28C57}"/>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6B47EA53-808F-AD90-DF16-D935456B0A00}"/>
              </a:ext>
            </a:extLst>
          </p:cNvPr>
          <p:cNvPicPr>
            <a:picLocks noChangeAspect="1"/>
          </p:cNvPicPr>
          <p:nvPr/>
        </p:nvPicPr>
        <p:blipFill>
          <a:blip r:embed="rId3" cstate="screen">
            <a:alphaModFix amt="60000"/>
            <a:extLst>
              <a:ext uri="{28A0092B-C50C-407E-A947-70E740481C1C}">
                <a14:useLocalDpi xmlns:a14="http://schemas.microsoft.com/office/drawing/2010/main"/>
              </a:ext>
            </a:extLst>
          </a:blip>
          <a:stretch>
            <a:fillRect/>
          </a:stretch>
        </p:blipFill>
        <p:spPr>
          <a:xfrm>
            <a:off x="-361" y="203"/>
            <a:ext cx="12192361" cy="6857797"/>
          </a:xfrm>
          <a:prstGeom prst="rect">
            <a:avLst/>
          </a:prstGeom>
        </p:spPr>
      </p:pic>
      <p:pic>
        <p:nvPicPr>
          <p:cNvPr id="4" name="Picture 3">
            <a:extLst>
              <a:ext uri="{FF2B5EF4-FFF2-40B4-BE49-F238E27FC236}">
                <a16:creationId xmlns:a16="http://schemas.microsoft.com/office/drawing/2014/main" id="{DB714222-4B33-57B3-E527-05226AEEAD7C}"/>
              </a:ext>
            </a:extLst>
          </p:cNvPr>
          <p:cNvPicPr>
            <a:picLocks noChangeAspect="1"/>
          </p:cNvPicPr>
          <p:nvPr/>
        </p:nvPicPr>
        <p:blipFill>
          <a:blip r:embed="rId4"/>
          <a:stretch>
            <a:fillRect/>
          </a:stretch>
        </p:blipFill>
        <p:spPr>
          <a:xfrm>
            <a:off x="10201998" y="91033"/>
            <a:ext cx="1436172" cy="485446"/>
          </a:xfrm>
          <a:prstGeom prst="rect">
            <a:avLst/>
          </a:prstGeom>
        </p:spPr>
      </p:pic>
      <p:sp>
        <p:nvSpPr>
          <p:cNvPr id="2" name="矩形 4">
            <a:extLst>
              <a:ext uri="{FF2B5EF4-FFF2-40B4-BE49-F238E27FC236}">
                <a16:creationId xmlns:a16="http://schemas.microsoft.com/office/drawing/2014/main" id="{6FB0B7E5-C1A7-4C34-3BFD-F20678BE9823}"/>
              </a:ext>
            </a:extLst>
          </p:cNvPr>
          <p:cNvSpPr/>
          <p:nvPr/>
        </p:nvSpPr>
        <p:spPr>
          <a:xfrm>
            <a:off x="640080" y="146304"/>
            <a:ext cx="5734070" cy="523220"/>
          </a:xfrm>
          <a:prstGeom prst="rect">
            <a:avLst/>
          </a:prstGeom>
        </p:spPr>
        <p:txBody>
          <a:bodyPr wrap="none">
            <a:normAutofit/>
          </a:bodyPr>
          <a:lstStyle/>
          <a:p>
            <a:pPr lvl="0">
              <a:defRPr/>
            </a:pPr>
            <a:r>
              <a:rPr lang="en-US" altLang="zh-CN" sz="1800">
                <a:latin typeface="微软雅黑" panose="020B0503020204020204" pitchFamily="34" charset="-122"/>
                <a:ea typeface="微软雅黑" panose="020B0503020204020204" pitchFamily="34" charset="-122"/>
                <a:cs typeface="+mn-ea"/>
                <a:sym typeface="+mn-lt"/>
              </a:rPr>
              <a:t>Gembar + Gembox Pine Freshener Test Update</a:t>
            </a:r>
            <a:r>
              <a:rPr lang="zh-CN" altLang="en-US" sz="2800">
                <a:latin typeface="微软雅黑" panose="020B0503020204020204" pitchFamily="34" charset="-122"/>
                <a:ea typeface="微软雅黑" panose="020B0503020204020204" pitchFamily="34" charset="-122"/>
                <a:cs typeface="+mn-ea"/>
                <a:sym typeface="+mn-lt"/>
              </a:rPr>
              <a:t/>
            </a:r>
            <a:endParaRPr kumimoji="0" lang="zh-CN" altLang="en-US" sz="2800" i="0" u="none" strike="noStrike" kern="1200" cap="none" spc="0" normalizeH="0" baseline="0" noProof="0" dirty="0">
              <a:ln>
                <a:noFill/>
              </a:ln>
              <a:effectLst/>
              <a:uLnTx/>
              <a:uFillTx/>
              <a:latin typeface="Calibri" panose="020F0502020204030204"/>
              <a:ea typeface="宋体" panose="02010600030101010101" pitchFamily="2" charset="-122"/>
              <a:cs typeface="+mn-ea"/>
              <a:sym typeface="+mn-lt"/>
            </a:endParaRPr>
          </a:p>
        </p:txBody>
      </p:sp>
      <p:pic>
        <p:nvPicPr>
          <p:cNvPr id="10" name="Picture 9" descr="A black and gold cigarette lighter&#10;&#10;Description automatically generated">
            <a:extLst>
              <a:ext uri="{FF2B5EF4-FFF2-40B4-BE49-F238E27FC236}">
                <a16:creationId xmlns:a16="http://schemas.microsoft.com/office/drawing/2014/main" id="{0F7B322B-94C1-EFBE-DDE3-5AB092778A9E}"/>
              </a:ext>
            </a:extLst>
          </p:cNvPr>
          <p:cNvPicPr>
            <a:picLocks noChangeAspect="1"/>
          </p:cNvPicPr>
          <p:nvPr/>
        </p:nvPicPr>
        <p:blipFill>
          <a:blip r:embed="rId5"/>
          <a:srcRect l="35427" t="18911" r="37362" b="14558"/>
          <a:stretch/>
        </p:blipFill>
        <p:spPr>
          <a:xfrm>
            <a:off x="401217" y="1091680"/>
            <a:ext cx="1614196" cy="5262278"/>
          </a:xfrm>
          <a:prstGeom prst="rect">
            <a:avLst/>
          </a:prstGeom>
        </p:spPr>
      </p:pic>
      <p:pic>
        <p:nvPicPr>
          <p:cNvPr id="12" name="Picture 11" descr="A close up of a device&#10;&#10;Description automatically generated">
            <a:extLst>
              <a:ext uri="{FF2B5EF4-FFF2-40B4-BE49-F238E27FC236}">
                <a16:creationId xmlns:a16="http://schemas.microsoft.com/office/drawing/2014/main" id="{63F4FC94-A312-E982-7F70-AF295BC63AEB}"/>
              </a:ext>
            </a:extLst>
          </p:cNvPr>
          <p:cNvPicPr>
            <a:picLocks noChangeAspect="1"/>
          </p:cNvPicPr>
          <p:nvPr/>
        </p:nvPicPr>
        <p:blipFill>
          <a:blip r:embed="rId6"/>
          <a:srcRect l="13839" t="26123" r="15412" b="22313"/>
          <a:stretch/>
        </p:blipFill>
        <p:spPr>
          <a:xfrm>
            <a:off x="2164703" y="1772815"/>
            <a:ext cx="4338734" cy="4216359"/>
          </a:xfrm>
          <a:prstGeom prst="rect">
            <a:avLst/>
          </a:prstGeom>
        </p:spPr>
      </p:pic>
      <p:sp>
        <p:nvSpPr>
          <p:cNvPr id="13" name="TextBox 12">
            <a:extLst>
              <a:ext uri="{FF2B5EF4-FFF2-40B4-BE49-F238E27FC236}">
                <a16:creationId xmlns:a16="http://schemas.microsoft.com/office/drawing/2014/main" id="{04C30641-A899-FD52-8A7C-2AA4BB10D5E5}"/>
              </a:ext>
            </a:extLst>
          </p:cNvPr>
          <p:cNvSpPr txBox="1"/>
          <p:nvPr/>
        </p:nvSpPr>
        <p:spPr>
          <a:xfrm>
            <a:off x="6746033" y="1938283"/>
            <a:ext cx="5299787" cy="2585323"/>
          </a:xfrm>
          <a:prstGeom prst="rect">
            <a:avLst/>
          </a:prstGeom>
          <a:noFill/>
        </p:spPr>
        <p:txBody>
          <a:bodyPr wrap="square" rtlCol="0">
            <a:normAutofit/>
          </a:bodyPr>
          <a:lstStyle/>
          <a:p>
            <a:r>
              <a:rPr lang="en-US" altLang="zh-CN" b="1" sz="1400"/>
              <a:t>Gembar: Currently undergoing a 2mL pine freshener user test, with usage at 50%. Discoloration has been observed, but there is no noticeable change in scent. No blockages or oil leaks have occurred so far.</a:t>
            </a:r>
            <a:r>
              <a:rPr lang="zh-CN" altLang="en-US" b="1"/>
              <a:t/>
            </a:r>
            <a:r>
              <a:rPr lang="en-US" altLang="zh-CN" b="1"/>
              <a:t/>
            </a:r>
            <a:r>
              <a:rPr lang="zh-CN" altLang="en-US" b="1"/>
              <a:t/>
            </a:r>
            <a:r>
              <a:rPr lang="en-US" altLang="zh-CN" b="1"/>
              <a:t/>
            </a:r>
            <a:r>
              <a:rPr lang="zh-CN" altLang="en-US" b="1"/>
              <a:t/>
            </a:r>
            <a:r>
              <a:rPr lang="en-US" altLang="zh-CN" b="1"/>
              <a:t/>
            </a:r>
            <a:r>
              <a:rPr lang="zh-CN" altLang="en-US" b="1"/>
              <a:t/>
            </a:r>
            <a:r>
              <a:rPr lang="en-US" altLang="zh-CN" b="1"/>
              <a:t/>
            </a:r>
            <a:r>
              <a:rPr lang="zh-CN" altLang="en-US" b="1"/>
              <a:t/>
            </a:r>
            <a:r>
              <a:rPr lang="en-US" altLang="zh-CN" b="1"/>
              <a:t/>
            </a:r>
            <a:r>
              <a:rPr lang="zh-CN" altLang="en-US" b="1"/>
              <a:t/>
            </a:r>
            <a:r>
              <a:rPr lang="en-US" altLang="zh-CN" b="1"/>
              <a:t/>
            </a:r>
            <a:r>
              <a:rPr lang="zh-CN" altLang="en-US" b="1"/>
              <a:t/>
            </a:r>
            <a:r>
              <a:rPr lang="en-US" altLang="zh-CN" b="1"/>
              <a:t/>
            </a:r>
            <a:r>
              <a:rPr lang="zh-CN" altLang="en-US" b="1"/>
              <a:t/>
            </a:r>
            <a:r>
              <a:rPr lang="en-US" altLang="zh-CN" b="1"/>
              <a:t/>
            </a:r>
            <a:r>
              <a:rPr lang="zh-CN" altLang="en-US" b="1"/>
              <a:t/>
            </a:r>
            <a:r>
              <a:rPr lang="en-US" altLang="zh-CN" b="1"/>
              <a:t/>
            </a:r>
            <a:r>
              <a:rPr lang="zh-CN" altLang="en-US" b="1"/>
              <a:t/>
            </a:r>
            <a:r>
              <a:rPr lang="en-US" altLang="zh-CN" b="1"/>
              <a:t/>
            </a:r>
            <a:r>
              <a:rPr lang="zh-CN" altLang="en-US" b="1"/>
              <a:t/>
            </a:r>
            <a:r>
              <a:rPr lang="en-US" altLang="zh-CN" b="1"/>
              <a:t/>
            </a:r>
            <a:r>
              <a:rPr lang="zh-CN" altLang="en-US" b="1"/>
              <a:t/>
            </a:r>
            <a:endParaRPr lang="en-US" dirty="0"/>
            <a:br/>
            <a:r>
              <a:rPr lang="en-US" altLang="zh-CN" b="1" sz="1400"/>
              <a:t>Gembox: Blockage found in the 2mL pine freshener user test samples. The batch from December 11, 2024 (black casing) first blocked when approximately 20% of the oil remained. The batch from 1-22-2025 (transparent casing) began blocking at 50% remaining and experienced severe clogging at 40% remaining. This further illustrates the advantage of the old air inlet. Discoloration is very obvious as the oil level drops.</a:t>
            </a:r>
          </a:p>
        </p:txBody>
      </p:sp>
    </p:spTree>
    <p:extLst>
      <p:ext uri="{BB962C8B-B14F-4D97-AF65-F5344CB8AC3E}">
        <p14:creationId xmlns:p14="http://schemas.microsoft.com/office/powerpoint/2010/main" val="4469265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9BB4969-B18E-0D3F-6B75-9C83EFEAA59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6" name="TextBox 5">
            <a:extLst>
              <a:ext uri="{FF2B5EF4-FFF2-40B4-BE49-F238E27FC236}">
                <a16:creationId xmlns:a16="http://schemas.microsoft.com/office/drawing/2014/main" id="{3645F279-F6CA-EF0A-7FD1-868F26CB0883}"/>
              </a:ext>
            </a:extLst>
          </p:cNvPr>
          <p:cNvSpPr txBox="1"/>
          <p:nvPr/>
        </p:nvSpPr>
        <p:spPr>
          <a:xfrm>
            <a:off x="5425333" y="2938247"/>
            <a:ext cx="1364476" cy="800219"/>
          </a:xfrm>
          <a:prstGeom prst="rect">
            <a:avLst/>
          </a:prstGeom>
          <a:noFill/>
        </p:spPr>
        <p:txBody>
          <a:bodyPr wrap="none" rtlCol="0">
            <a:normAutofit/>
          </a:bodyPr>
          <a:lstStyle/>
          <a:p>
            <a:pPr algn="ctr"/>
            <a:r>
              <a:rPr lang="zh-CN" altLang="en-US" sz="2300" b="1">
                <a:solidFill>
                  <a:schemeClr val="bg1"/>
                </a:solidFill>
                <a:latin typeface="Montserrat" pitchFamily="2" charset="77"/>
                <a:ea typeface="Microsoft YaHei" panose="020B0503020204020204" pitchFamily="34" charset="-122"/>
              </a:rPr>
              <a:t>Thank you</a:t>
            </a:r>
            <a:endParaRPr lang="en-GB" sz="4400" b="1" spc="300" dirty="0">
              <a:solidFill>
                <a:schemeClr val="bg1"/>
              </a:solidFill>
              <a:latin typeface="Microsoft YaHei" panose="020B0503020204020204" pitchFamily="34" charset="-122"/>
              <a:ea typeface="Microsoft YaHei" panose="020B0503020204020204" pitchFamily="34" charset="-122"/>
            </a:endParaRPr>
          </a:p>
        </p:txBody>
      </p:sp>
      <p:pic>
        <p:nvPicPr>
          <p:cNvPr id="9" name="Picture 8">
            <a:extLst>
              <a:ext uri="{FF2B5EF4-FFF2-40B4-BE49-F238E27FC236}">
                <a16:creationId xmlns:a16="http://schemas.microsoft.com/office/drawing/2014/main" id="{08F3B2CC-BCA8-66D3-9539-3530EF5F6E0A}"/>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213903" y="5599760"/>
            <a:ext cx="1764192" cy="601279"/>
          </a:xfrm>
          <a:prstGeom prst="rect">
            <a:avLst/>
          </a:prstGeom>
        </p:spPr>
      </p:pic>
    </p:spTree>
    <p:extLst>
      <p:ext uri="{BB962C8B-B14F-4D97-AF65-F5344CB8AC3E}">
        <p14:creationId xmlns:p14="http://schemas.microsoft.com/office/powerpoint/2010/main" val="286400838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10400</TotalTime>
  <Words>2120</Words>
  <Application>Microsoft Office PowerPoint</Application>
  <PresentationFormat>Widescreen</PresentationFormat>
  <Paragraphs>589</Paragraphs>
  <Slides>17</Slides>
  <Notes>14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17</vt:i4>
      </vt:variant>
    </vt:vector>
  </HeadingPairs>
  <TitlesOfParts>
    <vt:vector size="26" baseType="lpstr">
      <vt:lpstr>微软雅黑</vt:lpstr>
      <vt:lpstr>微软雅黑</vt:lpstr>
      <vt:lpstr>Aptos</vt:lpstr>
      <vt:lpstr>Aptos Narrow</vt:lpstr>
      <vt:lpstr>Arial</vt:lpstr>
      <vt:lpstr>Calibri</vt:lpstr>
      <vt:lpstr>Calibri Light</vt:lpstr>
      <vt:lpstr>Montserrat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343621560@qq.com</dc:creator>
  <cp:lastModifiedBy>Alexander Becquet</cp:lastModifiedBy>
  <cp:revision>120</cp:revision>
  <dcterms:created xsi:type="dcterms:W3CDTF">2024-06-12T05:45:47Z</dcterms:created>
  <dcterms:modified xsi:type="dcterms:W3CDTF">2025-02-05T20:57:06Z</dcterms:modified>
</cp:coreProperties>
</file>